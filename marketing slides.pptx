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FB87914-6466-42FC-962F-26932B89C0B3}" type="datetimeFigureOut">
              <a:rPr lang="en-US" smtClean="0"/>
              <a:pPr/>
              <a:t>8/20/2023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34122E19-955D-486C-81D4-3D1D2B0D2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ASMATULLAH KHAN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MARKETING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Marketing?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Marketing, more than any other business function, deals with customers. Although we </a:t>
            </a:r>
            <a:r>
              <a:rPr lang="en-US" dirty="0" smtClean="0"/>
              <a:t>will soon </a:t>
            </a:r>
            <a:r>
              <a:rPr lang="en-US" dirty="0"/>
              <a:t>explore more-detailed definitions of marketing, perhaps the simplest definition is </a:t>
            </a:r>
            <a:r>
              <a:rPr lang="en-US" dirty="0" smtClean="0"/>
              <a:t>this one</a:t>
            </a:r>
            <a:r>
              <a:rPr lang="en-US" dirty="0"/>
              <a:t>: </a:t>
            </a:r>
            <a:r>
              <a:rPr lang="en-US" i="1" dirty="0"/>
              <a:t>Marketing is managing profitable customer relationships. The twofold goal of marketing is </a:t>
            </a:r>
            <a:r>
              <a:rPr lang="en-US" i="1" dirty="0" smtClean="0"/>
              <a:t>to </a:t>
            </a:r>
            <a:r>
              <a:rPr lang="en-US" dirty="0" smtClean="0"/>
              <a:t>attract </a:t>
            </a:r>
            <a:r>
              <a:rPr lang="en-US" dirty="0"/>
              <a:t>new customers by promising superior value and keep and grow current customers </a:t>
            </a:r>
            <a:r>
              <a:rPr lang="en-US" dirty="0" smtClean="0"/>
              <a:t>by Delivering satisfaction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dirty="0" smtClean="0"/>
              <a:t>       Today</a:t>
            </a:r>
            <a:r>
              <a:rPr lang="en-US" dirty="0"/>
              <a:t>, marketing must be understood not in the old sense of making a sale—“</a:t>
            </a:r>
            <a:r>
              <a:rPr lang="en-US" dirty="0" smtClean="0"/>
              <a:t>telling and </a:t>
            </a:r>
            <a:r>
              <a:rPr lang="en-US" dirty="0"/>
              <a:t>selling”—but in the new sense of </a:t>
            </a:r>
            <a:r>
              <a:rPr lang="en-US" i="1" dirty="0"/>
              <a:t>satisfying customer needs. If the marketer </a:t>
            </a:r>
            <a:r>
              <a:rPr lang="en-US" i="1" dirty="0" smtClean="0"/>
              <a:t>understands </a:t>
            </a:r>
            <a:r>
              <a:rPr lang="en-US" dirty="0" smtClean="0"/>
              <a:t>consumer </a:t>
            </a:r>
            <a:r>
              <a:rPr lang="en-US" dirty="0"/>
              <a:t>needs; develops products that provide superior customer value; and prices, </a:t>
            </a:r>
            <a:r>
              <a:rPr lang="en-US" dirty="0" smtClean="0"/>
              <a:t>distributes, and </a:t>
            </a:r>
            <a:r>
              <a:rPr lang="en-US" dirty="0"/>
              <a:t>promotes them effectively, these products will sell easily. In fact, according </a:t>
            </a:r>
            <a:r>
              <a:rPr lang="en-US" dirty="0" smtClean="0"/>
              <a:t>to management </a:t>
            </a:r>
            <a:r>
              <a:rPr lang="en-US" dirty="0"/>
              <a:t>guru Peter </a:t>
            </a:r>
            <a:r>
              <a:rPr lang="en-US" dirty="0" err="1"/>
              <a:t>Drucker</a:t>
            </a:r>
            <a:r>
              <a:rPr lang="en-US" dirty="0"/>
              <a:t>, “The aim of marketing is to make selling unnecessary.”</a:t>
            </a:r>
            <a:r>
              <a:rPr lang="en-US" dirty="0" smtClean="0"/>
              <a:t>3 Selling </a:t>
            </a:r>
            <a:r>
              <a:rPr lang="en-US" dirty="0"/>
              <a:t>and advertising are only part of a larger “marketing mix”—a set of marketing </a:t>
            </a:r>
            <a:r>
              <a:rPr lang="en-US" dirty="0" smtClean="0"/>
              <a:t>tools </a:t>
            </a:r>
            <a:r>
              <a:rPr lang="en-US" dirty="0"/>
              <a:t>that work together to satisfy customer needs and build customer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Marketing </a:t>
            </a:r>
            <a:r>
              <a:rPr lang="en-US" dirty="0" err="1" smtClean="0"/>
              <a:t>defination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The </a:t>
            </a:r>
            <a:r>
              <a:rPr lang="en-US" dirty="0"/>
              <a:t>process by which companies </a:t>
            </a:r>
            <a:r>
              <a:rPr lang="en-US" dirty="0" smtClean="0"/>
              <a:t>create value </a:t>
            </a:r>
            <a:r>
              <a:rPr lang="en-US" dirty="0"/>
              <a:t>for customers and build </a:t>
            </a:r>
            <a:r>
              <a:rPr lang="en-US" dirty="0" smtClean="0"/>
              <a:t>strong customer </a:t>
            </a:r>
            <a:r>
              <a:rPr lang="en-US" dirty="0"/>
              <a:t>relationships in order to </a:t>
            </a:r>
            <a:r>
              <a:rPr lang="en-US" dirty="0" smtClean="0"/>
              <a:t>capture value </a:t>
            </a:r>
            <a:r>
              <a:rPr lang="en-US" dirty="0"/>
              <a:t>from customers in return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Marketing Process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5617" t="6660" r="3744" b="6757"/>
          <a:stretch>
            <a:fillRect/>
          </a:stretch>
        </p:blipFill>
        <p:spPr bwMode="auto">
          <a:xfrm>
            <a:off x="609600" y="1524000"/>
            <a:ext cx="8229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t="8418" r="3618" b="16160"/>
          <a:stretch>
            <a:fillRect/>
          </a:stretch>
        </p:blipFill>
        <p:spPr bwMode="auto">
          <a:xfrm>
            <a:off x="304800" y="152400"/>
            <a:ext cx="86106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Value and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       Consumers </a:t>
            </a:r>
            <a:r>
              <a:rPr lang="en-US" dirty="0"/>
              <a:t>usually face a broad array of products and services that might satisfy a </a:t>
            </a:r>
            <a:r>
              <a:rPr lang="en-US" dirty="0" smtClean="0"/>
              <a:t>given need</a:t>
            </a:r>
            <a:r>
              <a:rPr lang="en-US" dirty="0"/>
              <a:t>. How do they choose among these many market offerings? Customers form </a:t>
            </a:r>
            <a:r>
              <a:rPr lang="en-US" dirty="0" smtClean="0"/>
              <a:t>expectations about </a:t>
            </a:r>
            <a:r>
              <a:rPr lang="en-US" dirty="0"/>
              <a:t>the value and satisfaction that various market offerings will deliver and buy </a:t>
            </a:r>
            <a:r>
              <a:rPr lang="en-US" dirty="0" smtClean="0"/>
              <a:t>accordingly. Satisfied </a:t>
            </a:r>
            <a:r>
              <a:rPr lang="en-US" dirty="0"/>
              <a:t>customers buy again and tell others about their good </a:t>
            </a:r>
            <a:r>
              <a:rPr lang="en-US" dirty="0" smtClean="0"/>
              <a:t>experiences. Dissatisfied </a:t>
            </a:r>
            <a:r>
              <a:rPr lang="en-US" dirty="0"/>
              <a:t>customers often switch to competitors and disparage the product to </a:t>
            </a:r>
            <a:r>
              <a:rPr lang="en-US" dirty="0" smtClean="0"/>
              <a:t>others. Marketers </a:t>
            </a:r>
            <a:r>
              <a:rPr lang="en-US" dirty="0"/>
              <a:t>must be careful to set the right level of expectations. If they set </a:t>
            </a:r>
            <a:r>
              <a:rPr lang="en-US" dirty="0" smtClean="0"/>
              <a:t>expectations too </a:t>
            </a:r>
            <a:r>
              <a:rPr lang="en-US" dirty="0"/>
              <a:t>low, they may satisfy those who buy but fail to attract enough buyers. If they set </a:t>
            </a:r>
            <a:r>
              <a:rPr lang="en-US" dirty="0" smtClean="0"/>
              <a:t>expectations too </a:t>
            </a:r>
            <a:r>
              <a:rPr lang="en-US" dirty="0"/>
              <a:t>high, buyers will be disappointed. Customer value and customer satisfaction </a:t>
            </a:r>
            <a:r>
              <a:rPr lang="en-US" dirty="0" smtClean="0"/>
              <a:t>are key </a:t>
            </a:r>
            <a:r>
              <a:rPr lang="en-US" dirty="0"/>
              <a:t>building blocks for developing and managing customer relationships. We will </a:t>
            </a:r>
            <a:r>
              <a:rPr lang="en-US" dirty="0" smtClean="0"/>
              <a:t>revisit </a:t>
            </a:r>
            <a:r>
              <a:rPr lang="en-US" dirty="0"/>
              <a:t>these core concepts later in the chapter.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Exchanges and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    Marketing </a:t>
            </a:r>
            <a:r>
              <a:rPr lang="en-US" dirty="0"/>
              <a:t>occurs when people decide to satisfy needs and wants through exchange </a:t>
            </a:r>
            <a:r>
              <a:rPr lang="en-US" dirty="0" smtClean="0"/>
              <a:t>relationships. </a:t>
            </a:r>
            <a:r>
              <a:rPr lang="en-US" b="1" dirty="0" smtClean="0"/>
              <a:t>Exchange </a:t>
            </a:r>
            <a:r>
              <a:rPr lang="en-US" b="1" dirty="0"/>
              <a:t>is the act of obtaining a desired object from someone by offering </a:t>
            </a:r>
            <a:r>
              <a:rPr lang="en-US" b="1" dirty="0" smtClean="0"/>
              <a:t>something </a:t>
            </a:r>
            <a:r>
              <a:rPr lang="en-US" dirty="0" smtClean="0"/>
              <a:t>in </a:t>
            </a:r>
            <a:r>
              <a:rPr lang="en-US" dirty="0"/>
              <a:t>return. In the broadest sense, the marketer tries to bring about a response to </a:t>
            </a:r>
            <a:r>
              <a:rPr lang="en-US" dirty="0" smtClean="0"/>
              <a:t>some market </a:t>
            </a:r>
            <a:r>
              <a:rPr lang="en-US" dirty="0"/>
              <a:t>offering. The response may be more than simply buying or trading products </a:t>
            </a:r>
            <a:r>
              <a:rPr lang="en-US" dirty="0" smtClean="0"/>
              <a:t>and services</a:t>
            </a:r>
            <a:r>
              <a:rPr lang="en-US" dirty="0"/>
              <a:t>. Apolitical candidate, for instance, wants votes, a church wants membership, an </a:t>
            </a:r>
            <a:r>
              <a:rPr lang="en-US" dirty="0" smtClean="0"/>
              <a:t>orchestra </a:t>
            </a:r>
            <a:r>
              <a:rPr lang="en-US" dirty="0"/>
              <a:t>wants an audience, and a social action group wants idea acceptance.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      The </a:t>
            </a:r>
            <a:r>
              <a:rPr lang="en-US" dirty="0"/>
              <a:t>concepts of exchange and relationships lead to the concept of a market. </a:t>
            </a:r>
            <a:r>
              <a:rPr lang="en-US" dirty="0" err="1"/>
              <a:t>A</a:t>
            </a:r>
            <a:r>
              <a:rPr lang="en-US" b="1" dirty="0" err="1"/>
              <a:t>market</a:t>
            </a:r>
            <a:r>
              <a:rPr lang="en-US" b="1" dirty="0"/>
              <a:t> is </a:t>
            </a:r>
            <a:r>
              <a:rPr lang="en-US" b="1" dirty="0" smtClean="0"/>
              <a:t>the </a:t>
            </a:r>
            <a:r>
              <a:rPr lang="en-US" dirty="0" smtClean="0"/>
              <a:t>set </a:t>
            </a:r>
            <a:r>
              <a:rPr lang="en-US" dirty="0"/>
              <a:t>of actual and potential buyers of a product or service. These buyers share a </a:t>
            </a:r>
            <a:r>
              <a:rPr lang="en-US" dirty="0" smtClean="0"/>
              <a:t>particular need </a:t>
            </a:r>
            <a:r>
              <a:rPr lang="en-US" dirty="0"/>
              <a:t>or want that can be satisfied through exchange </a:t>
            </a:r>
            <a:r>
              <a:rPr lang="en-US" dirty="0" smtClean="0"/>
              <a:t>relationships. Marketing </a:t>
            </a:r>
            <a:r>
              <a:rPr lang="en-US" dirty="0"/>
              <a:t>means managing markets to bring about profitable customer </a:t>
            </a:r>
            <a:r>
              <a:rPr lang="en-US" dirty="0" smtClean="0"/>
              <a:t>relationships. However</a:t>
            </a:r>
            <a:r>
              <a:rPr lang="en-US" dirty="0"/>
              <a:t>, creating these relationships takes work. Sellers must search for buyers, </a:t>
            </a:r>
            <a:r>
              <a:rPr lang="en-US" dirty="0" smtClean="0"/>
              <a:t>identify their </a:t>
            </a:r>
            <a:r>
              <a:rPr lang="en-US" dirty="0"/>
              <a:t>needs, design good market offerings, set prices for them, promote them, and store </a:t>
            </a:r>
            <a:r>
              <a:rPr lang="en-US" dirty="0" smtClean="0"/>
              <a:t>and deliver </a:t>
            </a:r>
            <a:r>
              <a:rPr lang="en-US" dirty="0"/>
              <a:t>them. Activities such as consumer research, product development, communication</a:t>
            </a:r>
            <a:r>
              <a:rPr lang="en-US" dirty="0" smtClean="0"/>
              <a:t>, </a:t>
            </a:r>
            <a:r>
              <a:rPr lang="en-US" dirty="0"/>
              <a:t>distribution, pricing, and service are core marketing activities.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Marketing Management</a:t>
            </a:r>
            <a:br>
              <a:rPr lang="en-US" dirty="0"/>
            </a:br>
            <a:r>
              <a:rPr lang="en-US" dirty="0"/>
              <a:t>Orientations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The Production </a:t>
            </a:r>
            <a:r>
              <a:rPr lang="en-US" b="1" dirty="0" smtClean="0"/>
              <a:t>Concept</a:t>
            </a:r>
          </a:p>
          <a:p>
            <a:r>
              <a:rPr lang="en-US" b="1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idea that consumers will </a:t>
            </a:r>
            <a:r>
              <a:rPr lang="en-US" dirty="0" smtClean="0"/>
              <a:t>favor products </a:t>
            </a:r>
            <a:r>
              <a:rPr lang="en-US" dirty="0"/>
              <a:t>that are available and </a:t>
            </a:r>
            <a:r>
              <a:rPr lang="en-US" dirty="0" smtClean="0"/>
              <a:t>highly affordable </a:t>
            </a:r>
            <a:r>
              <a:rPr lang="en-US" dirty="0"/>
              <a:t>and that the </a:t>
            </a:r>
            <a:r>
              <a:rPr lang="en-US" dirty="0" smtClean="0"/>
              <a:t>organization should </a:t>
            </a:r>
            <a:r>
              <a:rPr lang="en-US" dirty="0"/>
              <a:t>therefore focus on </a:t>
            </a:r>
            <a:r>
              <a:rPr lang="en-US" dirty="0" smtClean="0"/>
              <a:t>improving production </a:t>
            </a:r>
            <a:r>
              <a:rPr lang="en-US" dirty="0"/>
              <a:t>and distribution efficiency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Product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 The </a:t>
            </a:r>
            <a:r>
              <a:rPr lang="en-US" dirty="0"/>
              <a:t>idea that consumers will </a:t>
            </a:r>
            <a:r>
              <a:rPr lang="en-US" dirty="0" smtClean="0"/>
              <a:t>favor products </a:t>
            </a:r>
            <a:r>
              <a:rPr lang="en-US" dirty="0"/>
              <a:t>that offer the most </a:t>
            </a:r>
            <a:r>
              <a:rPr lang="en-US" dirty="0" smtClean="0"/>
              <a:t>quality, performance</a:t>
            </a:r>
            <a:r>
              <a:rPr lang="en-US" dirty="0"/>
              <a:t>, and features and that </a:t>
            </a:r>
            <a:r>
              <a:rPr lang="en-US" dirty="0" smtClean="0"/>
              <a:t>the organization </a:t>
            </a:r>
            <a:r>
              <a:rPr lang="en-US" dirty="0"/>
              <a:t>should therefore devote </a:t>
            </a:r>
            <a:r>
              <a:rPr lang="en-US" dirty="0" smtClean="0"/>
              <a:t>its energy </a:t>
            </a:r>
            <a:r>
              <a:rPr lang="en-US" dirty="0"/>
              <a:t>to making continuous </a:t>
            </a:r>
            <a:r>
              <a:rPr lang="en-US" dirty="0" smtClean="0"/>
              <a:t>product improvements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Selling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    The </a:t>
            </a:r>
            <a:r>
              <a:rPr lang="en-US" dirty="0"/>
              <a:t>idea that consumers will not </a:t>
            </a:r>
            <a:r>
              <a:rPr lang="en-US" dirty="0" smtClean="0"/>
              <a:t>buy enough </a:t>
            </a:r>
            <a:r>
              <a:rPr lang="en-US" dirty="0"/>
              <a:t>of the firm’s products unless </a:t>
            </a:r>
            <a:r>
              <a:rPr lang="en-US" dirty="0" smtClean="0"/>
              <a:t>it undertakes </a:t>
            </a:r>
            <a:r>
              <a:rPr lang="en-US" dirty="0"/>
              <a:t>a large-scale selling </a:t>
            </a:r>
            <a:r>
              <a:rPr lang="en-US" dirty="0" smtClean="0"/>
              <a:t>and promotion effort.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Such </a:t>
            </a:r>
            <a:r>
              <a:rPr lang="en-US" dirty="0"/>
              <a:t>aggressive selling, however, carries high risks. It focuses on creating sales </a:t>
            </a:r>
            <a:r>
              <a:rPr lang="en-US" dirty="0" smtClean="0"/>
              <a:t>transactions rather </a:t>
            </a:r>
            <a:r>
              <a:rPr lang="en-US" dirty="0"/>
              <a:t>than on building long-term, profitable customer relationships. The aim </a:t>
            </a:r>
            <a:r>
              <a:rPr lang="en-US" dirty="0" smtClean="0"/>
              <a:t>often is </a:t>
            </a:r>
            <a:r>
              <a:rPr lang="en-US" dirty="0"/>
              <a:t>to sell what the company makes rather than making what the market wants. It </a:t>
            </a:r>
            <a:r>
              <a:rPr lang="en-US" dirty="0" smtClean="0"/>
              <a:t>assumes that </a:t>
            </a:r>
            <a:r>
              <a:rPr lang="en-US" dirty="0"/>
              <a:t>customers who are coaxed into buying the product will like it. Or, if they don’t like </a:t>
            </a:r>
            <a:r>
              <a:rPr lang="en-US" dirty="0" smtClean="0"/>
              <a:t>it, they </a:t>
            </a:r>
            <a:r>
              <a:rPr lang="en-US" dirty="0"/>
              <a:t>will possibly forget their disappointment and buy it again later. These are usually </a:t>
            </a:r>
            <a:r>
              <a:rPr lang="en-US" dirty="0" smtClean="0"/>
              <a:t>poor assumptions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Marketing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A </a:t>
            </a:r>
            <a:r>
              <a:rPr lang="en-US" dirty="0"/>
              <a:t>philosophy that holds that </a:t>
            </a:r>
            <a:r>
              <a:rPr lang="en-US" dirty="0" smtClean="0"/>
              <a:t>achieving organizational </a:t>
            </a:r>
            <a:r>
              <a:rPr lang="en-US" dirty="0"/>
              <a:t>goals depends on </a:t>
            </a:r>
            <a:r>
              <a:rPr lang="en-US" dirty="0" smtClean="0"/>
              <a:t>knowing the </a:t>
            </a:r>
            <a:r>
              <a:rPr lang="en-US" dirty="0"/>
              <a:t>needs and wants of target </a:t>
            </a:r>
            <a:r>
              <a:rPr lang="en-US" dirty="0" smtClean="0"/>
              <a:t>markets and </a:t>
            </a:r>
            <a:r>
              <a:rPr lang="en-US" dirty="0"/>
              <a:t>delivering the desired </a:t>
            </a:r>
            <a:r>
              <a:rPr lang="en-US" dirty="0" smtClean="0"/>
              <a:t>satisfactions better </a:t>
            </a:r>
            <a:r>
              <a:rPr lang="en-US" dirty="0"/>
              <a:t>than competitors 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Difference between selling and marketing concept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t="6406" r="2941" b="8149"/>
          <a:stretch>
            <a:fillRect/>
          </a:stretch>
        </p:blipFill>
        <p:spPr bwMode="auto">
          <a:xfrm>
            <a:off x="914400" y="1828800"/>
            <a:ext cx="75438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Societal Marketing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/>
              <a:t>      The </a:t>
            </a:r>
            <a:r>
              <a:rPr lang="en-US" b="1" dirty="0"/>
              <a:t>societal marketing concept questions whether </a:t>
            </a:r>
            <a:r>
              <a:rPr lang="en-US" b="1" dirty="0" smtClean="0"/>
              <a:t>the </a:t>
            </a:r>
            <a:r>
              <a:rPr lang="en-US" dirty="0" smtClean="0"/>
              <a:t>pure </a:t>
            </a:r>
            <a:r>
              <a:rPr lang="en-US" dirty="0"/>
              <a:t>marketing concept overlooks possible conflicts </a:t>
            </a:r>
            <a:r>
              <a:rPr lang="en-US" dirty="0" smtClean="0"/>
              <a:t>between consumer </a:t>
            </a:r>
            <a:r>
              <a:rPr lang="en-US" i="1" dirty="0"/>
              <a:t>short-run wants and consumer long-run welfare. Is </a:t>
            </a:r>
            <a:r>
              <a:rPr lang="en-US" i="1" dirty="0" smtClean="0"/>
              <a:t>a </a:t>
            </a:r>
            <a:r>
              <a:rPr lang="en-US" dirty="0" smtClean="0"/>
              <a:t>firm </a:t>
            </a:r>
            <a:r>
              <a:rPr lang="en-US" dirty="0"/>
              <a:t>that satisfies the immediate needs and wants of </a:t>
            </a:r>
            <a:r>
              <a:rPr lang="en-US" dirty="0" smtClean="0"/>
              <a:t>target markets </a:t>
            </a:r>
            <a:r>
              <a:rPr lang="en-US" dirty="0"/>
              <a:t>always doing what’s best for its consumers in </a:t>
            </a:r>
            <a:r>
              <a:rPr lang="en-US" dirty="0" smtClean="0"/>
              <a:t>the long </a:t>
            </a:r>
            <a:r>
              <a:rPr lang="en-US" dirty="0"/>
              <a:t>run? The societal marketing concept holds that </a:t>
            </a:r>
            <a:r>
              <a:rPr lang="en-US" dirty="0" smtClean="0"/>
              <a:t>marketing strategy </a:t>
            </a:r>
            <a:r>
              <a:rPr lang="en-US" dirty="0"/>
              <a:t>should deliver value to customers in a way that maintains or improves both </a:t>
            </a:r>
            <a:r>
              <a:rPr lang="en-US" dirty="0" smtClean="0"/>
              <a:t>the consumer’s </a:t>
            </a:r>
            <a:r>
              <a:rPr lang="en-US" i="1" dirty="0"/>
              <a:t>and society’s well-being. It calls for sustainable marketing, socially and </a:t>
            </a:r>
            <a:r>
              <a:rPr lang="en-US" i="1" dirty="0" smtClean="0"/>
              <a:t>environmentally </a:t>
            </a:r>
            <a:r>
              <a:rPr lang="en-US" dirty="0" smtClean="0"/>
              <a:t>responsible </a:t>
            </a:r>
            <a:r>
              <a:rPr lang="en-US" dirty="0"/>
              <a:t>marketing that meets the present needs of consumers and </a:t>
            </a:r>
            <a:r>
              <a:rPr lang="en-US" dirty="0" smtClean="0"/>
              <a:t>businesses </a:t>
            </a:r>
            <a:r>
              <a:rPr lang="en-US" dirty="0"/>
              <a:t>while also preserving or enhancing the ability of future generations to meet their needs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49</TotalTime>
  <Words>901</Words>
  <Application>Microsoft Office PowerPoint</Application>
  <PresentationFormat>On-screen Show (4:3)</PresentationFormat>
  <Paragraphs>28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Equity</vt:lpstr>
      <vt:lpstr>MARKETING</vt:lpstr>
      <vt:lpstr>What Is Marketing?</vt:lpstr>
      <vt:lpstr>Slide 3</vt:lpstr>
      <vt:lpstr>Marketing defination</vt:lpstr>
      <vt:lpstr>The Marketing Process</vt:lpstr>
      <vt:lpstr>Slide 6</vt:lpstr>
      <vt:lpstr>Customer Value and Satisfaction</vt:lpstr>
      <vt:lpstr>Exchanges and Relationships</vt:lpstr>
      <vt:lpstr>Markets</vt:lpstr>
      <vt:lpstr>Marketing Management Orientations</vt:lpstr>
      <vt:lpstr>The Product Concept</vt:lpstr>
      <vt:lpstr>The Selling Concept</vt:lpstr>
      <vt:lpstr>The Marketing Concept</vt:lpstr>
      <vt:lpstr>Difference between selling and marketing concept</vt:lpstr>
      <vt:lpstr>The Societal Marketing Concept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</dc:title>
  <dc:creator>AHSANULLAH KHAN</dc:creator>
  <cp:lastModifiedBy>Microsoft</cp:lastModifiedBy>
  <cp:revision>2</cp:revision>
  <dcterms:created xsi:type="dcterms:W3CDTF">2021-03-06T07:37:48Z</dcterms:created>
  <dcterms:modified xsi:type="dcterms:W3CDTF">2023-08-20T17:11:45Z</dcterms:modified>
</cp:coreProperties>
</file>