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1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7" r:id="rId41"/>
    <p:sldId id="299" r:id="rId42"/>
    <p:sldId id="300" r:id="rId43"/>
    <p:sldId id="301" r:id="rId44"/>
    <p:sldId id="302" r:id="rId45"/>
    <p:sldId id="303" r:id="rId46"/>
    <p:sldId id="316" r:id="rId47"/>
    <p:sldId id="317" r:id="rId48"/>
    <p:sldId id="318" r:id="rId49"/>
    <p:sldId id="319" r:id="rId50"/>
    <p:sldId id="320" r:id="rId51"/>
    <p:sldId id="321" r:id="rId52"/>
    <p:sldId id="322" r:id="rId53"/>
    <p:sldId id="324" r:id="rId5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56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4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2" name="Google Shape;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4" name="Google Shape;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4" name="Google Shape;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5" name="Google Shape;6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7" name="Google Shape;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8" name="Google Shape;9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08" name="Google Shape;1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9" name="Google Shape;1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19" name="Google Shape;1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9" name="Google Shape;1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59" name="Google Shape;1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70" name="Google Shape;1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1" name="Google Shape;1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81" name="Google Shape;1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2" name="Google Shape;18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92" name="Google Shape;19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3" name="Google Shape;19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03" name="Google Shape;2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4" name="Google Shape;20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14" name="Google Shape;21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5" name="Google Shape;21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25" name="Google Shape;22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6" name="Google Shape;2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36" name="Google Shape;23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7" name="Google Shape;23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47" name="Google Shape;24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8" name="Google Shape;24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58" name="Google Shape;25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9" name="Google Shape;25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69" name="Google Shape;26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0" name="Google Shape;27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80" name="Google Shape;2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1" name="Google Shape;28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91" name="Google Shape;29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2" name="Google Shape;29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02" name="Google Shape;30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3" name="Google Shape;30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13" name="Google Shape;31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4" name="Google Shape;31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24" name="Google Shape;32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5" name="Google Shape;32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335" name="Google Shape;3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6" name="Google Shape;33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57" name="Google Shape;35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58" name="Google Shape;35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68" name="Google Shape;36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9" name="Google Shape;36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379" name="Google Shape;37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0" name="Google Shape;38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390" name="Google Shape;39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1" name="Google Shape;39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401" name="Google Shape;40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02" name="Google Shape;402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412" name="Google Shape;41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3" name="Google Shape;413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423" name="Google Shape;42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4" name="Google Shape;42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434" name="Google Shape;43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35" name="Google Shape;43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445" name="Google Shape;44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46" name="Google Shape;446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540" name="Google Shape;54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41" name="Google Shape;541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562" name="Google Shape;56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63" name="Google Shape;563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573" name="Google Shape;57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74" name="Google Shape;574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584" name="Google Shape;58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85" name="Google Shape;58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595" name="Google Shape;59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96" name="Google Shape;596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606" name="Google Shape;60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07" name="Google Shape;607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6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731" name="Google Shape;731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32" name="Google Shape;732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782" name="Google Shape;782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83" name="Google Shape;783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ayout with centered title and subtitle placeholders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on left, text on right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662065" y="457200"/>
            <a:ext cx="8362014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lang="en-US" sz="40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US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40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-US" sz="4000" b="0" i="0" u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0" i="0" u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Representation of Knowledge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0" y="3162300"/>
            <a:ext cx="9024079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2800" b="1" i="1" u="none" strike="noStrike" cap="none" dirty="0">
                <a:solidFill>
                  <a:schemeClr val="accent2">
                    <a:lumMod val="60000"/>
                    <a:lumOff val="40000"/>
                  </a:schemeClr>
                </a:solidFill>
                <a:latin typeface="Sitka Display" panose="02000505000000020004" pitchFamily="2" charset="0"/>
                <a:ea typeface="Times New Roman"/>
                <a:cs typeface="Times New Roman"/>
                <a:sym typeface="Times New Roman"/>
              </a:rPr>
              <a:t>Expert Systems: Principles and Programming, Fourth Edition</a:t>
            </a:r>
            <a:endParaRPr sz="2400" b="1" i="1" dirty="0">
              <a:solidFill>
                <a:schemeClr val="accent2">
                  <a:lumMod val="60000"/>
                  <a:lumOff val="40000"/>
                </a:schemeClr>
              </a:solidFill>
              <a:latin typeface="Sitka Display" panose="02000505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1A991F-C5C4-73D3-0086-15A08C261285}"/>
              </a:ext>
            </a:extLst>
          </p:cNvPr>
          <p:cNvSpPr txBox="1"/>
          <p:nvPr/>
        </p:nvSpPr>
        <p:spPr>
          <a:xfrm>
            <a:off x="1079293" y="4659749"/>
            <a:ext cx="70153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2400" i="1" dirty="0">
                <a:latin typeface="Tempus Sans ITC" panose="04020404030D07020202" pitchFamily="82" charset="0"/>
                <a:cs typeface="Times New Roman"/>
                <a:sym typeface="Times New Roman"/>
              </a:rPr>
              <a:t>Topics selected for teaching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2400" i="1" dirty="0">
                <a:latin typeface="Tempus Sans ITC" panose="04020404030D07020202" pitchFamily="82" charset="0"/>
                <a:cs typeface="Times New Roman"/>
                <a:sym typeface="Times New Roman"/>
              </a:rPr>
              <a:t>By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2400" dirty="0">
                <a:solidFill>
                  <a:srgbClr val="00B0F0"/>
                </a:solidFill>
                <a:latin typeface="Lucida Calligraphy" panose="03010101010101010101" pitchFamily="66" charset="0"/>
                <a:cs typeface="Times New Roman"/>
                <a:sym typeface="Times New Roman"/>
              </a:rPr>
              <a:t>Shafaque Saira Malik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2400" dirty="0">
                <a:solidFill>
                  <a:srgbClr val="00B0F0"/>
                </a:solidFill>
                <a:latin typeface="Lucida Calligraphy" panose="03010101010101010101" pitchFamily="66" charset="0"/>
                <a:cs typeface="Times New Roman"/>
                <a:sym typeface="Times New Roman"/>
              </a:rPr>
              <a:t>CS &amp; IT Dept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2400" dirty="0">
                <a:solidFill>
                  <a:srgbClr val="00B0F0"/>
                </a:solidFill>
                <a:latin typeface="Lucida Calligraphy" panose="03010101010101010101" pitchFamily="66" charset="0"/>
                <a:cs typeface="Times New Roman"/>
                <a:sym typeface="Times New Roman"/>
              </a:rPr>
              <a:t>University of Balochistan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study of logic?</a:t>
            </a: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 is the study of making inferences – given a set of facts, we attempt to reach a true conclusion.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example of informal logic is a courtroom setting where lawyers make a series of inferences hoping to convince a jury / judge 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 logic (symbolic logic) is a more rigorous approach to proving a conclusion to be true / false.</a:t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6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Logic Important</a:t>
            </a:r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use logic in our everyday lives – “should I buy this car”, “should I seek medical attention”.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 are not very good at reasoning because they often fail to separate word meanings with the reasoning process itself.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Semantics refers to the meanings we give to symbols.</a:t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7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Goal of Expert Systems</a:t>
            </a:r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need to be able to separate the actual meanings of words with the reasoning process itself.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need to make inferences w/o relying on semantics.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need to reach valid conclusions based on facts only.</a:t>
            </a:r>
            <a:endParaRPr/>
          </a:p>
        </p:txBody>
      </p:sp>
      <p:sp>
        <p:nvSpPr>
          <p:cNvPr id="71" name="Google Shape;71;p8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8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</a:t>
            </a:r>
            <a:r>
              <a:rPr lang="en-US" sz="18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FourthEdition</a:t>
            </a:r>
            <a:endParaRPr dirty="0"/>
          </a:p>
        </p:txBody>
      </p:sp>
      <p:sp>
        <p:nvSpPr>
          <p:cNvPr id="79" name="Google Shape;79;p9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vs. Expert Systems</a:t>
            </a:r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representation is key to the success of expert systems.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systems are designed for knowledge representation based on rules of logic called inferences.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affects the development, efficiency, speed, and maintenance of the system.</a:t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9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Arguments in Logic</a:t>
            </a:r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argument refers to the formal way facts and rules of inferences are used to reach valid conclusions.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 of reaching valid conclusions is referred to as logical reasoning.</a:t>
            </a:r>
            <a:endParaRPr/>
          </a:p>
        </p:txBody>
      </p:sp>
      <p:sp>
        <p:nvSpPr>
          <p:cNvPr id="93" name="Google Shape;93;p10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10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  <p:sp>
        <p:nvSpPr>
          <p:cNvPr id="102" name="Google Shape;102;p11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is Knowledge Used?</a:t>
            </a:r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has many meanings – data, facts, information.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we use knowledge to reach conclusions or solve problems?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Heuristics refers to using experience to solve problems – using precedents.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systems may have hundreds / thousands of micro-precedents to refer to.</a:t>
            </a:r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11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  <p:sp>
        <p:nvSpPr>
          <p:cNvPr id="113" name="Google Shape;113;p12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Epistemology</a:t>
            </a:r>
            <a:endParaRPr/>
          </a:p>
        </p:txBody>
      </p:sp>
      <p:sp>
        <p:nvSpPr>
          <p:cNvPr id="114" name="Google Shape;114;p12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Epistemology is the formal study of knowledge 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Concerned with nature, structure, and origins of knowledge.</a:t>
            </a:r>
            <a:endParaRPr/>
          </a:p>
        </p:txBody>
      </p:sp>
      <p:sp>
        <p:nvSpPr>
          <p:cNvPr id="115" name="Google Shape;115;p12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12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Categories of Epistemology</a:t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13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127" name="Google Shape;127;p13"/>
          <p:cNvGrpSpPr/>
          <p:nvPr/>
        </p:nvGrpSpPr>
        <p:grpSpPr>
          <a:xfrm>
            <a:off x="1752600" y="1981200"/>
            <a:ext cx="5989638" cy="3917950"/>
            <a:chOff x="816" y="1248"/>
            <a:chExt cx="4704" cy="2468"/>
          </a:xfrm>
        </p:grpSpPr>
        <p:sp>
          <p:nvSpPr>
            <p:cNvPr id="128" name="Google Shape;128;p13"/>
            <p:cNvSpPr txBox="1"/>
            <p:nvPr/>
          </p:nvSpPr>
          <p:spPr>
            <a:xfrm>
              <a:off x="3120" y="2816"/>
              <a:ext cx="2400" cy="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-177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Char char="•"/>
              </a:pPr>
              <a:r>
                <a:rPr lang="en-US" sz="2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Tacit</a:t>
              </a:r>
              <a:endParaRPr/>
            </a:p>
          </p:txBody>
        </p:sp>
        <p:sp>
          <p:nvSpPr>
            <p:cNvPr id="129" name="Google Shape;129;p13"/>
            <p:cNvSpPr txBox="1"/>
            <p:nvPr/>
          </p:nvSpPr>
          <p:spPr>
            <a:xfrm>
              <a:off x="816" y="2816"/>
              <a:ext cx="2400" cy="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-177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Char char="•"/>
              </a:pPr>
              <a:r>
                <a:rPr lang="en-US" sz="2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Declarative</a:t>
              </a:r>
              <a:endParaRPr/>
            </a:p>
          </p:txBody>
        </p:sp>
        <p:sp>
          <p:nvSpPr>
            <p:cNvPr id="130" name="Google Shape;130;p13"/>
            <p:cNvSpPr txBox="1"/>
            <p:nvPr/>
          </p:nvSpPr>
          <p:spPr>
            <a:xfrm>
              <a:off x="3120" y="2032"/>
              <a:ext cx="2400" cy="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-177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Char char="•"/>
              </a:pPr>
              <a:r>
                <a:rPr lang="en-US" sz="2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Procedural</a:t>
              </a:r>
              <a:endParaRPr/>
            </a:p>
          </p:txBody>
        </p:sp>
        <p:sp>
          <p:nvSpPr>
            <p:cNvPr id="131" name="Google Shape;131;p13"/>
            <p:cNvSpPr txBox="1"/>
            <p:nvPr/>
          </p:nvSpPr>
          <p:spPr>
            <a:xfrm>
              <a:off x="816" y="2032"/>
              <a:ext cx="2400" cy="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-177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Char char="•"/>
              </a:pPr>
              <a:r>
                <a:rPr lang="en-US" sz="2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posteriori</a:t>
              </a:r>
              <a:endParaRPr/>
            </a:p>
          </p:txBody>
        </p:sp>
        <p:sp>
          <p:nvSpPr>
            <p:cNvPr id="132" name="Google Shape;132;p13"/>
            <p:cNvSpPr txBox="1"/>
            <p:nvPr/>
          </p:nvSpPr>
          <p:spPr>
            <a:xfrm>
              <a:off x="3120" y="1248"/>
              <a:ext cx="2400" cy="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-177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Char char="•"/>
              </a:pPr>
              <a:r>
                <a:rPr lang="en-US" sz="2800" b="0" i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priori</a:t>
              </a:r>
              <a:endParaRPr/>
            </a:p>
          </p:txBody>
        </p:sp>
        <p:sp>
          <p:nvSpPr>
            <p:cNvPr id="133" name="Google Shape;133;p13"/>
            <p:cNvSpPr txBox="1"/>
            <p:nvPr/>
          </p:nvSpPr>
          <p:spPr>
            <a:xfrm>
              <a:off x="816" y="1248"/>
              <a:ext cx="2400" cy="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-177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Times New Roman"/>
                <a:buChar char="•"/>
              </a:pPr>
              <a:r>
                <a:rPr lang="en-US" sz="2800" b="0" i="0" u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Philosophy</a:t>
              </a:r>
              <a:endParaRPr dirty="0"/>
            </a:p>
          </p:txBody>
        </p:sp>
        <p:cxnSp>
          <p:nvCxnSpPr>
            <p:cNvPr id="134" name="Google Shape;134;p13"/>
            <p:cNvCxnSpPr/>
            <p:nvPr/>
          </p:nvCxnSpPr>
          <p:spPr>
            <a:xfrm>
              <a:off x="816" y="1248"/>
              <a:ext cx="2400" cy="0"/>
            </a:xfrm>
            <a:prstGeom prst="straightConnector1">
              <a:avLst/>
            </a:prstGeom>
            <a:noFill/>
            <a:ln w="12700" cap="sq" cmpd="sng">
              <a:solidFill>
                <a:schemeClr val="lt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5" name="Google Shape;135;p13"/>
            <p:cNvCxnSpPr/>
            <p:nvPr/>
          </p:nvCxnSpPr>
          <p:spPr>
            <a:xfrm>
              <a:off x="816" y="3600"/>
              <a:ext cx="2400" cy="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36" name="Google Shape;136;p13"/>
            <p:cNvCxnSpPr/>
            <p:nvPr/>
          </p:nvCxnSpPr>
          <p:spPr>
            <a:xfrm>
              <a:off x="816" y="1248"/>
              <a:ext cx="0" cy="900"/>
            </a:xfrm>
            <a:prstGeom prst="straightConnector1">
              <a:avLst/>
            </a:prstGeom>
            <a:noFill/>
            <a:ln w="12700" cap="sq" cmpd="sng">
              <a:solidFill>
                <a:schemeClr val="lt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7" name="Google Shape;137;p13"/>
            <p:cNvCxnSpPr/>
            <p:nvPr/>
          </p:nvCxnSpPr>
          <p:spPr>
            <a:xfrm>
              <a:off x="5424" y="1248"/>
              <a:ext cx="0" cy="9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38" name="Google Shape;138;p13"/>
            <p:cNvCxnSpPr/>
            <p:nvPr/>
          </p:nvCxnSpPr>
          <p:spPr>
            <a:xfrm>
              <a:off x="3120" y="1248"/>
              <a:ext cx="2400" cy="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39" name="Google Shape;139;p13"/>
            <p:cNvCxnSpPr/>
            <p:nvPr/>
          </p:nvCxnSpPr>
          <p:spPr>
            <a:xfrm>
              <a:off x="816" y="2032"/>
              <a:ext cx="0" cy="9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40" name="Google Shape;140;p13"/>
            <p:cNvCxnSpPr/>
            <p:nvPr/>
          </p:nvCxnSpPr>
          <p:spPr>
            <a:xfrm>
              <a:off x="3120" y="1248"/>
              <a:ext cx="0" cy="900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1" name="Google Shape;141;p13"/>
            <p:cNvCxnSpPr/>
            <p:nvPr/>
          </p:nvCxnSpPr>
          <p:spPr>
            <a:xfrm>
              <a:off x="816" y="2032"/>
              <a:ext cx="2400" cy="0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2" name="Google Shape;142;p13"/>
            <p:cNvCxnSpPr/>
            <p:nvPr/>
          </p:nvCxnSpPr>
          <p:spPr>
            <a:xfrm>
              <a:off x="5424" y="2816"/>
              <a:ext cx="0" cy="9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43" name="Google Shape;143;p13"/>
            <p:cNvCxnSpPr/>
            <p:nvPr/>
          </p:nvCxnSpPr>
          <p:spPr>
            <a:xfrm>
              <a:off x="5424" y="2032"/>
              <a:ext cx="0" cy="9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44" name="Google Shape;144;p13"/>
            <p:cNvCxnSpPr/>
            <p:nvPr/>
          </p:nvCxnSpPr>
          <p:spPr>
            <a:xfrm>
              <a:off x="3120" y="3600"/>
              <a:ext cx="2400" cy="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145" name="Google Shape;145;p13"/>
            <p:cNvCxnSpPr/>
            <p:nvPr/>
          </p:nvCxnSpPr>
          <p:spPr>
            <a:xfrm>
              <a:off x="816" y="2816"/>
              <a:ext cx="0" cy="900"/>
            </a:xfrm>
            <a:prstGeom prst="straightConnector1">
              <a:avLst/>
            </a:prstGeom>
            <a:noFill/>
            <a:ln>
              <a:noFill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152" name="Google Shape;152;p14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/>
          </a:p>
        </p:txBody>
      </p:sp>
      <p:sp>
        <p:nvSpPr>
          <p:cNvPr id="153" name="Google Shape;153;p14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Priori Knowledge</a:t>
            </a:r>
            <a:endParaRPr/>
          </a:p>
        </p:txBody>
      </p:sp>
      <p:sp>
        <p:nvSpPr>
          <p:cNvPr id="154" name="Google Shape;154;p14"/>
          <p:cNvSpPr txBox="1">
            <a:spLocks noGrp="1"/>
          </p:cNvSpPr>
          <p:nvPr>
            <p:ph type="body" idx="1"/>
          </p:nvPr>
        </p:nvSpPr>
        <p:spPr>
          <a:xfrm>
            <a:off x="1371600" y="1828800"/>
            <a:ext cx="73152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“That which precedes”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of the senses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Universally true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be denied without contradiction</a:t>
            </a:r>
            <a:endParaRPr/>
          </a:p>
        </p:txBody>
      </p:sp>
      <p:sp>
        <p:nvSpPr>
          <p:cNvPr id="155" name="Google Shape;155;p14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14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Posteriori Knowledge</a:t>
            </a:r>
            <a:endParaRPr/>
          </a:p>
        </p:txBody>
      </p:sp>
      <p:sp>
        <p:nvSpPr>
          <p:cNvPr id="165" name="Google Shape;165;p15"/>
          <p:cNvSpPr txBox="1">
            <a:spLocks noGrp="1"/>
          </p:cNvSpPr>
          <p:nvPr>
            <p:ph type="body" idx="1"/>
          </p:nvPr>
        </p:nvSpPr>
        <p:spPr>
          <a:xfrm>
            <a:off x="1447800" y="1828800"/>
            <a:ext cx="7239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“That which follows”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Derived from the senses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always reliable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Deniable on the basis of new knowledge w/o the necessity of contradiction</a:t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15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/>
          </a:p>
        </p:txBody>
      </p:sp>
      <p:sp>
        <p:nvSpPr>
          <p:cNvPr id="175" name="Google Shape;175;p16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Procedural Knowledge</a:t>
            </a:r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Knowing how to do something: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600200" marR="0" lvl="3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 a watch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Install a window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Brush your teeth</a:t>
            </a:r>
            <a:endParaRPr/>
          </a:p>
          <a:p>
            <a:pPr marL="1600200" marR="0" lvl="3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Ride a bicycle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16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/>
          </a:p>
        </p:txBody>
      </p:sp>
      <p:sp>
        <p:nvSpPr>
          <p:cNvPr id="186" name="Google Shape;186;p17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Declarative Knowledge</a:t>
            </a:r>
            <a:endParaRPr/>
          </a:p>
        </p:txBody>
      </p:sp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that something is true or false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Usually associated with declarative statements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“Don’t touch that hot wire.”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17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Tacit Knowledge</a:t>
            </a:r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Unconscious knowledge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be expressed by language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knowing how to walk, breath, etc.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18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207" name="Google Shape;207;p19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/>
          </a:p>
        </p:txBody>
      </p:sp>
      <p:sp>
        <p:nvSpPr>
          <p:cNvPr id="208" name="Google Shape;208;p19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in Rule-Based Systems</a:t>
            </a:r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is part of a hierarchy.</a:t>
            </a:r>
            <a:endParaRPr/>
          </a:p>
          <a:p>
            <a:pPr marL="342900" marR="0" lvl="0" indent="-2540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refers to rules that are activated by facts or other rules.</a:t>
            </a:r>
            <a:endParaRPr/>
          </a:p>
          <a:p>
            <a:pPr marL="342900" marR="0" lvl="0" indent="-2540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Activated rules produce new facts or conclusions.</a:t>
            </a:r>
            <a:endParaRPr/>
          </a:p>
          <a:p>
            <a:pPr marL="342900" marR="0" lvl="0" indent="-2540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 are the end-product of inferences when done according to formal rules.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19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218" name="Google Shape;218;p20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Systems vs. Humans</a:t>
            </a:r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1"/>
          </p:nvPr>
        </p:nvSpPr>
        <p:spPr>
          <a:xfrm>
            <a:off x="6096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0" marR="0" lvl="2" indent="-50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0" lvl="2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systems infer – reaching conclusions as the end product of a chain of steps called inferencing when done according to formal rules.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0" lvl="2" indent="-508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0" marR="0" lvl="2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Humans reason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20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/>
          </a:p>
        </p:txBody>
      </p:sp>
      <p:sp>
        <p:nvSpPr>
          <p:cNvPr id="230" name="Google Shape;230;p21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Systems vs. ANS</a:t>
            </a:r>
            <a:endParaRPr/>
          </a:p>
        </p:txBody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 does not make inferences but searches for underlying patterns.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systems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o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 inferences using facts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o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 data from noise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o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 data into information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o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 information into knowledge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21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240" name="Google Shape;240;p22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Metaknowledge</a:t>
            </a:r>
            <a:endParaRPr/>
          </a:p>
        </p:txBody>
      </p:sp>
      <p:sp>
        <p:nvSpPr>
          <p:cNvPr id="242" name="Google Shape;242;p22"/>
          <p:cNvSpPr txBox="1">
            <a:spLocks noGrp="1"/>
          </p:cNvSpPr>
          <p:nvPr>
            <p:ph type="body" idx="1"/>
          </p:nvPr>
        </p:nvSpPr>
        <p:spPr>
          <a:xfrm>
            <a:off x="1066800" y="1676400"/>
            <a:ext cx="7620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Metaknowledge is knowledge about knowledge and expertise.</a:t>
            </a:r>
            <a:endParaRPr/>
          </a:p>
          <a:p>
            <a:pPr marL="342900" marR="0" lvl="0" indent="-292100" algn="l" rtl="0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successful expert systems are restricted to as small a domain as possible.</a:t>
            </a:r>
            <a:endParaRPr/>
          </a:p>
          <a:p>
            <a:pPr marL="342900" marR="0" lvl="0" indent="-292100" algn="l" rtl="0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an expert system, an ontology is the metaknowledge that describes everything known about the problem domain.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Wisdom is the metaknowledge of determining the best goals of life and how to obtain them.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22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251" name="Google Shape;251;p23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  <p:sp>
        <p:nvSpPr>
          <p:cNvPr id="252" name="Google Shape;252;p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2.2 The Pyramid </a:t>
            </a:r>
            <a:b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Knowledge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23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255" name="Google Shape;255;p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1087"/>
          <a:stretch/>
        </p:blipFill>
        <p:spPr>
          <a:xfrm>
            <a:off x="1219200" y="2133600"/>
            <a:ext cx="739140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262" name="Google Shape;262;p24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/>
          </a:p>
        </p:txBody>
      </p:sp>
      <p:sp>
        <p:nvSpPr>
          <p:cNvPr id="263" name="Google Shape;263;p24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Productions</a:t>
            </a:r>
            <a:endParaRPr/>
          </a:p>
        </p:txBody>
      </p:sp>
      <p:sp>
        <p:nvSpPr>
          <p:cNvPr id="264" name="Google Shape;264;p24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number of knowledge-representation techniques have been devised: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600200" marR="0" lvl="3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Rules</a:t>
            </a:r>
            <a:endParaRPr dirty="0"/>
          </a:p>
          <a:p>
            <a:pPr marL="1600200" marR="0" lvl="3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nets</a:t>
            </a:r>
            <a:endParaRPr dirty="0"/>
          </a:p>
          <a:p>
            <a:pPr marL="1600200" marR="0" lvl="3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</a:t>
            </a:r>
            <a:endParaRPr dirty="0"/>
          </a:p>
          <a:p>
            <a:pPr marL="1600200" marR="0" lvl="3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Scripts</a:t>
            </a:r>
            <a:endParaRPr dirty="0"/>
          </a:p>
          <a:p>
            <a:pPr marL="1600200" marR="0" lvl="3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</a:t>
            </a:r>
            <a:endParaRPr dirty="0"/>
          </a:p>
          <a:p>
            <a:pPr marL="1600200" marR="0" lvl="3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Conceptual graphs</a:t>
            </a:r>
            <a:endParaRPr dirty="0"/>
          </a:p>
        </p:txBody>
      </p:sp>
      <p:sp>
        <p:nvSpPr>
          <p:cNvPr id="265" name="Google Shape;265;p24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24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273" name="Google Shape;273;p25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/>
          </a:p>
        </p:txBody>
      </p:sp>
      <p:sp>
        <p:nvSpPr>
          <p:cNvPr id="274" name="Google Shape;274;p2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2.3 Parse Tree </a:t>
            </a:r>
            <a:b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 Sentence</a:t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25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277" name="Google Shape;277;p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7918"/>
          <a:stretch/>
        </p:blipFill>
        <p:spPr>
          <a:xfrm>
            <a:off x="1219200" y="1981200"/>
            <a:ext cx="74676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284" name="Google Shape;284;p26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/>
          </a:p>
        </p:txBody>
      </p:sp>
      <p:sp>
        <p:nvSpPr>
          <p:cNvPr id="285" name="Google Shape;285;p26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Nets</a:t>
            </a:r>
            <a:endParaRPr/>
          </a:p>
        </p:txBody>
      </p:sp>
      <p:sp>
        <p:nvSpPr>
          <p:cNvPr id="286" name="Google Shape;286;p26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classic representation technique for propositional information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Propositions – a form of declarative knowledge, stating facts (true/false)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Propositions are called “atoms” – cannot be further subdivided.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nets consist of nodes (objects, concepts, situations) and arcs (relationships between them).</a:t>
            </a: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26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7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295" name="Google Shape;295;p27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/>
          </a:p>
        </p:txBody>
      </p:sp>
      <p:sp>
        <p:nvSpPr>
          <p:cNvPr id="296" name="Google Shape;296;p27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Types of Links</a:t>
            </a:r>
            <a:endParaRPr/>
          </a:p>
        </p:txBody>
      </p:sp>
      <p:sp>
        <p:nvSpPr>
          <p:cNvPr id="297" name="Google Shape;297;p27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IS-A – relates an instance or individual to a generic class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A-KIND-OF – relates generic nodes to generic nodes</a:t>
            </a:r>
            <a:endParaRPr/>
          </a:p>
        </p:txBody>
      </p:sp>
      <p:sp>
        <p:nvSpPr>
          <p:cNvPr id="298" name="Google Shape;298;p27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27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306" name="Google Shape;306;p28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/>
          </a:p>
        </p:txBody>
      </p:sp>
      <p:sp>
        <p:nvSpPr>
          <p:cNvPr id="307" name="Google Shape;307;p28"/>
          <p:cNvSpPr txBox="1">
            <a:spLocks noGrp="1"/>
          </p:cNvSpPr>
          <p:nvPr>
            <p:ph type="title"/>
          </p:nvPr>
        </p:nvSpPr>
        <p:spPr>
          <a:xfrm>
            <a:off x="685800" y="274637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2.4 Two Types of Nets</a:t>
            </a:r>
            <a:endParaRPr/>
          </a:p>
        </p:txBody>
      </p:sp>
      <p:sp>
        <p:nvSpPr>
          <p:cNvPr id="308" name="Google Shape;308;p28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28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310" name="Google Shape;310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3334"/>
          <a:stretch/>
        </p:blipFill>
        <p:spPr>
          <a:xfrm>
            <a:off x="2438400" y="1676400"/>
            <a:ext cx="41148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317" name="Google Shape;317;p29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/>
          </a:p>
        </p:txBody>
      </p:sp>
      <p:sp>
        <p:nvSpPr>
          <p:cNvPr id="318" name="Google Shape;318;p29"/>
          <p:cNvSpPr txBox="1">
            <a:spLocks noGrp="1"/>
          </p:cNvSpPr>
          <p:nvPr>
            <p:ph type="title"/>
          </p:nvPr>
        </p:nvSpPr>
        <p:spPr>
          <a:xfrm>
            <a:off x="7620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2.6: General Organization of a PROLOG System</a:t>
            </a:r>
            <a:endParaRPr/>
          </a:p>
        </p:txBody>
      </p:sp>
      <p:sp>
        <p:nvSpPr>
          <p:cNvPr id="319" name="Google Shape;319;p29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29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321" name="Google Shape;321;p2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7287"/>
          <a:stretch/>
        </p:blipFill>
        <p:spPr>
          <a:xfrm>
            <a:off x="1143000" y="1905000"/>
            <a:ext cx="762000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0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328" name="Google Shape;328;p30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/>
          </a:p>
        </p:txBody>
      </p:sp>
      <p:sp>
        <p:nvSpPr>
          <p:cNvPr id="329" name="Google Shape;329;p30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PROLOG and Semantic Nets</a:t>
            </a:r>
            <a:endParaRPr/>
          </a:p>
        </p:txBody>
      </p:sp>
      <p:sp>
        <p:nvSpPr>
          <p:cNvPr id="330" name="Google Shape;330;p30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PROLOG, predicate expressions consist of the predicate name, followed by zero or more arguments enclosed in parentheses, separated by commas.</a:t>
            </a:r>
            <a:endParaRPr/>
          </a:p>
          <a:p>
            <a:pPr marL="342900" marR="0" lvl="0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   mother(becky,heather) 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means that  becky is the mother of heather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30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30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1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339" name="Google Shape;339;p31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/>
          </a:p>
        </p:txBody>
      </p:sp>
      <p:sp>
        <p:nvSpPr>
          <p:cNvPr id="340" name="Google Shape;340;p31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PROLOG Continued</a:t>
            </a:r>
            <a:endParaRPr/>
          </a:p>
        </p:txBody>
      </p:sp>
      <p:sp>
        <p:nvSpPr>
          <p:cNvPr id="341" name="Google Shape;341;p31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consist of facts and rules in the general form of goals.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form:  </a:t>
            </a:r>
            <a:r>
              <a:rPr lang="en-US" sz="32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p:- p1, p2, …, pN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sz="32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 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called the rule’s head and the</a:t>
            </a:r>
            <a:r>
              <a:rPr lang="en-US" sz="32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p</a:t>
            </a:r>
            <a:r>
              <a:rPr lang="en-US" sz="3200" b="0" i="0" u="none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   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represents the subgoals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US" sz="32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spouse(x,y) :- wife(x,y)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32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spouse of </a:t>
            </a:r>
            <a:r>
              <a:rPr lang="en-US" sz="32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</a:t>
            </a:r>
            <a:r>
              <a:rPr lang="en-US" sz="32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wife of </a:t>
            </a:r>
            <a:r>
              <a:rPr lang="en-US" sz="32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endParaRPr/>
          </a:p>
        </p:txBody>
      </p:sp>
      <p:sp>
        <p:nvSpPr>
          <p:cNvPr id="342" name="Google Shape;342;p31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" name="Google Shape;343;p31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361" name="Google Shape;361;p33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/>
          </a:p>
        </p:txBody>
      </p:sp>
      <p:sp>
        <p:nvSpPr>
          <p:cNvPr id="362" name="Google Shape;362;p33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with Semantic Nets</a:t>
            </a:r>
            <a:endParaRPr/>
          </a:p>
        </p:txBody>
      </p:sp>
      <p:sp>
        <p:nvSpPr>
          <p:cNvPr id="363" name="Google Shape;363;p33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represent definitive knowledge, the link and node names must be rigorously defined.</a:t>
            </a:r>
            <a:endParaRPr/>
          </a:p>
          <a:p>
            <a:pPr marL="342900" marR="0" lvl="0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solution to this is extensible markup language (XML) and ontologies.</a:t>
            </a:r>
            <a:endParaRPr/>
          </a:p>
          <a:p>
            <a:pPr marL="342900" marR="0" lvl="0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also include combinatorial explosion of searching nodes, inability to define knowledge the way logic can, and heuristic inadequacy.</a:t>
            </a:r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33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372" name="Google Shape;372;p34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/>
          </a:p>
        </p:txBody>
      </p:sp>
      <p:sp>
        <p:nvSpPr>
          <p:cNvPr id="373" name="Google Shape;373;p34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Schemata</a:t>
            </a:r>
            <a:endParaRPr/>
          </a:p>
        </p:txBody>
      </p:sp>
      <p:sp>
        <p:nvSpPr>
          <p:cNvPr id="374" name="Google Shape;374;p34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Structure – an  ordered collection of knowledge – not just data.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Nets – are shallow knowledge structures – all knowledge is contained in nodes and links.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 is a more complex knowledge structure than a semantic net.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schema, a node is like a record which may contain data, records, and/or pointers to nodes.</a:t>
            </a:r>
            <a:endParaRPr/>
          </a:p>
        </p:txBody>
      </p:sp>
      <p:sp>
        <p:nvSpPr>
          <p:cNvPr id="375" name="Google Shape;375;p34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34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383" name="Google Shape;383;p35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/>
          </a:p>
        </p:txBody>
      </p:sp>
      <p:sp>
        <p:nvSpPr>
          <p:cNvPr id="384" name="Google Shape;384;p35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</a:t>
            </a:r>
            <a:endParaRPr/>
          </a:p>
        </p:txBody>
      </p:sp>
      <p:sp>
        <p:nvSpPr>
          <p:cNvPr id="385" name="Google Shape;385;p35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type of schema is a frame (or script – time-ordered sequence of frames).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 are useful for simulating commonsense knowledge.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nets provide 2-dimensional knowledge; frames provide 3-dimensional.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 represent related knowledge about narrow subjects having much default knowledge.</a:t>
            </a:r>
            <a:endParaRPr/>
          </a:p>
        </p:txBody>
      </p:sp>
      <p:sp>
        <p:nvSpPr>
          <p:cNvPr id="386" name="Google Shape;386;p35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35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394" name="Google Shape;394;p36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/>
          </a:p>
        </p:txBody>
      </p:sp>
      <p:sp>
        <p:nvSpPr>
          <p:cNvPr id="395" name="Google Shape;395;p36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 Continued</a:t>
            </a:r>
            <a:endParaRPr/>
          </a:p>
        </p:txBody>
      </p:sp>
      <p:sp>
        <p:nvSpPr>
          <p:cNvPr id="396" name="Google Shape;396;p36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frame is a group of slots and fillers that defines a stereotypical object that is used to represent generic / specific knowledge.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Commonsense knowledge is knowledge that is generally known.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Prototypes are objects possessing all typical characteristics of whatever is being modeled.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with frames include allowing unrestrained alteration / cancellation of slots.</a:t>
            </a:r>
            <a:endParaRPr/>
          </a:p>
        </p:txBody>
      </p:sp>
      <p:sp>
        <p:nvSpPr>
          <p:cNvPr id="397" name="Google Shape;397;p36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" name="Google Shape;398;p36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7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405" name="Google Shape;405;p37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/>
          </a:p>
        </p:txBody>
      </p:sp>
      <p:sp>
        <p:nvSpPr>
          <p:cNvPr id="406" name="Google Shape;406;p37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 and Sets</a:t>
            </a:r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can also be represented by symbols of logic.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 is the study of rules of exact reasoning – inferring conclusions from premises.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reasoning – logic programming in the context of expert systems.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37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37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416" name="Google Shape;416;p38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/>
          </a:p>
        </p:txBody>
      </p:sp>
      <p:sp>
        <p:nvSpPr>
          <p:cNvPr id="417" name="Google Shape;417;p3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2.8 A Car Frame</a:t>
            </a:r>
            <a:endParaRPr/>
          </a:p>
        </p:txBody>
      </p:sp>
      <p:sp>
        <p:nvSpPr>
          <p:cNvPr id="418" name="Google Shape;418;p38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p38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420" name="Google Shape;420;p3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7321"/>
          <a:stretch/>
        </p:blipFill>
        <p:spPr>
          <a:xfrm>
            <a:off x="1066800" y="1828800"/>
            <a:ext cx="762000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9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427" name="Google Shape;427;p39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/>
          </a:p>
        </p:txBody>
      </p:sp>
      <p:sp>
        <p:nvSpPr>
          <p:cNvPr id="428" name="Google Shape;428;p39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Forms of Logic</a:t>
            </a:r>
            <a:endParaRPr/>
          </a:p>
        </p:txBody>
      </p:sp>
      <p:sp>
        <p:nvSpPr>
          <p:cNvPr id="429" name="Google Shape;429;p39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Earliest form of logic was based on the syllogism – developed by Aristotle.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Syllogisms – have two premises that provide evidence to support a  conclusion.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Char char="–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Premise: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1" u="none" strike="noStrike" cap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cats are climbers.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Char char="–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Premise:	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1" u="none" strike="noStrike" cap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Garfield is a cat.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Char char="–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1" u="none" strike="noStrike" cap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Garfield is a climber.</a:t>
            </a:r>
            <a:endParaRPr/>
          </a:p>
        </p:txBody>
      </p:sp>
      <p:sp>
        <p:nvSpPr>
          <p:cNvPr id="430" name="Google Shape;430;p39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" name="Google Shape;431;p39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438" name="Google Shape;438;p40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/>
          </a:p>
        </p:txBody>
      </p:sp>
      <p:sp>
        <p:nvSpPr>
          <p:cNvPr id="439" name="Google Shape;439;p40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Venn Diagrams</a:t>
            </a:r>
            <a:endParaRPr/>
          </a:p>
        </p:txBody>
      </p:sp>
      <p:sp>
        <p:nvSpPr>
          <p:cNvPr id="440" name="Google Shape;440;p40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Venn diagrams can be used to represent knowledge.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Universal set is the topic of discussion.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Subsets, proper subsets, intersection, union , contained in, and complement are all familiar terms related to sets.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empty set (null set) has no elements.</a:t>
            </a:r>
            <a:endParaRPr/>
          </a:p>
        </p:txBody>
      </p:sp>
      <p:sp>
        <p:nvSpPr>
          <p:cNvPr id="441" name="Google Shape;441;p40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" name="Google Shape;442;p40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1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449" name="Google Shape;449;p41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/>
          </a:p>
        </p:txBody>
      </p:sp>
      <p:sp>
        <p:nvSpPr>
          <p:cNvPr id="450" name="Google Shape;450;p41"/>
          <p:cNvSpPr txBox="1">
            <a:spLocks noGrp="1"/>
          </p:cNvSpPr>
          <p:nvPr>
            <p:ph type="title"/>
          </p:nvPr>
        </p:nvSpPr>
        <p:spPr>
          <a:xfrm>
            <a:off x="990600" y="274637"/>
            <a:ext cx="7696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2.13 Venn Diagrams</a:t>
            </a:r>
            <a:endParaRPr/>
          </a:p>
        </p:txBody>
      </p:sp>
      <p:sp>
        <p:nvSpPr>
          <p:cNvPr id="451" name="Google Shape;451;p41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41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453" name="Google Shape;453;p4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7961"/>
          <a:stretch/>
        </p:blipFill>
        <p:spPr>
          <a:xfrm>
            <a:off x="1295400" y="2209800"/>
            <a:ext cx="6934200" cy="35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2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459" name="Google Shape;459;p42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/>
          </a:p>
        </p:txBody>
      </p:sp>
      <p:sp>
        <p:nvSpPr>
          <p:cNvPr id="460" name="Google Shape;460;p4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2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Syllogism 三段論法</a:t>
            </a:r>
            <a:br>
              <a:rPr lang="en-US" sz="40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461" name="Google Shape;461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Premise:      All men are mortal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Premise:      Socrates is a man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Conclusion: Socrates is mortal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the </a:t>
            </a:r>
            <a:r>
              <a:rPr lang="en-US" sz="28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form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important.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Premise:      </a:t>
            </a:r>
            <a:r>
              <a:rPr lang="en-US" sz="28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are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Premise:      </a:t>
            </a:r>
            <a:r>
              <a:rPr lang="en-US" sz="2800" b="1" i="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is a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Conclusion: </a:t>
            </a:r>
            <a:r>
              <a:rPr lang="en-US" sz="2800" b="1" i="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is a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i="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3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467" name="Google Shape;467;p43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/>
          </a:p>
        </p:txBody>
      </p:sp>
      <p:sp>
        <p:nvSpPr>
          <p:cNvPr id="468" name="Google Shape;468;p4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Categorical Syllogism</a:t>
            </a:r>
            <a:endParaRPr/>
          </a:p>
        </p:txBody>
      </p:sp>
      <p:sp>
        <p:nvSpPr>
          <p:cNvPr id="469" name="Google Shape;469;p43"/>
          <p:cNvSpPr txBox="1">
            <a:spLocks noGrp="1"/>
          </p:cNvSpPr>
          <p:nvPr>
            <p:ph type="body" idx="1"/>
          </p:nvPr>
        </p:nvSpPr>
        <p:spPr>
          <a:xfrm>
            <a:off x="468312" y="16287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Syllogism: a valid deductive argument having two premises and a conclusion.</a:t>
            </a:r>
            <a:endParaRPr/>
          </a:p>
          <a:p>
            <a:pPr marL="342900" marR="0" lvl="0" indent="-1397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major premise:      All M are P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minor premise:      All S is M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Conclusion: 	  All S is P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M middle term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P major term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S minor term</a:t>
            </a:r>
            <a:endParaRPr/>
          </a:p>
          <a:p>
            <a:pPr marL="342900" marR="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4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475" name="Google Shape;475;p44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/>
          </a:p>
        </p:txBody>
      </p:sp>
      <p:sp>
        <p:nvSpPr>
          <p:cNvPr id="476" name="Google Shape;476;p4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Categorical Statements</a:t>
            </a:r>
            <a:endParaRPr/>
          </a:p>
        </p:txBody>
      </p:sp>
      <p:sp>
        <p:nvSpPr>
          <p:cNvPr id="477" name="Google Shape;477;p44"/>
          <p:cNvSpPr txBox="1">
            <a:spLocks noGrp="1"/>
          </p:cNvSpPr>
          <p:nvPr>
            <p:ph type="body" idx="1"/>
          </p:nvPr>
        </p:nvSpPr>
        <p:spPr>
          <a:xfrm>
            <a:off x="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</a:t>
            </a:r>
            <a:endParaRPr/>
          </a:p>
        </p:txBody>
      </p:sp>
      <p:grpSp>
        <p:nvGrpSpPr>
          <p:cNvPr id="478" name="Google Shape;478;p44"/>
          <p:cNvGrpSpPr/>
          <p:nvPr/>
        </p:nvGrpSpPr>
        <p:grpSpPr>
          <a:xfrm>
            <a:off x="539750" y="1557337"/>
            <a:ext cx="8318500" cy="4902200"/>
            <a:chOff x="295" y="1207"/>
            <a:chExt cx="5240" cy="3088"/>
          </a:xfrm>
        </p:grpSpPr>
        <p:sp>
          <p:nvSpPr>
            <p:cNvPr id="479" name="Google Shape;479;p44"/>
            <p:cNvSpPr txBox="1"/>
            <p:nvPr/>
          </p:nvSpPr>
          <p:spPr>
            <a:xfrm>
              <a:off x="2835" y="3646"/>
              <a:ext cx="27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particular negative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4"/>
            <p:cNvSpPr txBox="1"/>
            <p:nvPr/>
          </p:nvSpPr>
          <p:spPr>
            <a:xfrm>
              <a:off x="975" y="3646"/>
              <a:ext cx="18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Some S is not P</a:t>
              </a:r>
              <a:endParaRPr/>
            </a:p>
          </p:txBody>
        </p:sp>
        <p:sp>
          <p:nvSpPr>
            <p:cNvPr id="481" name="Google Shape;481;p44"/>
            <p:cNvSpPr txBox="1"/>
            <p:nvPr/>
          </p:nvSpPr>
          <p:spPr>
            <a:xfrm>
              <a:off x="295" y="3646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482" name="Google Shape;482;p44"/>
            <p:cNvSpPr txBox="1"/>
            <p:nvPr/>
          </p:nvSpPr>
          <p:spPr>
            <a:xfrm>
              <a:off x="2835" y="2997"/>
              <a:ext cx="27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particular affirmative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4"/>
            <p:cNvSpPr txBox="1"/>
            <p:nvPr/>
          </p:nvSpPr>
          <p:spPr>
            <a:xfrm>
              <a:off x="975" y="2997"/>
              <a:ext cx="18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Some S is P</a:t>
              </a:r>
              <a:endParaRPr/>
            </a:p>
          </p:txBody>
        </p:sp>
        <p:sp>
          <p:nvSpPr>
            <p:cNvPr id="484" name="Google Shape;484;p44"/>
            <p:cNvSpPr txBox="1"/>
            <p:nvPr/>
          </p:nvSpPr>
          <p:spPr>
            <a:xfrm>
              <a:off x="295" y="2997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  <p:sp>
          <p:nvSpPr>
            <p:cNvPr id="485" name="Google Shape;485;p44"/>
            <p:cNvSpPr txBox="1"/>
            <p:nvPr/>
          </p:nvSpPr>
          <p:spPr>
            <a:xfrm>
              <a:off x="2835" y="2426"/>
              <a:ext cx="27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universal negative</a:t>
              </a:r>
              <a:endParaRPr/>
            </a:p>
          </p:txBody>
        </p:sp>
        <p:sp>
          <p:nvSpPr>
            <p:cNvPr id="486" name="Google Shape;486;p44"/>
            <p:cNvSpPr txBox="1"/>
            <p:nvPr/>
          </p:nvSpPr>
          <p:spPr>
            <a:xfrm>
              <a:off x="975" y="2426"/>
              <a:ext cx="18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 S is P</a:t>
              </a:r>
              <a:endParaRPr/>
            </a:p>
          </p:txBody>
        </p:sp>
        <p:sp>
          <p:nvSpPr>
            <p:cNvPr id="487" name="Google Shape;487;p44"/>
            <p:cNvSpPr txBox="1"/>
            <p:nvPr/>
          </p:nvSpPr>
          <p:spPr>
            <a:xfrm>
              <a:off x="295" y="2426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488" name="Google Shape;488;p44"/>
            <p:cNvSpPr txBox="1"/>
            <p:nvPr/>
          </p:nvSpPr>
          <p:spPr>
            <a:xfrm>
              <a:off x="2835" y="1856"/>
              <a:ext cx="27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universal affirmative</a:t>
              </a:r>
              <a:endParaRPr/>
            </a:p>
          </p:txBody>
        </p:sp>
        <p:sp>
          <p:nvSpPr>
            <p:cNvPr id="489" name="Google Shape;489;p44"/>
            <p:cNvSpPr txBox="1"/>
            <p:nvPr/>
          </p:nvSpPr>
          <p:spPr>
            <a:xfrm>
              <a:off x="975" y="1856"/>
              <a:ext cx="18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All S is P</a:t>
              </a:r>
              <a:endParaRPr/>
            </a:p>
          </p:txBody>
        </p:sp>
        <p:sp>
          <p:nvSpPr>
            <p:cNvPr id="490" name="Google Shape;490;p44"/>
            <p:cNvSpPr txBox="1"/>
            <p:nvPr/>
          </p:nvSpPr>
          <p:spPr>
            <a:xfrm>
              <a:off x="295" y="1856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491" name="Google Shape;491;p44"/>
            <p:cNvSpPr txBox="1"/>
            <p:nvPr/>
          </p:nvSpPr>
          <p:spPr>
            <a:xfrm>
              <a:off x="2835" y="1207"/>
              <a:ext cx="27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Meaning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4"/>
            <p:cNvSpPr txBox="1"/>
            <p:nvPr/>
          </p:nvSpPr>
          <p:spPr>
            <a:xfrm>
              <a:off x="975" y="1207"/>
              <a:ext cx="18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Schema</a:t>
              </a:r>
              <a:endParaRPr/>
            </a:p>
          </p:txBody>
        </p:sp>
        <p:sp>
          <p:nvSpPr>
            <p:cNvPr id="493" name="Google Shape;493;p44"/>
            <p:cNvSpPr txBox="1"/>
            <p:nvPr/>
          </p:nvSpPr>
          <p:spPr>
            <a:xfrm>
              <a:off x="295" y="1207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Form</a:t>
              </a:r>
              <a:endParaRPr/>
            </a:p>
          </p:txBody>
        </p:sp>
        <p:cxnSp>
          <p:nvCxnSpPr>
            <p:cNvPr id="494" name="Google Shape;494;p44"/>
            <p:cNvCxnSpPr/>
            <p:nvPr/>
          </p:nvCxnSpPr>
          <p:spPr>
            <a:xfrm>
              <a:off x="295" y="1207"/>
              <a:ext cx="5100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95" name="Google Shape;495;p44"/>
            <p:cNvCxnSpPr/>
            <p:nvPr/>
          </p:nvCxnSpPr>
          <p:spPr>
            <a:xfrm>
              <a:off x="295" y="1856"/>
              <a:ext cx="51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96" name="Google Shape;496;p44"/>
            <p:cNvCxnSpPr/>
            <p:nvPr/>
          </p:nvCxnSpPr>
          <p:spPr>
            <a:xfrm>
              <a:off x="295" y="2426"/>
              <a:ext cx="51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97" name="Google Shape;497;p44"/>
            <p:cNvCxnSpPr/>
            <p:nvPr/>
          </p:nvCxnSpPr>
          <p:spPr>
            <a:xfrm>
              <a:off x="295" y="2997"/>
              <a:ext cx="51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98" name="Google Shape;498;p44"/>
            <p:cNvCxnSpPr/>
            <p:nvPr/>
          </p:nvCxnSpPr>
          <p:spPr>
            <a:xfrm>
              <a:off x="295" y="3646"/>
              <a:ext cx="5100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499" name="Google Shape;499;p44"/>
            <p:cNvCxnSpPr/>
            <p:nvPr/>
          </p:nvCxnSpPr>
          <p:spPr>
            <a:xfrm>
              <a:off x="295" y="4295"/>
              <a:ext cx="5100" cy="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00" name="Google Shape;500;p44"/>
            <p:cNvCxnSpPr/>
            <p:nvPr/>
          </p:nvCxnSpPr>
          <p:spPr>
            <a:xfrm>
              <a:off x="295" y="1207"/>
              <a:ext cx="0" cy="300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01" name="Google Shape;501;p44"/>
            <p:cNvCxnSpPr/>
            <p:nvPr/>
          </p:nvCxnSpPr>
          <p:spPr>
            <a:xfrm>
              <a:off x="975" y="1207"/>
              <a:ext cx="0" cy="3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02" name="Google Shape;502;p44"/>
            <p:cNvCxnSpPr/>
            <p:nvPr/>
          </p:nvCxnSpPr>
          <p:spPr>
            <a:xfrm>
              <a:off x="2835" y="1207"/>
              <a:ext cx="0" cy="30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503" name="Google Shape;503;p44"/>
            <p:cNvCxnSpPr/>
            <p:nvPr/>
          </p:nvCxnSpPr>
          <p:spPr>
            <a:xfrm>
              <a:off x="5479" y="1207"/>
              <a:ext cx="0" cy="3000"/>
            </a:xfrm>
            <a:prstGeom prst="straightConnector1">
              <a:avLst/>
            </a:prstGeom>
            <a:noFill/>
            <a:ln w="28575" cap="sq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6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544" name="Google Shape;544;p46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/>
          </a:p>
        </p:txBody>
      </p:sp>
      <p:sp>
        <p:nvSpPr>
          <p:cNvPr id="545" name="Google Shape;545;p46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Propositional Logic</a:t>
            </a:r>
            <a:endParaRPr/>
          </a:p>
        </p:txBody>
      </p:sp>
      <p:sp>
        <p:nvSpPr>
          <p:cNvPr id="546" name="Google Shape;546;p46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 logic is concerned with syntax of statements, not semantics.</a:t>
            </a:r>
            <a:endParaRPr/>
          </a:p>
          <a:p>
            <a:pPr marL="342900" marR="0" lvl="0" indent="-28575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Syllogism: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66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goons are loons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66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Zadok is a goon.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66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Zadok is a loon.</a:t>
            </a:r>
            <a:endParaRPr/>
          </a:p>
          <a:p>
            <a:pPr marL="342900" marR="0" lvl="0" indent="-28575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0" i="0" u="non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words may be nonsense, but the form is correct – this is a “valid argument.”</a:t>
            </a:r>
            <a:endParaRPr/>
          </a:p>
        </p:txBody>
      </p:sp>
      <p:sp>
        <p:nvSpPr>
          <p:cNvPr id="547" name="Google Shape;547;p46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8" name="Google Shape;548;p46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8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566" name="Google Shape;566;p48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/>
          </a:p>
        </p:txBody>
      </p:sp>
      <p:sp>
        <p:nvSpPr>
          <p:cNvPr id="567" name="Google Shape;567;p48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Logic</a:t>
            </a:r>
            <a:endParaRPr/>
          </a:p>
        </p:txBody>
      </p:sp>
      <p:sp>
        <p:nvSpPr>
          <p:cNvPr id="568" name="Google Shape;568;p48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a set of axioms consisting of symbols to represent objects / classes.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a set of algebraic expressions to manipulate those symbols.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axioms, theorems can be constructed.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theorem can be proved by showing how it is derived from a set of axioms.</a:t>
            </a:r>
            <a:endParaRPr/>
          </a:p>
        </p:txBody>
      </p:sp>
      <p:sp>
        <p:nvSpPr>
          <p:cNvPr id="569" name="Google Shape;569;p48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0" name="Google Shape;570;p48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9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577" name="Google Shape;577;p49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/>
          </a:p>
        </p:txBody>
      </p:sp>
      <p:sp>
        <p:nvSpPr>
          <p:cNvPr id="578" name="Google Shape;578;p49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of Propositional Logic</a:t>
            </a:r>
            <a:endParaRPr/>
          </a:p>
        </p:txBody>
      </p:sp>
      <p:sp>
        <p:nvSpPr>
          <p:cNvPr id="579" name="Google Shape;579;p49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Concerned with the subset of declarative sentences that can be 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classified as </a:t>
            </a:r>
            <a:r>
              <a:rPr lang="en-US" sz="2800" b="1" i="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US" sz="2800" b="1" i="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call these sentences “statements” or “</a:t>
            </a:r>
            <a:r>
              <a:rPr lang="en-US" sz="2800" b="1" i="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propositions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Paradoxes – statements that cannot be classified as true or false.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sentences – statements that cannot be answered absolutely.</a:t>
            </a:r>
            <a:endParaRPr/>
          </a:p>
        </p:txBody>
      </p:sp>
      <p:sp>
        <p:nvSpPr>
          <p:cNvPr id="580" name="Google Shape;580;p49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1" name="Google Shape;581;p49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0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588" name="Google Shape;588;p50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43</a:t>
            </a:fld>
            <a:endParaRPr/>
          </a:p>
        </p:txBody>
      </p:sp>
      <p:sp>
        <p:nvSpPr>
          <p:cNvPr id="589" name="Google Shape;589;p50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Continued</a:t>
            </a:r>
            <a:endParaRPr/>
          </a:p>
        </p:txBody>
      </p:sp>
      <p:sp>
        <p:nvSpPr>
          <p:cNvPr id="590" name="Google Shape;590;p50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Compound statements – formed by using logical connectives (e.g., AND, OR, NOT, conditional, and biconditional) on individual statements.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 implication –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⭢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states that if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true, it must follow that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true.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Biconditional –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⭤ 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states that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implies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implies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p.</a:t>
            </a:r>
            <a:endParaRPr/>
          </a:p>
        </p:txBody>
      </p:sp>
      <p:sp>
        <p:nvSpPr>
          <p:cNvPr id="591" name="Google Shape;591;p50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2" name="Google Shape;592;p50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1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599" name="Google Shape;599;p51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</a:t>
            </a:fld>
            <a:endParaRPr/>
          </a:p>
        </p:txBody>
      </p:sp>
      <p:sp>
        <p:nvSpPr>
          <p:cNvPr id="600" name="Google Shape;600;p51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Continued</a:t>
            </a:r>
            <a:endParaRPr/>
          </a:p>
        </p:txBody>
      </p:sp>
      <p:sp>
        <p:nvSpPr>
          <p:cNvPr id="601" name="Google Shape;601;p51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Tautology – a statement that is true for all possible cases.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Contradiction – a statement that is false for all possible cases.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Contingent statement – a statement that is neither a tautology nor a contradiction.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2" name="Google Shape;602;p51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3" name="Google Shape;603;p51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2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610" name="Google Shape;610;p52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45</a:t>
            </a:fld>
            <a:endParaRPr/>
          </a:p>
        </p:txBody>
      </p:sp>
      <p:sp>
        <p:nvSpPr>
          <p:cNvPr id="611" name="Google Shape;611;p52"/>
          <p:cNvSpPr txBox="1">
            <a:spLocks noGrp="1"/>
          </p:cNvSpPr>
          <p:nvPr>
            <p:ph type="title" idx="4294967295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Tables</a:t>
            </a:r>
            <a:endParaRPr/>
          </a:p>
        </p:txBody>
      </p:sp>
      <p:pic>
        <p:nvPicPr>
          <p:cNvPr id="612" name="Google Shape;612;p52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828800"/>
            <a:ext cx="7620000" cy="18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52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4" name="Google Shape;614;p52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pic>
        <p:nvPicPr>
          <p:cNvPr id="615" name="Google Shape;615;p52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3810000"/>
            <a:ext cx="7543800" cy="14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65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718" name="Google Shape;718;p65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46</a:t>
            </a:fld>
            <a:endParaRPr/>
          </a:p>
        </p:txBody>
      </p:sp>
      <p:sp>
        <p:nvSpPr>
          <p:cNvPr id="719" name="Google Shape;719;p6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Propositional Logic</a:t>
            </a:r>
            <a:endParaRPr/>
          </a:p>
        </p:txBody>
      </p:sp>
      <p:sp>
        <p:nvSpPr>
          <p:cNvPr id="720" name="Google Shape;720;p6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Symbolic logic for manipulating proposition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Proposition, Statement, Close sentence: 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a sentence whose truth value can be 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determined.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 Sentence</a:t>
            </a: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sentence which contains variables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Combinational explosion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not prove argument with quantifiers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6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726" name="Google Shape;726;p66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47</a:t>
            </a:fld>
            <a:endParaRPr/>
          </a:p>
        </p:txBody>
      </p:sp>
      <p:sp>
        <p:nvSpPr>
          <p:cNvPr id="727" name="Google Shape;727;p6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Predicate Logic</a:t>
            </a:r>
            <a:endParaRPr/>
          </a:p>
        </p:txBody>
      </p:sp>
      <p:sp>
        <p:nvSpPr>
          <p:cNvPr id="728" name="Google Shape;728;p6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Predicates with arguments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on-top-of(A, B)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 and Quantifiers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Universal		(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∀</a:t>
            </a: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x)(Rational(x) 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Real(x))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Existential		(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∃</a:t>
            </a: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x)(Prime(x))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Functions of Variables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∀</a:t>
            </a: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x)(Satellite(x)) 🡪 (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∃</a:t>
            </a: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y)(closest(y, earth)^on(</a:t>
            </a:r>
            <a:r>
              <a:rPr lang="en-US" sz="20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y,x</a:t>
            </a: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))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(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∀</a:t>
            </a: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x)(man(x) </a:t>
            </a:r>
            <a:r>
              <a:rPr lang="en-US" sz="1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🡪 </a:t>
            </a: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mortal(x))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^	man(Socrates)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=&gt; mortal(Socrates)</a:t>
            </a:r>
            <a:endParaRPr dirty="0"/>
          </a:p>
          <a:p>
            <a:pPr marL="342900" marR="0" lvl="0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67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735" name="Google Shape;735;p67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48</a:t>
            </a:fld>
            <a:endParaRPr/>
          </a:p>
        </p:txBody>
      </p:sp>
      <p:sp>
        <p:nvSpPr>
          <p:cNvPr id="736" name="Google Shape;736;p67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Universal Quantifier</a:t>
            </a:r>
            <a:endParaRPr dirty="0"/>
          </a:p>
        </p:txBody>
      </p:sp>
      <p:sp>
        <p:nvSpPr>
          <p:cNvPr id="737" name="Google Shape;737;p67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universal quantifier, represented by the symbol </a:t>
            </a:r>
            <a:r>
              <a:rPr lang="en-US" sz="2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∀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means “for every” or “for all”.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800" b="0" i="0" u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1" i="0" u="non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∀</a:t>
            </a:r>
            <a:r>
              <a:rPr lang="en-US" sz="2800" b="0" i="1" u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800" b="0" i="0" u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2800" b="0" i="1" u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800" b="0" i="0" u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rectangle ⭢ </a:t>
            </a:r>
            <a:r>
              <a:rPr lang="en-US" sz="2800" b="0" i="1" u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800" b="0" i="0" u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four sides)</a:t>
            </a:r>
            <a:endParaRPr/>
          </a:p>
          <a:p>
            <a:pPr marL="342900" marR="0" lvl="0" indent="-2540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existential quantifier, represented by the symbol </a:t>
            </a:r>
            <a:r>
              <a:rPr lang="en-US" sz="28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∃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means “there exists”.</a:t>
            </a:r>
            <a:endParaRPr/>
          </a:p>
          <a:p>
            <a:pPr marL="342900" marR="0" lvl="0" indent="-28575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800" b="0" i="0" u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1" i="0" u="non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∃</a:t>
            </a:r>
            <a:r>
              <a:rPr lang="en-US" sz="2800" b="0" i="1" u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800" b="0" i="0" u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2800" b="0" i="1" u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– </a:t>
            </a:r>
            <a:r>
              <a:rPr lang="en-US" sz="2800" b="0" i="0" u="non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= 5)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of predicate logic – </a:t>
            </a:r>
            <a:r>
              <a:rPr lang="en-US" sz="2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quantifier.</a:t>
            </a:r>
            <a:endParaRPr/>
          </a:p>
        </p:txBody>
      </p:sp>
      <p:sp>
        <p:nvSpPr>
          <p:cNvPr id="738" name="Google Shape;738;p67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9" name="Google Shape;739;p67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8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745" name="Google Shape;745;p68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49</a:t>
            </a:fld>
            <a:endParaRPr/>
          </a:p>
        </p:txBody>
      </p:sp>
      <p:sp>
        <p:nvSpPr>
          <p:cNvPr id="746" name="Google Shape;746;p6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First Order Predicate Logic</a:t>
            </a:r>
            <a:endParaRPr/>
          </a:p>
        </p:txBody>
      </p:sp>
      <p:sp>
        <p:nvSpPr>
          <p:cNvPr id="747" name="Google Shape;747;p6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Quantification not over predicate or function symbols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MOST quantifier, (counting required)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not express things that are sometime true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=&gt; Fuzzy Logic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9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753" name="Google Shape;753;p69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fld>
            <a:endParaRPr/>
          </a:p>
        </p:txBody>
      </p:sp>
      <p:sp>
        <p:nvSpPr>
          <p:cNvPr id="754" name="Google Shape;754;p6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28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Syllogism in Predicate Logic</a:t>
            </a:r>
            <a:endParaRPr lang="en-US" sz="2800" dirty="0"/>
          </a:p>
        </p:txBody>
      </p:sp>
      <p:sp>
        <p:nvSpPr>
          <p:cNvPr id="755" name="Google Shape;755;p6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	Scheme		Predicate Representation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	All S is P		   (</a:t>
            </a: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∀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x)(S(x) -&gt; P(x))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E	No S is P		   (</a:t>
            </a: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∀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x)(S(x) -&gt; ~P(x))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I 	Some S is P	   (</a:t>
            </a: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∃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x)(S(x) ^ P(x))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	Some S is not P	   (</a:t>
            </a: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∃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x)(S(x) ^ ~P(x))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0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761" name="Google Shape;761;p70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51</a:t>
            </a:fld>
            <a:endParaRPr/>
          </a:p>
        </p:txBody>
      </p:sp>
      <p:sp>
        <p:nvSpPr>
          <p:cNvPr id="762" name="Google Shape;762;p7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000" b="0" i="0" u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Rule of Universal Instantiation</a:t>
            </a:r>
            <a:endParaRPr sz="4000" dirty="0"/>
          </a:p>
        </p:txBody>
      </p:sp>
      <p:sp>
        <p:nvSpPr>
          <p:cNvPr id="763" name="Google Shape;763;p7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36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∀</a:t>
            </a: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x)p(x)  =&gt; p(a)	p: any proposition or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    propositional function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a: an instance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1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769" name="Google Shape;769;p71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52</a:t>
            </a:fld>
            <a:endParaRPr/>
          </a:p>
        </p:txBody>
      </p:sp>
      <p:sp>
        <p:nvSpPr>
          <p:cNvPr id="770" name="Google Shape;770;p7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 b="0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Formal Proof</a:t>
            </a:r>
            <a:endParaRPr/>
          </a:p>
        </p:txBody>
      </p:sp>
      <p:sp>
        <p:nvSpPr>
          <p:cNvPr id="771" name="Google Shape;771;p7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∀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x)(H(x)-&gt;M(x))		All men are mortal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H(s)				Socrates is a man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⇒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M(s)			=&gt; Socrates is mortal</a:t>
            </a:r>
            <a:endParaRPr/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eriod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32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∀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x)(H(x)-&gt;M(x))	premise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eriod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H(s)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eriod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H(s)-&gt;M(s)		universal instantiation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  M(s)			2,3 modus ponens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3"/>
          <p:cNvSpPr txBox="1">
            <a:spLocks noGrp="1"/>
          </p:cNvSpPr>
          <p:nvPr>
            <p:ph type="ftr" idx="11"/>
          </p:nvPr>
        </p:nvSpPr>
        <p:spPr>
          <a:xfrm>
            <a:off x="457200" y="64770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Expert Systems: Principles and Programming, Fourth Edition</a:t>
            </a:r>
            <a:endParaRPr/>
          </a:p>
        </p:txBody>
      </p:sp>
      <p:sp>
        <p:nvSpPr>
          <p:cNvPr id="786" name="Google Shape;786;p73"/>
          <p:cNvSpPr txBox="1">
            <a:spLocks noGrp="1"/>
          </p:cNvSpPr>
          <p:nvPr>
            <p:ph type="sldNum" idx="12"/>
          </p:nvPr>
        </p:nvSpPr>
        <p:spPr>
          <a:xfrm>
            <a:off x="6553200" y="6477000"/>
            <a:ext cx="2133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53</a:t>
            </a:fld>
            <a:endParaRPr/>
          </a:p>
        </p:txBody>
      </p:sp>
      <p:sp>
        <p:nvSpPr>
          <p:cNvPr id="787" name="Google Shape;787;p73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1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/>
          </a:p>
        </p:txBody>
      </p:sp>
      <p:sp>
        <p:nvSpPr>
          <p:cNvPr id="788" name="Google Shape;788;p73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76200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discussed: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Char char="–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Elements of knowledge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Char char="–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representation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Char char="–"/>
            </a:pPr>
            <a:r>
              <a:rPr lang="en-US" sz="2400" b="0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methods of representing knowledge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Fallacies may result from confusion between form of knowledge and semantics.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necessary to specify formal rules for expert systems to be able to reach valid conclusions.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problems require different tools.</a:t>
            </a:r>
            <a:endParaRPr/>
          </a:p>
        </p:txBody>
      </p:sp>
      <p:sp>
        <p:nvSpPr>
          <p:cNvPr id="789" name="Google Shape;789;p73"/>
          <p:cNvSpPr/>
          <p:nvPr/>
        </p:nvSpPr>
        <p:spPr>
          <a:xfrm>
            <a:off x="228600" y="228600"/>
            <a:ext cx="609600" cy="51054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0" name="Google Shape;790;p73"/>
          <p:cNvCxnSpPr/>
          <p:nvPr/>
        </p:nvCxnSpPr>
        <p:spPr>
          <a:xfrm>
            <a:off x="457200" y="1585912"/>
            <a:ext cx="8226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2803</Words>
  <Application>Microsoft Office PowerPoint</Application>
  <PresentationFormat>On-screen Show (4:3)</PresentationFormat>
  <Paragraphs>465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Courier New</vt:lpstr>
      <vt:lpstr>Lucida Calligraphy</vt:lpstr>
      <vt:lpstr>Noto Sans Symbols</vt:lpstr>
      <vt:lpstr>Sitka Display</vt:lpstr>
      <vt:lpstr>Tempus Sans ITC</vt:lpstr>
      <vt:lpstr>Times New Roman</vt:lpstr>
      <vt:lpstr>Default Design</vt:lpstr>
      <vt:lpstr>Chapter 3: The Representation of Knowledge</vt:lpstr>
      <vt:lpstr>What is the study of logic?</vt:lpstr>
      <vt:lpstr>Why is Logic Important</vt:lpstr>
      <vt:lpstr>The Goal of Expert Systems</vt:lpstr>
      <vt:lpstr>Knowledge vs. Expert Systems</vt:lpstr>
      <vt:lpstr>Arguments in Logic</vt:lpstr>
      <vt:lpstr>How is Knowledge Used?</vt:lpstr>
      <vt:lpstr>Epistemology</vt:lpstr>
      <vt:lpstr>Categories of Epistemology</vt:lpstr>
      <vt:lpstr>A Priori Knowledge</vt:lpstr>
      <vt:lpstr>A Posteriori Knowledge</vt:lpstr>
      <vt:lpstr>Procedural Knowledge</vt:lpstr>
      <vt:lpstr>Declarative Knowledge</vt:lpstr>
      <vt:lpstr>Tacit Knowledge</vt:lpstr>
      <vt:lpstr>Knowledge in Rule-Based Systems</vt:lpstr>
      <vt:lpstr>Expert Systems vs. Humans</vt:lpstr>
      <vt:lpstr>Expert Systems vs. ANS</vt:lpstr>
      <vt:lpstr>Metaknowledge</vt:lpstr>
      <vt:lpstr>Figure 2.2 The Pyramid  of Knowledge</vt:lpstr>
      <vt:lpstr>Productions</vt:lpstr>
      <vt:lpstr>Figure 2.3 Parse Tree  of a Sentence</vt:lpstr>
      <vt:lpstr>Semantic Nets</vt:lpstr>
      <vt:lpstr>Common Types of Links</vt:lpstr>
      <vt:lpstr>Figure 2.4 Two Types of Nets</vt:lpstr>
      <vt:lpstr>Figure 2.6: General Organization of a PROLOG System</vt:lpstr>
      <vt:lpstr>PROLOG and Semantic Nets</vt:lpstr>
      <vt:lpstr>PROLOG Continued</vt:lpstr>
      <vt:lpstr>Problems with Semantic Nets</vt:lpstr>
      <vt:lpstr>Schemata</vt:lpstr>
      <vt:lpstr>Frames</vt:lpstr>
      <vt:lpstr>Frames Continued</vt:lpstr>
      <vt:lpstr>Logic and Sets</vt:lpstr>
      <vt:lpstr>Figure 2.8 A Car Frame</vt:lpstr>
      <vt:lpstr>Forms of Logic</vt:lpstr>
      <vt:lpstr>Venn Diagrams</vt:lpstr>
      <vt:lpstr>Figure 2.13 Venn Diagrams</vt:lpstr>
      <vt:lpstr>Syllogism 三段論法 </vt:lpstr>
      <vt:lpstr>Categorical Syllogism</vt:lpstr>
      <vt:lpstr>Categorical Statements</vt:lpstr>
      <vt:lpstr>Propositional Logic</vt:lpstr>
      <vt:lpstr>Boolean Logic</vt:lpstr>
      <vt:lpstr>Features of Propositional Logic</vt:lpstr>
      <vt:lpstr>Features Continued</vt:lpstr>
      <vt:lpstr>Features Continued</vt:lpstr>
      <vt:lpstr>Truth Tables</vt:lpstr>
      <vt:lpstr>Propositional Logic</vt:lpstr>
      <vt:lpstr>Predicate Logic</vt:lpstr>
      <vt:lpstr>Universal Quantifier</vt:lpstr>
      <vt:lpstr>First Order Predicate Logic</vt:lpstr>
      <vt:lpstr>Syllogism in Predicate Logic</vt:lpstr>
      <vt:lpstr>Rule of Universal Instantiation</vt:lpstr>
      <vt:lpstr>Formal Proof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The Representation of Knowledge</dc:title>
  <dc:creator>shafaque</dc:creator>
  <cp:lastModifiedBy>shafaque.malik@outlook.com</cp:lastModifiedBy>
  <cp:revision>3</cp:revision>
  <dcterms:modified xsi:type="dcterms:W3CDTF">2023-08-06T10:47:48Z</dcterms:modified>
</cp:coreProperties>
</file>