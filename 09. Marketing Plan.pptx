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32"/>
  </p:notesMasterIdLst>
  <p:handoutMasterIdLst>
    <p:handoutMasterId r:id="rId33"/>
  </p:handoutMasterIdLst>
  <p:sldIdLst>
    <p:sldId id="256" r:id="rId2"/>
    <p:sldId id="264" r:id="rId3"/>
    <p:sldId id="301" r:id="rId4"/>
    <p:sldId id="302" r:id="rId5"/>
    <p:sldId id="327" r:id="rId6"/>
    <p:sldId id="282" r:id="rId7"/>
    <p:sldId id="307" r:id="rId8"/>
    <p:sldId id="312" r:id="rId9"/>
    <p:sldId id="328" r:id="rId10"/>
    <p:sldId id="272" r:id="rId11"/>
    <p:sldId id="323" r:id="rId12"/>
    <p:sldId id="284" r:id="rId13"/>
    <p:sldId id="329" r:id="rId14"/>
    <p:sldId id="330" r:id="rId15"/>
    <p:sldId id="331" r:id="rId16"/>
    <p:sldId id="273" r:id="rId17"/>
    <p:sldId id="285" r:id="rId18"/>
    <p:sldId id="286" r:id="rId19"/>
    <p:sldId id="287" r:id="rId20"/>
    <p:sldId id="288" r:id="rId21"/>
    <p:sldId id="324" r:id="rId22"/>
    <p:sldId id="290" r:id="rId23"/>
    <p:sldId id="326" r:id="rId24"/>
    <p:sldId id="295" r:id="rId25"/>
    <p:sldId id="296" r:id="rId26"/>
    <p:sldId id="297" r:id="rId27"/>
    <p:sldId id="298" r:id="rId28"/>
    <p:sldId id="313" r:id="rId29"/>
    <p:sldId id="314" r:id="rId30"/>
    <p:sldId id="315" r:id="rId31"/>
  </p:sldIdLst>
  <p:sldSz cx="9144000" cy="6858000" type="screen4x3"/>
  <p:notesSz cx="9296400" cy="6881813"/>
  <p:defaultTextStyle>
    <a:defPPr>
      <a:defRPr lang="en-US"/>
    </a:defPPr>
    <a:lvl1pPr algn="l" rtl="0" eaLnBrk="0" fontAlgn="base" hangingPunct="0">
      <a:spcBef>
        <a:spcPct val="0"/>
      </a:spcBef>
      <a:spcAft>
        <a:spcPct val="0"/>
      </a:spcAft>
      <a:defRPr sz="2800" kern="1200">
        <a:solidFill>
          <a:schemeClr val="tx1"/>
        </a:solidFill>
        <a:latin typeface="Arial" charset="0"/>
        <a:ea typeface="+mn-ea"/>
        <a:cs typeface="+mn-cs"/>
      </a:defRPr>
    </a:lvl1pPr>
    <a:lvl2pPr marL="457200" algn="l" rtl="0" eaLnBrk="0" fontAlgn="base" hangingPunct="0">
      <a:spcBef>
        <a:spcPct val="0"/>
      </a:spcBef>
      <a:spcAft>
        <a:spcPct val="0"/>
      </a:spcAft>
      <a:defRPr sz="2800" kern="1200">
        <a:solidFill>
          <a:schemeClr val="tx1"/>
        </a:solidFill>
        <a:latin typeface="Arial" charset="0"/>
        <a:ea typeface="+mn-ea"/>
        <a:cs typeface="+mn-cs"/>
      </a:defRPr>
    </a:lvl2pPr>
    <a:lvl3pPr marL="914400" algn="l" rtl="0" eaLnBrk="0" fontAlgn="base" hangingPunct="0">
      <a:spcBef>
        <a:spcPct val="0"/>
      </a:spcBef>
      <a:spcAft>
        <a:spcPct val="0"/>
      </a:spcAft>
      <a:defRPr sz="2800" kern="1200">
        <a:solidFill>
          <a:schemeClr val="tx1"/>
        </a:solidFill>
        <a:latin typeface="Arial" charset="0"/>
        <a:ea typeface="+mn-ea"/>
        <a:cs typeface="+mn-cs"/>
      </a:defRPr>
    </a:lvl3pPr>
    <a:lvl4pPr marL="1371600" algn="l" rtl="0" eaLnBrk="0" fontAlgn="base" hangingPunct="0">
      <a:spcBef>
        <a:spcPct val="0"/>
      </a:spcBef>
      <a:spcAft>
        <a:spcPct val="0"/>
      </a:spcAft>
      <a:defRPr sz="2800" kern="1200">
        <a:solidFill>
          <a:schemeClr val="tx1"/>
        </a:solidFill>
        <a:latin typeface="Arial" charset="0"/>
        <a:ea typeface="+mn-ea"/>
        <a:cs typeface="+mn-cs"/>
      </a:defRPr>
    </a:lvl4pPr>
    <a:lvl5pPr marL="1828800" algn="l" rtl="0" eaLnBrk="0" fontAlgn="base" hangingPunct="0">
      <a:spcBef>
        <a:spcPct val="0"/>
      </a:spcBef>
      <a:spcAft>
        <a:spcPct val="0"/>
      </a:spcAft>
      <a:defRPr sz="2800" kern="1200">
        <a:solidFill>
          <a:schemeClr val="tx1"/>
        </a:solidFill>
        <a:latin typeface="Arial" charset="0"/>
        <a:ea typeface="+mn-ea"/>
        <a:cs typeface="+mn-cs"/>
      </a:defRPr>
    </a:lvl5pPr>
    <a:lvl6pPr marL="2286000" algn="l" defTabSz="914400" rtl="0" eaLnBrk="1" latinLnBrk="0" hangingPunct="1">
      <a:defRPr sz="2800" kern="1200">
        <a:solidFill>
          <a:schemeClr val="tx1"/>
        </a:solidFill>
        <a:latin typeface="Arial" charset="0"/>
        <a:ea typeface="+mn-ea"/>
        <a:cs typeface="+mn-cs"/>
      </a:defRPr>
    </a:lvl6pPr>
    <a:lvl7pPr marL="2743200" algn="l" defTabSz="914400" rtl="0" eaLnBrk="1" latinLnBrk="0" hangingPunct="1">
      <a:defRPr sz="2800" kern="1200">
        <a:solidFill>
          <a:schemeClr val="tx1"/>
        </a:solidFill>
        <a:latin typeface="Arial" charset="0"/>
        <a:ea typeface="+mn-ea"/>
        <a:cs typeface="+mn-cs"/>
      </a:defRPr>
    </a:lvl7pPr>
    <a:lvl8pPr marL="3200400" algn="l" defTabSz="914400" rtl="0" eaLnBrk="1" latinLnBrk="0" hangingPunct="1">
      <a:defRPr sz="2800" kern="1200">
        <a:solidFill>
          <a:schemeClr val="tx1"/>
        </a:solidFill>
        <a:latin typeface="Arial" charset="0"/>
        <a:ea typeface="+mn-ea"/>
        <a:cs typeface="+mn-cs"/>
      </a:defRPr>
    </a:lvl8pPr>
    <a:lvl9pPr marL="3657600" algn="l" defTabSz="914400" rtl="0" eaLnBrk="1" latinLnBrk="0" hangingPunct="1">
      <a:defRPr sz="28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168" userDrawn="1">
          <p15:clr>
            <a:srgbClr val="A4A3A4"/>
          </p15:clr>
        </p15:guide>
        <p15:guide id="2" pos="292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08E4"/>
    <a:srgbClr val="89528A"/>
    <a:srgbClr val="3333FF"/>
    <a:srgbClr val="357F2F"/>
    <a:srgbClr val="D91B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8632" autoAdjust="0"/>
  </p:normalViewPr>
  <p:slideViewPr>
    <p:cSldViewPr>
      <p:cViewPr varScale="1">
        <p:scale>
          <a:sx n="82" d="100"/>
          <a:sy n="82" d="100"/>
        </p:scale>
        <p:origin x="1674" y="78"/>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notesViewPr>
    <p:cSldViewPr>
      <p:cViewPr varScale="1">
        <p:scale>
          <a:sx n="93" d="100"/>
          <a:sy n="93" d="100"/>
        </p:scale>
        <p:origin x="2034" y="78"/>
      </p:cViewPr>
      <p:guideLst>
        <p:guide orient="horz" pos="2168"/>
        <p:guide pos="292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xfrm>
            <a:off x="1" y="0"/>
            <a:ext cx="4028440" cy="344091"/>
          </a:xfrm>
          <a:prstGeom prst="rect">
            <a:avLst/>
          </a:prstGeom>
          <a:noFill/>
          <a:ln>
            <a:noFill/>
          </a:ln>
          <a:effectLst/>
          <a:extLst/>
        </p:spPr>
        <p:txBody>
          <a:bodyPr vert="horz" wrap="square" lIns="92446" tIns="46223" rIns="92446" bIns="46223"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72707" name="Rectangle 3"/>
          <p:cNvSpPr>
            <a:spLocks noGrp="1" noChangeArrowheads="1"/>
          </p:cNvSpPr>
          <p:nvPr>
            <p:ph type="dt" sz="quarter" idx="1"/>
          </p:nvPr>
        </p:nvSpPr>
        <p:spPr bwMode="auto">
          <a:xfrm>
            <a:off x="5265810" y="0"/>
            <a:ext cx="4028440" cy="344091"/>
          </a:xfrm>
          <a:prstGeom prst="rect">
            <a:avLst/>
          </a:prstGeom>
          <a:noFill/>
          <a:ln>
            <a:noFill/>
          </a:ln>
          <a:effectLst/>
          <a:extLst/>
        </p:spPr>
        <p:txBody>
          <a:bodyPr vert="horz" wrap="square" lIns="92446" tIns="46223" rIns="92446" bIns="46223"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2708" name="Rectangle 4"/>
          <p:cNvSpPr>
            <a:spLocks noGrp="1" noChangeArrowheads="1"/>
          </p:cNvSpPr>
          <p:nvPr>
            <p:ph type="ftr" sz="quarter" idx="2"/>
          </p:nvPr>
        </p:nvSpPr>
        <p:spPr bwMode="auto">
          <a:xfrm>
            <a:off x="1" y="6536528"/>
            <a:ext cx="4028440" cy="344091"/>
          </a:xfrm>
          <a:prstGeom prst="rect">
            <a:avLst/>
          </a:prstGeom>
          <a:noFill/>
          <a:ln>
            <a:noFill/>
          </a:ln>
          <a:effectLst/>
          <a:extLst/>
        </p:spPr>
        <p:txBody>
          <a:bodyPr vert="horz" wrap="square" lIns="92446" tIns="46223" rIns="92446" bIns="46223"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72709" name="Rectangle 5"/>
          <p:cNvSpPr>
            <a:spLocks noGrp="1" noChangeArrowheads="1"/>
          </p:cNvSpPr>
          <p:nvPr>
            <p:ph type="sldNum" sz="quarter" idx="3"/>
          </p:nvPr>
        </p:nvSpPr>
        <p:spPr bwMode="auto">
          <a:xfrm>
            <a:off x="5265810" y="6536528"/>
            <a:ext cx="4028440" cy="344091"/>
          </a:xfrm>
          <a:prstGeom prst="rect">
            <a:avLst/>
          </a:prstGeom>
          <a:noFill/>
          <a:ln>
            <a:noFill/>
          </a:ln>
          <a:effectLst/>
          <a:extLst/>
        </p:spPr>
        <p:txBody>
          <a:bodyPr vert="horz" wrap="square" lIns="92446" tIns="46223" rIns="92446" bIns="46223" numCol="1" anchor="b" anchorCtr="0" compatLnSpc="1">
            <a:prstTxWarp prst="textNoShape">
              <a:avLst/>
            </a:prstTxWarp>
          </a:bodyPr>
          <a:lstStyle>
            <a:lvl1pPr algn="r" eaLnBrk="1" hangingPunct="1">
              <a:defRPr sz="1200"/>
            </a:lvl1pPr>
          </a:lstStyle>
          <a:p>
            <a:fld id="{072B3248-3742-4550-8556-98AA2D0D81DA}" type="slidenum">
              <a:rPr lang="en-US"/>
              <a:pPr/>
              <a:t>‹#›</a:t>
            </a:fld>
            <a:endParaRPr lang="en-US"/>
          </a:p>
        </p:txBody>
      </p:sp>
    </p:spTree>
    <p:extLst>
      <p:ext uri="{BB962C8B-B14F-4D97-AF65-F5344CB8AC3E}">
        <p14:creationId xmlns:p14="http://schemas.microsoft.com/office/powerpoint/2010/main" val="2579959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1" y="0"/>
            <a:ext cx="4028440" cy="344091"/>
          </a:xfrm>
          <a:prstGeom prst="rect">
            <a:avLst/>
          </a:prstGeom>
          <a:noFill/>
          <a:ln>
            <a:noFill/>
          </a:ln>
          <a:effectLst/>
          <a:extLst/>
        </p:spPr>
        <p:txBody>
          <a:bodyPr vert="horz" wrap="square" lIns="92446" tIns="46223" rIns="92446" bIns="46223"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59395" name="Rectangle 3"/>
          <p:cNvSpPr>
            <a:spLocks noGrp="1" noChangeArrowheads="1"/>
          </p:cNvSpPr>
          <p:nvPr>
            <p:ph type="dt" idx="1"/>
          </p:nvPr>
        </p:nvSpPr>
        <p:spPr bwMode="auto">
          <a:xfrm>
            <a:off x="5265810" y="0"/>
            <a:ext cx="4028440" cy="344091"/>
          </a:xfrm>
          <a:prstGeom prst="rect">
            <a:avLst/>
          </a:prstGeom>
          <a:noFill/>
          <a:ln>
            <a:noFill/>
          </a:ln>
          <a:effectLst/>
          <a:extLst/>
        </p:spPr>
        <p:txBody>
          <a:bodyPr vert="horz" wrap="square" lIns="92446" tIns="46223" rIns="92446" bIns="46223"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2927350" y="515938"/>
            <a:ext cx="3443288" cy="2581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p:cNvSpPr>
            <a:spLocks noGrp="1" noChangeArrowheads="1"/>
          </p:cNvSpPr>
          <p:nvPr>
            <p:ph type="body" sz="quarter" idx="3"/>
          </p:nvPr>
        </p:nvSpPr>
        <p:spPr bwMode="auto">
          <a:xfrm>
            <a:off x="929641" y="3268861"/>
            <a:ext cx="7437119" cy="3096816"/>
          </a:xfrm>
          <a:prstGeom prst="rect">
            <a:avLst/>
          </a:prstGeom>
          <a:noFill/>
          <a:ln>
            <a:noFill/>
          </a:ln>
          <a:effectLst/>
          <a:extLst/>
        </p:spPr>
        <p:txBody>
          <a:bodyPr vert="horz" wrap="square" lIns="92446" tIns="46223" rIns="92446" bIns="4622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9398" name="Rectangle 6"/>
          <p:cNvSpPr>
            <a:spLocks noGrp="1" noChangeArrowheads="1"/>
          </p:cNvSpPr>
          <p:nvPr>
            <p:ph type="ftr" sz="quarter" idx="4"/>
          </p:nvPr>
        </p:nvSpPr>
        <p:spPr bwMode="auto">
          <a:xfrm>
            <a:off x="1" y="6536528"/>
            <a:ext cx="4028440" cy="344091"/>
          </a:xfrm>
          <a:prstGeom prst="rect">
            <a:avLst/>
          </a:prstGeom>
          <a:noFill/>
          <a:ln>
            <a:noFill/>
          </a:ln>
          <a:effectLst/>
          <a:extLst/>
        </p:spPr>
        <p:txBody>
          <a:bodyPr vert="horz" wrap="square" lIns="92446" tIns="46223" rIns="92446" bIns="46223"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59399" name="Rectangle 7"/>
          <p:cNvSpPr>
            <a:spLocks noGrp="1" noChangeArrowheads="1"/>
          </p:cNvSpPr>
          <p:nvPr>
            <p:ph type="sldNum" sz="quarter" idx="5"/>
          </p:nvPr>
        </p:nvSpPr>
        <p:spPr bwMode="auto">
          <a:xfrm>
            <a:off x="5265810" y="6536528"/>
            <a:ext cx="4028440" cy="344091"/>
          </a:xfrm>
          <a:prstGeom prst="rect">
            <a:avLst/>
          </a:prstGeom>
          <a:noFill/>
          <a:ln>
            <a:noFill/>
          </a:ln>
          <a:effectLst/>
          <a:extLst/>
        </p:spPr>
        <p:txBody>
          <a:bodyPr vert="horz" wrap="square" lIns="92446" tIns="46223" rIns="92446" bIns="46223" numCol="1" anchor="b" anchorCtr="0" compatLnSpc="1">
            <a:prstTxWarp prst="textNoShape">
              <a:avLst/>
            </a:prstTxWarp>
          </a:bodyPr>
          <a:lstStyle>
            <a:lvl1pPr algn="r" eaLnBrk="1" hangingPunct="1">
              <a:defRPr sz="1200"/>
            </a:lvl1pPr>
          </a:lstStyle>
          <a:p>
            <a:fld id="{B60A90C0-3980-4C38-AEAA-70202EB56953}" type="slidenum">
              <a:rPr lang="en-US"/>
              <a:pPr/>
              <a:t>‹#›</a:t>
            </a:fld>
            <a:endParaRPr lang="en-US"/>
          </a:p>
        </p:txBody>
      </p:sp>
    </p:spTree>
    <p:extLst>
      <p:ext uri="{BB962C8B-B14F-4D97-AF65-F5344CB8AC3E}">
        <p14:creationId xmlns:p14="http://schemas.microsoft.com/office/powerpoint/2010/main" val="22658537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515938"/>
            <a:ext cx="3443288" cy="2581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0A90C0-3980-4C38-AEAA-70202EB56953}" type="slidenum">
              <a:rPr lang="en-US" smtClean="0"/>
              <a:pPr/>
              <a:t>6</a:t>
            </a:fld>
            <a:endParaRPr lang="en-US"/>
          </a:p>
        </p:txBody>
      </p:sp>
    </p:spTree>
    <p:extLst>
      <p:ext uri="{BB962C8B-B14F-4D97-AF65-F5344CB8AC3E}">
        <p14:creationId xmlns:p14="http://schemas.microsoft.com/office/powerpoint/2010/main" val="409148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7"/>
          <p:cNvSpPr>
            <a:spLocks noGrp="1" noChangeArrowheads="1"/>
          </p:cNvSpPr>
          <p:nvPr>
            <p:ph type="sldNum" sz="quarter" idx="5"/>
          </p:nvPr>
        </p:nvSpPr>
        <p:spPr>
          <a:ln/>
        </p:spPr>
        <p:txBody>
          <a:bodyPr/>
          <a:lstStyle/>
          <a:p>
            <a:fld id="{618B31D4-9199-4E01-A5E6-E58607264307}" type="slidenum">
              <a:rPr lang="en-US"/>
              <a:pPr/>
              <a:t>17</a:t>
            </a:fld>
            <a:endParaRPr lang="en-US"/>
          </a:p>
        </p:txBody>
      </p:sp>
      <p:sp>
        <p:nvSpPr>
          <p:cNvPr id="59394" name="Rectangle 2"/>
          <p:cNvSpPr>
            <a:spLocks noChangeArrowheads="1"/>
          </p:cNvSpPr>
          <p:nvPr/>
        </p:nvSpPr>
        <p:spPr bwMode="auto">
          <a:xfrm>
            <a:off x="526796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395" name="Rectangle 3"/>
          <p:cNvSpPr>
            <a:spLocks noChangeArrowheads="1"/>
          </p:cNvSpPr>
          <p:nvPr/>
        </p:nvSpPr>
        <p:spPr bwMode="auto">
          <a:xfrm>
            <a:off x="1" y="6537722"/>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396" name="Rectangle 4"/>
          <p:cNvSpPr>
            <a:spLocks noChangeArrowheads="1"/>
          </p:cNvSpPr>
          <p:nvPr/>
        </p:nvSpPr>
        <p:spPr bwMode="auto">
          <a:xfrm>
            <a:off x="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397" name="Rectangle 5"/>
          <p:cNvSpPr>
            <a:spLocks noChangeArrowheads="1"/>
          </p:cNvSpPr>
          <p:nvPr/>
        </p:nvSpPr>
        <p:spPr bwMode="auto">
          <a:xfrm>
            <a:off x="526796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398" name="Rectangle 6"/>
          <p:cNvSpPr>
            <a:spLocks noChangeArrowheads="1"/>
          </p:cNvSpPr>
          <p:nvPr/>
        </p:nvSpPr>
        <p:spPr bwMode="auto">
          <a:xfrm>
            <a:off x="1" y="6537722"/>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399" name="Rectangle 7"/>
          <p:cNvSpPr>
            <a:spLocks noChangeArrowheads="1"/>
          </p:cNvSpPr>
          <p:nvPr/>
        </p:nvSpPr>
        <p:spPr bwMode="auto">
          <a:xfrm>
            <a:off x="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400" name="Rectangle 8"/>
          <p:cNvSpPr>
            <a:spLocks noChangeArrowheads="1"/>
          </p:cNvSpPr>
          <p:nvPr/>
        </p:nvSpPr>
        <p:spPr bwMode="auto">
          <a:xfrm>
            <a:off x="526796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401" name="Rectangle 9"/>
          <p:cNvSpPr>
            <a:spLocks noChangeArrowheads="1"/>
          </p:cNvSpPr>
          <p:nvPr/>
        </p:nvSpPr>
        <p:spPr bwMode="auto">
          <a:xfrm>
            <a:off x="1" y="6537722"/>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402" name="Rectangle 10"/>
          <p:cNvSpPr>
            <a:spLocks noChangeArrowheads="1"/>
          </p:cNvSpPr>
          <p:nvPr/>
        </p:nvSpPr>
        <p:spPr bwMode="auto">
          <a:xfrm>
            <a:off x="1" y="0"/>
            <a:ext cx="4028440" cy="34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446" tIns="46223" rIns="92446" bIns="46223" anchor="ctr"/>
          <a:lstStyle/>
          <a:p>
            <a:endParaRPr lang="en-US"/>
          </a:p>
        </p:txBody>
      </p:sp>
      <p:sp>
        <p:nvSpPr>
          <p:cNvPr id="59403" name="Rectangle 11"/>
          <p:cNvSpPr>
            <a:spLocks noGrp="1" noRot="1" noChangeAspect="1" noChangeArrowheads="1" noTextEdit="1"/>
          </p:cNvSpPr>
          <p:nvPr>
            <p:ph type="sldImg"/>
          </p:nvPr>
        </p:nvSpPr>
        <p:spPr>
          <a:xfrm>
            <a:off x="5741988" y="66675"/>
            <a:ext cx="2473325" cy="1854200"/>
          </a:xfrm>
          <a:ln w="12700" cap="flat">
            <a:solidFill>
              <a:schemeClr val="tx1"/>
            </a:solidFill>
          </a:ln>
          <a:extLst>
            <a:ext uri="{909E8E84-426E-40DD-AFC4-6F175D3DCCD1}">
              <a14:hiddenFill xmlns:a14="http://schemas.microsoft.com/office/drawing/2010/main">
                <a:noFill/>
              </a14:hiddenFill>
            </a:ext>
          </a:extLst>
        </p:spPr>
      </p:sp>
      <p:graphicFrame>
        <p:nvGraphicFramePr>
          <p:cNvPr id="59404" name="Object 12"/>
          <p:cNvGraphicFramePr>
            <a:graphicFrameLocks noChangeAspect="1"/>
          </p:cNvGraphicFramePr>
          <p:nvPr/>
        </p:nvGraphicFramePr>
        <p:xfrm>
          <a:off x="619760" y="2236589"/>
          <a:ext cx="7824471" cy="4530527"/>
        </p:xfrm>
        <a:graphic>
          <a:graphicData uri="http://schemas.openxmlformats.org/presentationml/2006/ole">
            <mc:AlternateContent xmlns:mc="http://schemas.openxmlformats.org/markup-compatibility/2006">
              <mc:Choice xmlns:v="urn:schemas-microsoft-com:vml" Requires="v">
                <p:oleObj spid="_x0000_s17517" name="Document" r:id="rId4" imgW="5772240" imgH="6031080" progId="Word.Document.8">
                  <p:embed/>
                </p:oleObj>
              </mc:Choice>
              <mc:Fallback>
                <p:oleObj name="Document" r:id="rId4" imgW="5772240" imgH="603108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760" y="2236589"/>
                        <a:ext cx="7824471" cy="4530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Notes Placeholder 1"/>
          <p:cNvSpPr>
            <a:spLocks noGrp="1"/>
          </p:cNvSpPr>
          <p:nvPr>
            <p:ph type="body" idx="1"/>
          </p:nvPr>
        </p:nvSpPr>
        <p:spPr/>
        <p:txBody>
          <a:bodyPr/>
          <a:lstStyle/>
          <a:p>
            <a:r>
              <a:rPr lang="en-US" dirty="0" smtClean="0">
                <a:effectLst/>
              </a:rPr>
              <a:t>The term "jobber" implies a middleman who buys goods from the wholesaler and sells it to the retailer. The principal difference between a jobber and an agent or a broker is that the latter sells goods on another person's behalf while the jobber actually buys the goods himself and then sells to the retailer.</a:t>
            </a:r>
            <a:br>
              <a:rPr lang="en-US" dirty="0" smtClean="0">
                <a:effectLst/>
              </a:rPr>
            </a:br>
            <a:r>
              <a:rPr lang="en-US" dirty="0" smtClean="0">
                <a:effectLst/>
              </a:rPr>
              <a:t/>
            </a:r>
            <a:br>
              <a:rPr lang="en-US" dirty="0" smtClean="0">
                <a:effectLst/>
              </a:rPr>
            </a:br>
            <a:endParaRPr lang="en-US" dirty="0"/>
          </a:p>
        </p:txBody>
      </p:sp>
    </p:spTree>
    <p:extLst>
      <p:ext uri="{BB962C8B-B14F-4D97-AF65-F5344CB8AC3E}">
        <p14:creationId xmlns:p14="http://schemas.microsoft.com/office/powerpoint/2010/main" val="1609067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FDF19F-B9C2-4220-9671-88C500A2461C}" type="slidenum">
              <a:rPr lang="en-US"/>
              <a:pPr/>
              <a:t>19</a:t>
            </a:fld>
            <a:endParaRPr lang="en-US"/>
          </a:p>
        </p:txBody>
      </p:sp>
      <p:sp>
        <p:nvSpPr>
          <p:cNvPr id="76802" name="Rectangle 2"/>
          <p:cNvSpPr>
            <a:spLocks noGrp="1" noRot="1" noChangeAspect="1" noChangeArrowheads="1" noTextEdit="1"/>
          </p:cNvSpPr>
          <p:nvPr>
            <p:ph type="sldImg"/>
          </p:nvPr>
        </p:nvSpPr>
        <p:spPr>
          <a:xfrm>
            <a:off x="2927350" y="515938"/>
            <a:ext cx="3443288" cy="2581275"/>
          </a:xfrm>
          <a:ln/>
        </p:spPr>
      </p:sp>
      <p:sp>
        <p:nvSpPr>
          <p:cNvPr id="76803" name="Rectangle 3"/>
          <p:cNvSpPr>
            <a:spLocks noGrp="1" noChangeArrowheads="1"/>
          </p:cNvSpPr>
          <p:nvPr>
            <p:ph type="body" idx="1"/>
          </p:nvPr>
        </p:nvSpPr>
        <p:spPr/>
        <p:txBody>
          <a:bodyPr/>
          <a:lstStyle/>
          <a:p>
            <a:pPr lvl="1"/>
            <a:r>
              <a:rPr lang="en-US"/>
              <a:t>The franchiser owns a trade or service mark, and licenses it for use for royalties </a:t>
            </a:r>
          </a:p>
          <a:p>
            <a:pPr lvl="1"/>
            <a:r>
              <a:rPr lang="en-US"/>
              <a:t>Franchisees must pay to be part of the system</a:t>
            </a:r>
          </a:p>
          <a:p>
            <a:pPr lvl="1"/>
            <a:r>
              <a:rPr lang="en-US"/>
              <a:t>Franchisers provide a packaged  marketing and operations system</a:t>
            </a:r>
            <a:endParaRPr lang="en-CA"/>
          </a:p>
          <a:p>
            <a:endParaRPr lang="en-US"/>
          </a:p>
        </p:txBody>
      </p:sp>
    </p:spTree>
    <p:extLst>
      <p:ext uri="{BB962C8B-B14F-4D97-AF65-F5344CB8AC3E}">
        <p14:creationId xmlns:p14="http://schemas.microsoft.com/office/powerpoint/2010/main" val="212903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51122" indent="-288893">
              <a:defRPr>
                <a:solidFill>
                  <a:schemeClr val="tx1"/>
                </a:solidFill>
                <a:latin typeface="Arial" panose="020B0604020202020204" pitchFamily="34" charset="0"/>
              </a:defRPr>
            </a:lvl2pPr>
            <a:lvl3pPr marL="1155573" indent="-231115">
              <a:defRPr>
                <a:solidFill>
                  <a:schemeClr val="tx1"/>
                </a:solidFill>
                <a:latin typeface="Arial" panose="020B0604020202020204" pitchFamily="34" charset="0"/>
              </a:defRPr>
            </a:lvl3pPr>
            <a:lvl4pPr marL="1617802" indent="-231115">
              <a:defRPr>
                <a:solidFill>
                  <a:schemeClr val="tx1"/>
                </a:solidFill>
                <a:latin typeface="Arial" panose="020B0604020202020204" pitchFamily="34" charset="0"/>
              </a:defRPr>
            </a:lvl4pPr>
            <a:lvl5pPr marL="2080031" indent="-231115">
              <a:defRPr>
                <a:solidFill>
                  <a:schemeClr val="tx1"/>
                </a:solidFill>
                <a:latin typeface="Arial" panose="020B0604020202020204" pitchFamily="34" charset="0"/>
              </a:defRPr>
            </a:lvl5pPr>
            <a:lvl6pPr marL="2542261" indent="-231115" eaLnBrk="0" fontAlgn="base" hangingPunct="0">
              <a:spcBef>
                <a:spcPct val="0"/>
              </a:spcBef>
              <a:spcAft>
                <a:spcPct val="0"/>
              </a:spcAft>
              <a:defRPr>
                <a:solidFill>
                  <a:schemeClr val="tx1"/>
                </a:solidFill>
                <a:latin typeface="Arial" panose="020B0604020202020204" pitchFamily="34" charset="0"/>
              </a:defRPr>
            </a:lvl6pPr>
            <a:lvl7pPr marL="3004490" indent="-231115" eaLnBrk="0" fontAlgn="base" hangingPunct="0">
              <a:spcBef>
                <a:spcPct val="0"/>
              </a:spcBef>
              <a:spcAft>
                <a:spcPct val="0"/>
              </a:spcAft>
              <a:defRPr>
                <a:solidFill>
                  <a:schemeClr val="tx1"/>
                </a:solidFill>
                <a:latin typeface="Arial" panose="020B0604020202020204" pitchFamily="34" charset="0"/>
              </a:defRPr>
            </a:lvl7pPr>
            <a:lvl8pPr marL="3466719" indent="-231115" eaLnBrk="0" fontAlgn="base" hangingPunct="0">
              <a:spcBef>
                <a:spcPct val="0"/>
              </a:spcBef>
              <a:spcAft>
                <a:spcPct val="0"/>
              </a:spcAft>
              <a:defRPr>
                <a:solidFill>
                  <a:schemeClr val="tx1"/>
                </a:solidFill>
                <a:latin typeface="Arial" panose="020B0604020202020204" pitchFamily="34" charset="0"/>
              </a:defRPr>
            </a:lvl8pPr>
            <a:lvl9pPr marL="3928948" indent="-231115" eaLnBrk="0" fontAlgn="base" hangingPunct="0">
              <a:spcBef>
                <a:spcPct val="0"/>
              </a:spcBef>
              <a:spcAft>
                <a:spcPct val="0"/>
              </a:spcAft>
              <a:defRPr>
                <a:solidFill>
                  <a:schemeClr val="tx1"/>
                </a:solidFill>
                <a:latin typeface="Arial" panose="020B0604020202020204" pitchFamily="34" charset="0"/>
              </a:defRPr>
            </a:lvl9pPr>
          </a:lstStyle>
          <a:p>
            <a:fld id="{A995F8F5-B32C-40D3-B8FE-6CCDCCF25D60}" type="slidenum">
              <a:rPr lang="en-US" smtClean="0"/>
              <a:pPr/>
              <a:t>22</a:t>
            </a:fld>
            <a:endParaRPr lang="en-US" smtClean="0"/>
          </a:p>
        </p:txBody>
      </p:sp>
      <p:sp>
        <p:nvSpPr>
          <p:cNvPr id="7171" name="Rectangle 2"/>
          <p:cNvSpPr>
            <a:spLocks noGrp="1" noRot="1" noChangeAspect="1" noChangeArrowheads="1" noTextEdit="1"/>
          </p:cNvSpPr>
          <p:nvPr>
            <p:ph type="sldImg"/>
          </p:nvPr>
        </p:nvSpPr>
        <p:spPr>
          <a:xfrm>
            <a:off x="2705100" y="349250"/>
            <a:ext cx="3886200" cy="2914650"/>
          </a:xfrm>
          <a:ln w="12700" cap="flat">
            <a:solidFill>
              <a:schemeClr val="tx1"/>
            </a:solidFill>
          </a:ln>
        </p:spPr>
      </p:sp>
      <p:sp>
        <p:nvSpPr>
          <p:cNvPr id="7172" name="Rectangle 3"/>
          <p:cNvSpPr>
            <a:spLocks noChangeArrowheads="1"/>
          </p:cNvSpPr>
          <p:nvPr/>
        </p:nvSpPr>
        <p:spPr bwMode="auto">
          <a:xfrm>
            <a:off x="71015" y="-3584"/>
            <a:ext cx="4932257" cy="121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83" tIns="44939" rIns="91483" bIns="44939">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spcBef>
                <a:spcPct val="50000"/>
              </a:spcBef>
            </a:pPr>
            <a:r>
              <a:rPr lang="en-US" b="1"/>
              <a:t>The Marketing Communications Mix</a:t>
            </a:r>
            <a:endParaRPr lang="en-US" sz="1400" b="1"/>
          </a:p>
          <a:p>
            <a:pPr>
              <a:lnSpc>
                <a:spcPct val="90000"/>
              </a:lnSpc>
              <a:spcBef>
                <a:spcPct val="50000"/>
              </a:spcBef>
            </a:pPr>
            <a:r>
              <a:rPr lang="en-US" sz="1600" b="1"/>
              <a:t>This CTR relates to the material on pp. 422-423.</a:t>
            </a:r>
          </a:p>
        </p:txBody>
      </p:sp>
      <p:sp>
        <p:nvSpPr>
          <p:cNvPr id="7173" name="Rectangle 4"/>
          <p:cNvSpPr>
            <a:spLocks noChangeArrowheads="1"/>
          </p:cNvSpPr>
          <p:nvPr/>
        </p:nvSpPr>
        <p:spPr bwMode="auto">
          <a:xfrm>
            <a:off x="-6457" y="2050207"/>
            <a:ext cx="9231844" cy="444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83" tIns="44939" rIns="91483" bIns="44939">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ct val="50000"/>
              </a:spcAft>
            </a:pPr>
            <a:r>
              <a:rPr lang="en-US" sz="1600" b="1"/>
              <a:t>Tools of The Marketing Communications Mix</a:t>
            </a:r>
            <a:endParaRPr lang="en-US" sz="1400" b="1"/>
          </a:p>
          <a:p>
            <a:pPr>
              <a:spcAft>
                <a:spcPct val="50000"/>
              </a:spcAft>
            </a:pPr>
            <a:r>
              <a:rPr lang="en-US" sz="1400" b="1" i="1"/>
              <a:t>Advertising.  </a:t>
            </a:r>
            <a:r>
              <a:rPr lang="en-US" sz="1400" b="1"/>
              <a:t>Advertising is any paid form of nonpersonal presentation and promotion of ideas, goods, or services by an identified sponsor.  Advertising often utilizes mass media and may be adapted to take advantages of a given mediums strengths to convey information.</a:t>
            </a:r>
          </a:p>
          <a:p>
            <a:pPr>
              <a:spcAft>
                <a:spcPct val="50000"/>
              </a:spcAft>
            </a:pPr>
            <a:r>
              <a:rPr lang="en-US" sz="1400" b="1" i="1"/>
              <a:t>Sales Promotion.  </a:t>
            </a:r>
            <a:r>
              <a:rPr lang="en-US" sz="1400" b="1"/>
              <a:t>Sales promotions consist of short-term incentives to encourage purchase of sales of a product or service.  Limited time offers or dated coupons are common sales promotions.</a:t>
            </a:r>
          </a:p>
          <a:p>
            <a:pPr>
              <a:spcAft>
                <a:spcPct val="50000"/>
              </a:spcAft>
            </a:pPr>
            <a:r>
              <a:rPr lang="en-US" sz="1400" b="1" i="1"/>
              <a:t>Public Relations.  </a:t>
            </a:r>
            <a:r>
              <a:rPr lang="en-US" sz="1400" b="1"/>
              <a:t>Public relations is an on-going process of building good relations with the various publics of the company.  Key elements in the process are obtaining favorable publicity, building and projecting a good "corporate image," and designing an information support and response team to respond proactively to unfavorable rumors, stories, or events.  </a:t>
            </a:r>
          </a:p>
          <a:p>
            <a:pPr>
              <a:spcAft>
                <a:spcPct val="50000"/>
              </a:spcAft>
            </a:pPr>
            <a:r>
              <a:rPr lang="en-US" sz="1400" b="1" i="1"/>
              <a:t>Personal Selling.  </a:t>
            </a:r>
            <a:r>
              <a:rPr lang="en-US" sz="1400" b="1"/>
              <a:t>Personal selling describes the use of oral presentations in a conversation with one or more prospective buyers for the purposes of making a sale.  Personal selling combines product information and benefits with the interpersonal dynamics of the sales person.  Good interpersonal relationship skills and effective oral communication skills are needed for personal selling.</a:t>
            </a:r>
          </a:p>
          <a:p>
            <a:pPr>
              <a:spcAft>
                <a:spcPct val="50000"/>
              </a:spcAft>
            </a:pPr>
            <a:r>
              <a:rPr lang="en-US" sz="1400" b="1" i="1"/>
              <a:t>Direct Marketing. </a:t>
            </a:r>
            <a:r>
              <a:rPr lang="en-US" sz="1400" b="1"/>
              <a:t>Directed communications with carefully targeted individual consumers to obtain an immediate response.</a:t>
            </a:r>
            <a:endParaRPr lang="en-US" sz="1400" b="1" i="1"/>
          </a:p>
          <a:p>
            <a:pPr eaLnBrk="1" hangingPunct="1">
              <a:spcAft>
                <a:spcPct val="50000"/>
              </a:spcAft>
            </a:pPr>
            <a:endParaRPr lang="en-US" sz="1400" b="1" i="1"/>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54889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defRPr/>
              </a:pPr>
              <a:endParaRPr lang="en-US" sz="1800" smtClean="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3750">
                <a:solidFill>
                  <a:srgbClr val="FFFFFF"/>
                </a:solidFill>
              </a:defRPr>
            </a:lvl1pPr>
          </a:lstStyle>
          <a:p>
            <a:pPr lvl="0"/>
            <a:r>
              <a:rPr lang="en-US" noProof="0" smtClean="0"/>
              <a:t>Click to edit Master title style</a:t>
            </a:r>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550"/>
            </a:lvl1pPr>
          </a:lstStyle>
          <a:p>
            <a:pPr lvl="0"/>
            <a:r>
              <a:rPr lang="en-US" noProof="0" smtClean="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fld id="{477BF0A0-A918-4207-87EC-7FF3280AA743}" type="slidenum">
              <a:rPr lang="en-US"/>
              <a:pPr/>
              <a:t>‹#›</a:t>
            </a:fld>
            <a:endParaRPr lang="en-US"/>
          </a:p>
        </p:txBody>
      </p:sp>
    </p:spTree>
    <p:extLst>
      <p:ext uri="{BB962C8B-B14F-4D97-AF65-F5344CB8AC3E}">
        <p14:creationId xmlns:p14="http://schemas.microsoft.com/office/powerpoint/2010/main" val="3554596659"/>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957F6B4F-1517-4E06-9D34-2A0254A37EA2}"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145540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82E638F5-3713-4B38-B41F-4200B1243ABD}"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3323204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4BF7896F-F25B-4DF9-B766-31C3E186E1A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9562545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fld id="{4530B2A1-F9E9-46DC-A3ED-00AF5F18F06A}" type="slidenum">
              <a:rPr lang="en-US"/>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5060953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fld id="{45897356-8A93-4E72-A744-DE5D394E6DCC}" type="slidenum">
              <a:rPr lang="en-US"/>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8506485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fld id="{B4403D01-21DF-454E-931A-4E6ED8B5AF15}" type="slidenum">
              <a:rPr lang="en-US"/>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9925765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F825D0B7-9688-487B-A4B5-90F7EAF6E9A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9102249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8B7D11D6-27AD-45C0-B738-D2F3BEF6713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8919825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D9FDAD4D-CB4A-4E5D-9165-0019CA8CA9AC}"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6335447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9A220CE2-9E86-48E3-920D-6B19E9321397}"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152315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fld id="{87EF4393-F296-4065-BF42-BDBEC44B8E64}" type="slidenum">
              <a:rPr lang="en-US"/>
              <a:pPr/>
              <a:t>‹#›</a:t>
            </a:fld>
            <a:endParaRPr 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32977145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4038600" cy="3886200"/>
          </a:xfrm>
        </p:spPr>
        <p:txBody>
          <a:bodyPr/>
          <a:lstStyle/>
          <a:p>
            <a:pPr lvl="0"/>
            <a:endParaRPr lang="en-US" noProof="0" smtClean="0"/>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BE7426DF-16ED-4372-937B-44D674C6962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4859431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fld id="{CA943D48-AE23-4EFB-A263-E82B3730B84A}" type="slidenum">
              <a:rPr lang="en-US"/>
              <a:pPr/>
              <a:t>‹#›</a:t>
            </a:fld>
            <a:endParaRPr 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17079510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0" y="609600"/>
            <a:ext cx="91440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Slide Number Placeholder 2"/>
          <p:cNvSpPr>
            <a:spLocks noGrp="1"/>
          </p:cNvSpPr>
          <p:nvPr>
            <p:ph type="sldNum" sz="quarter" idx="10"/>
          </p:nvPr>
        </p:nvSpPr>
        <p:spPr>
          <a:xfrm>
            <a:off x="6553200" y="6629400"/>
            <a:ext cx="1905000" cy="457200"/>
          </a:xfrm>
        </p:spPr>
        <p:txBody>
          <a:bodyPr/>
          <a:lstStyle>
            <a:lvl1pPr>
              <a:defRPr/>
            </a:lvl1pPr>
          </a:lstStyle>
          <a:p>
            <a:r>
              <a:rPr lang="en-US"/>
              <a:t> </a:t>
            </a:r>
            <a:r>
              <a:rPr lang="en-US" b="1">
                <a:solidFill>
                  <a:srgbClr val="000066"/>
                </a:solidFill>
              </a:rPr>
              <a:t>13- </a:t>
            </a:r>
            <a:fld id="{9B62C125-DE91-4508-BEE3-7B2380CA387A}" type="slidenum">
              <a:rPr lang="en-US" b="1">
                <a:solidFill>
                  <a:srgbClr val="000066"/>
                </a:solidFill>
              </a:rPr>
              <a:pPr/>
              <a:t>‹#›</a:t>
            </a:fld>
            <a:endParaRPr lang="en-US" b="1">
              <a:solidFill>
                <a:srgbClr val="000066"/>
              </a:solidFill>
            </a:endParaRPr>
          </a:p>
        </p:txBody>
      </p:sp>
    </p:spTree>
    <p:extLst>
      <p:ext uri="{BB962C8B-B14F-4D97-AF65-F5344CB8AC3E}">
        <p14:creationId xmlns:p14="http://schemas.microsoft.com/office/powerpoint/2010/main" val="240246957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4274" name="Rectangle 2"/>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eaLnBrk="1" hangingPunct="1">
              <a:defRPr sz="900">
                <a:latin typeface="Arial" charset="0"/>
              </a:defRPr>
            </a:lvl1pPr>
          </a:lstStyle>
          <a:p>
            <a:pPr>
              <a:defRPr/>
            </a:pPr>
            <a:endParaRPr lang="en-US"/>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900">
                <a:latin typeface="Arial Black" pitchFamily="34" charset="0"/>
              </a:defRPr>
            </a:lvl1pPr>
          </a:lstStyle>
          <a:p>
            <a:fld id="{295A236E-2D81-443F-BDF8-EF3B026FFE65}" type="slidenum">
              <a:rPr lang="en-US"/>
              <a:pPr/>
              <a:t>‹#›</a:t>
            </a:fld>
            <a:endParaRPr 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defRPr/>
              </a:pPr>
              <a:endParaRPr lang="en-US" sz="1800" smtClean="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350"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4287"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sz="9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4037"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 id="2147484033" r:id="rId12"/>
    <p:sldLayoutId id="2147484034" r:id="rId13"/>
    <p:sldLayoutId id="2147484035" r:id="rId14"/>
    <p:sldLayoutId id="2147484038" r:id="rId15"/>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2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7" grpId="0" build="p">
        <p:tmplLst>
          <p:tmpl lvl="1">
            <p:tnLst>
              <p:par>
                <p:cTn presetID="1" presetClass="entr" presetSubtype="0" fill="hold" nodeType="click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Lst>
      </p:bldP>
    </p:bldLst>
  </p:timing>
  <p:hf hdr="0" ftr="0" dt="0"/>
  <p:txStyles>
    <p:titleStyle>
      <a:lvl1pPr algn="l" rtl="0" eaLnBrk="0" fontAlgn="base" hangingPunct="0">
        <a:spcBef>
          <a:spcPct val="0"/>
        </a:spcBef>
        <a:spcAft>
          <a:spcPct val="0"/>
        </a:spcAft>
        <a:defRPr sz="3300">
          <a:solidFill>
            <a:schemeClr val="tx1"/>
          </a:solidFill>
          <a:latin typeface="+mj-lt"/>
          <a:ea typeface="+mj-ea"/>
          <a:cs typeface="+mj-cs"/>
        </a:defRPr>
      </a:lvl1pPr>
      <a:lvl2pPr algn="l" rtl="0" eaLnBrk="0" fontAlgn="base" hangingPunct="0">
        <a:spcBef>
          <a:spcPct val="0"/>
        </a:spcBef>
        <a:spcAft>
          <a:spcPct val="0"/>
        </a:spcAft>
        <a:defRPr sz="3300">
          <a:solidFill>
            <a:schemeClr val="tx1"/>
          </a:solidFill>
          <a:latin typeface="Times New Roman" pitchFamily="18" charset="0"/>
        </a:defRPr>
      </a:lvl2pPr>
      <a:lvl3pPr algn="l" rtl="0" eaLnBrk="0" fontAlgn="base" hangingPunct="0">
        <a:spcBef>
          <a:spcPct val="0"/>
        </a:spcBef>
        <a:spcAft>
          <a:spcPct val="0"/>
        </a:spcAft>
        <a:defRPr sz="3300">
          <a:solidFill>
            <a:schemeClr val="tx1"/>
          </a:solidFill>
          <a:latin typeface="Times New Roman" pitchFamily="18" charset="0"/>
        </a:defRPr>
      </a:lvl3pPr>
      <a:lvl4pPr algn="l" rtl="0" eaLnBrk="0" fontAlgn="base" hangingPunct="0">
        <a:spcBef>
          <a:spcPct val="0"/>
        </a:spcBef>
        <a:spcAft>
          <a:spcPct val="0"/>
        </a:spcAft>
        <a:defRPr sz="3300">
          <a:solidFill>
            <a:schemeClr val="tx1"/>
          </a:solidFill>
          <a:latin typeface="Times New Roman" pitchFamily="18" charset="0"/>
        </a:defRPr>
      </a:lvl4pPr>
      <a:lvl5pPr algn="l" rtl="0" eaLnBrk="0" fontAlgn="base" hangingPunct="0">
        <a:spcBef>
          <a:spcPct val="0"/>
        </a:spcBef>
        <a:spcAft>
          <a:spcPct val="0"/>
        </a:spcAft>
        <a:defRPr sz="3300">
          <a:solidFill>
            <a:schemeClr val="tx1"/>
          </a:solidFill>
          <a:latin typeface="Times New Roman" pitchFamily="18" charset="0"/>
        </a:defRPr>
      </a:lvl5pPr>
      <a:lvl6pPr marL="342900" algn="l" rtl="0" fontAlgn="base">
        <a:spcBef>
          <a:spcPct val="0"/>
        </a:spcBef>
        <a:spcAft>
          <a:spcPct val="0"/>
        </a:spcAft>
        <a:defRPr sz="3300">
          <a:solidFill>
            <a:schemeClr val="tx1"/>
          </a:solidFill>
          <a:latin typeface="Arial" charset="0"/>
        </a:defRPr>
      </a:lvl6pPr>
      <a:lvl7pPr marL="685800" algn="l" rtl="0" fontAlgn="base">
        <a:spcBef>
          <a:spcPct val="0"/>
        </a:spcBef>
        <a:spcAft>
          <a:spcPct val="0"/>
        </a:spcAft>
        <a:defRPr sz="3300">
          <a:solidFill>
            <a:schemeClr val="tx1"/>
          </a:solidFill>
          <a:latin typeface="Arial" charset="0"/>
        </a:defRPr>
      </a:lvl7pPr>
      <a:lvl8pPr marL="1028700" algn="l" rtl="0" fontAlgn="base">
        <a:spcBef>
          <a:spcPct val="0"/>
        </a:spcBef>
        <a:spcAft>
          <a:spcPct val="0"/>
        </a:spcAft>
        <a:defRPr sz="3300">
          <a:solidFill>
            <a:schemeClr val="tx1"/>
          </a:solidFill>
          <a:latin typeface="Arial" charset="0"/>
        </a:defRPr>
      </a:lvl8pPr>
      <a:lvl9pPr marL="1371600" algn="l" rtl="0" fontAlgn="base">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557213" indent="-214313" algn="l" rtl="0" eaLnBrk="0" fontAlgn="base" hangingPunct="0">
        <a:spcBef>
          <a:spcPct val="20000"/>
        </a:spcBef>
        <a:spcAft>
          <a:spcPct val="0"/>
        </a:spcAft>
        <a:buClr>
          <a:schemeClr val="accent2"/>
        </a:buClr>
        <a:buSzPct val="80000"/>
        <a:buFont typeface="Wingdings" pitchFamily="2" charset="2"/>
        <a:buChar char="¨"/>
        <a:defRPr sz="2100">
          <a:solidFill>
            <a:schemeClr val="tx1"/>
          </a:solidFill>
          <a:latin typeface="+mn-lt"/>
        </a:defRPr>
      </a:lvl2pPr>
      <a:lvl3pPr marL="857250" indent="-171450" algn="l" rtl="0" eaLnBrk="0" fontAlgn="base" hangingPunct="0">
        <a:spcBef>
          <a:spcPct val="20000"/>
        </a:spcBef>
        <a:spcAft>
          <a:spcPct val="0"/>
        </a:spcAft>
        <a:buClr>
          <a:schemeClr val="bg2"/>
        </a:buClr>
        <a:buSzPct val="65000"/>
        <a:buFont typeface="Wingdings" pitchFamily="2" charset="2"/>
        <a:buChar char="n"/>
        <a:defRPr sz="1800">
          <a:solidFill>
            <a:schemeClr val="tx1"/>
          </a:solidFill>
          <a:latin typeface="+mn-lt"/>
        </a:defRPr>
      </a:lvl3pPr>
      <a:lvl4pPr marL="1200150" indent="-171450" algn="l" rtl="0" eaLnBrk="0" fontAlgn="base" hangingPunct="0">
        <a:spcBef>
          <a:spcPct val="20000"/>
        </a:spcBef>
        <a:spcAft>
          <a:spcPct val="0"/>
        </a:spcAft>
        <a:buClr>
          <a:schemeClr val="accent2"/>
        </a:buClr>
        <a:buSzPct val="70000"/>
        <a:buFont typeface="Wingdings" pitchFamily="2" charset="2"/>
        <a:buChar char="¨"/>
        <a:defRPr sz="1500">
          <a:solidFill>
            <a:schemeClr val="tx1"/>
          </a:solidFill>
          <a:latin typeface="+mn-lt"/>
        </a:defRPr>
      </a:lvl4pPr>
      <a:lvl5pPr marL="1543050" indent="-171450" algn="l" rtl="0" eaLnBrk="0" fontAlgn="base" hangingPunct="0">
        <a:spcBef>
          <a:spcPct val="20000"/>
        </a:spcBef>
        <a:spcAft>
          <a:spcPct val="0"/>
        </a:spcAft>
        <a:buClr>
          <a:schemeClr val="bg2"/>
        </a:buClr>
        <a:buFont typeface="Wingdings" pitchFamily="2" charset="2"/>
        <a:buChar char="§"/>
        <a:defRPr sz="1500">
          <a:solidFill>
            <a:schemeClr val="tx1"/>
          </a:solidFill>
          <a:latin typeface="+mn-lt"/>
        </a:defRPr>
      </a:lvl5pPr>
      <a:lvl6pPr marL="1885950" indent="-171450" algn="l" rtl="0" fontAlgn="base">
        <a:spcBef>
          <a:spcPct val="20000"/>
        </a:spcBef>
        <a:spcAft>
          <a:spcPct val="0"/>
        </a:spcAft>
        <a:buClr>
          <a:schemeClr val="bg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chemeClr val="bg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chemeClr val="bg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chemeClr val="bg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ctrTitle"/>
          </p:nvPr>
        </p:nvSpPr>
        <p:spPr>
          <a:xfrm>
            <a:off x="3314700" y="2171700"/>
            <a:ext cx="5029200" cy="1771650"/>
          </a:xfrm>
        </p:spPr>
        <p:txBody>
          <a:bodyPr/>
          <a:lstStyle/>
          <a:p>
            <a:pPr eaLnBrk="1" hangingPunct="1">
              <a:spcBef>
                <a:spcPct val="50000"/>
              </a:spcBef>
            </a:pPr>
            <a:r>
              <a:rPr lang="en-US" sz="3000" b="1" dirty="0"/>
              <a:t>Marketing </a:t>
            </a:r>
            <a:r>
              <a:rPr lang="en-US" sz="3000" b="1" dirty="0"/>
              <a:t>Plan</a:t>
            </a:r>
            <a:br>
              <a:rPr lang="en-US" sz="3000" b="1" dirty="0"/>
            </a:br>
            <a:r>
              <a:rPr lang="en-US" sz="2400" b="1" dirty="0"/>
              <a:t>(Unique </a:t>
            </a:r>
            <a:r>
              <a:rPr lang="en-US" sz="2400" b="1" dirty="0"/>
              <a:t>Marketing </a:t>
            </a:r>
            <a:r>
              <a:rPr lang="en-US" sz="2400" b="1" dirty="0"/>
              <a:t>Issues)</a:t>
            </a:r>
            <a:r>
              <a:rPr lang="en-US" sz="3000" b="1" dirty="0"/>
              <a:t/>
            </a:r>
            <a:br>
              <a:rPr lang="en-US" sz="3000" b="1" dirty="0"/>
            </a:br>
            <a:endParaRPr lang="en-US" sz="3000" b="1" dirty="0"/>
          </a:p>
        </p:txBody>
      </p:sp>
      <p:sp>
        <p:nvSpPr>
          <p:cNvPr id="5124" name="Rectangle 3"/>
          <p:cNvSpPr>
            <a:spLocks noGrp="1" noChangeArrowheads="1"/>
          </p:cNvSpPr>
          <p:nvPr>
            <p:ph type="subTitle" idx="1"/>
          </p:nvPr>
        </p:nvSpPr>
        <p:spPr>
          <a:xfrm>
            <a:off x="3257550" y="1800225"/>
            <a:ext cx="4114800" cy="685800"/>
          </a:xfrm>
        </p:spPr>
        <p:txBody>
          <a:bodyPr/>
          <a:lstStyle/>
          <a:p>
            <a:pPr eaLnBrk="1" hangingPunct="1"/>
            <a:r>
              <a:rPr lang="en-US" sz="1800" b="1" dirty="0"/>
              <a:t>Chapter 9</a:t>
            </a:r>
          </a:p>
        </p:txBody>
      </p:sp>
      <p:sp>
        <p:nvSpPr>
          <p:cNvPr id="3077" name="Text Box 4"/>
          <p:cNvSpPr txBox="1">
            <a:spLocks noChangeArrowheads="1"/>
          </p:cNvSpPr>
          <p:nvPr/>
        </p:nvSpPr>
        <p:spPr bwMode="auto">
          <a:xfrm>
            <a:off x="1314450" y="4120438"/>
            <a:ext cx="6858000" cy="1234953"/>
          </a:xfrm>
          <a:prstGeom prst="rect">
            <a:avLst/>
          </a:prstGeom>
          <a:noFill/>
          <a:ln w="9525">
            <a:noFill/>
            <a:miter lim="800000"/>
            <a:headEnd/>
            <a:tailEnd/>
          </a:ln>
          <a:effectLst/>
        </p:spPr>
        <p:txBody>
          <a:bodyPr>
            <a:spAutoFit/>
          </a:bodyPr>
          <a:lstStyle/>
          <a:p>
            <a:pPr>
              <a:spcBef>
                <a:spcPct val="50000"/>
              </a:spcBef>
              <a:defRPr/>
            </a:pPr>
            <a:r>
              <a:rPr lang="en-US" sz="1350" b="1" u="sng" dirty="0">
                <a:latin typeface="Times New Roman" pitchFamily="18" charset="0"/>
              </a:rPr>
              <a:t>References:</a:t>
            </a:r>
            <a:endParaRPr lang="en-US" sz="1350" dirty="0">
              <a:latin typeface="Times New Roman" pitchFamily="18" charset="0"/>
            </a:endParaRPr>
          </a:p>
          <a:p>
            <a:pPr>
              <a:spcBef>
                <a:spcPct val="50000"/>
              </a:spcBef>
              <a:buFontTx/>
              <a:buChar char="•"/>
              <a:defRPr/>
            </a:pPr>
            <a:r>
              <a:rPr lang="en-US" sz="1350" dirty="0">
                <a:latin typeface="+mn-lt"/>
              </a:rPr>
              <a:t>Entrepreneurship </a:t>
            </a:r>
            <a:r>
              <a:rPr lang="en-US" sz="1350" dirty="0">
                <a:latin typeface="+mn-lt"/>
              </a:rPr>
              <a:t>by </a:t>
            </a:r>
            <a:r>
              <a:rPr lang="en-US" sz="1350" dirty="0">
                <a:latin typeface="+mn-lt"/>
              </a:rPr>
              <a:t>Hisrich</a:t>
            </a:r>
          </a:p>
          <a:p>
            <a:pPr>
              <a:spcBef>
                <a:spcPct val="50000"/>
              </a:spcBef>
              <a:buFontTx/>
              <a:buChar char="•"/>
              <a:defRPr/>
            </a:pPr>
            <a:r>
              <a:rPr lang="en-US" sz="1350" dirty="0">
                <a:latin typeface="+mn-lt"/>
              </a:rPr>
              <a:t>Entrepreneurship by Bruce R. </a:t>
            </a:r>
            <a:r>
              <a:rPr lang="en-US" sz="1350" dirty="0" err="1">
                <a:latin typeface="+mn-lt"/>
              </a:rPr>
              <a:t>Barringer</a:t>
            </a:r>
            <a:endParaRPr lang="en-US" sz="1350" dirty="0">
              <a:latin typeface="+mn-lt"/>
            </a:endParaRPr>
          </a:p>
          <a:p>
            <a:pPr>
              <a:spcBef>
                <a:spcPct val="50000"/>
              </a:spcBef>
              <a:buFontTx/>
              <a:buChar char="•"/>
              <a:defRPr/>
            </a:pPr>
            <a:r>
              <a:rPr lang="en-US" sz="1350" dirty="0">
                <a:latin typeface="+mn-lt"/>
              </a:rPr>
              <a:t> Marketing Management by Philip Kotler (14th Edition</a:t>
            </a:r>
            <a:r>
              <a:rPr lang="en-US" sz="1350" dirty="0">
                <a:latin typeface="+mn-lt"/>
              </a:rPr>
              <a:t>)</a:t>
            </a:r>
            <a:endParaRPr lang="en-US" sz="1350" dirty="0">
              <a:latin typeface="+mn-lt"/>
            </a:endParaRPr>
          </a:p>
        </p:txBody>
      </p:sp>
      <p:sp>
        <p:nvSpPr>
          <p:cNvPr id="5126" name="Text Box 5"/>
          <p:cNvSpPr txBox="1">
            <a:spLocks noChangeArrowheads="1"/>
          </p:cNvSpPr>
          <p:nvPr/>
        </p:nvSpPr>
        <p:spPr bwMode="auto">
          <a:xfrm>
            <a:off x="2628900" y="5600701"/>
            <a:ext cx="53721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ctr">
              <a:spcBef>
                <a:spcPct val="50000"/>
              </a:spcBef>
            </a:pPr>
            <a:r>
              <a:rPr lang="en-US" sz="2100" b="1" i="1"/>
              <a:t>  </a:t>
            </a:r>
            <a:r>
              <a:rPr lang="en-US" sz="1500" b="1"/>
              <a:t>Resource Person</a:t>
            </a:r>
            <a:r>
              <a:rPr lang="en-US" sz="1500" b="1" i="1"/>
              <a:t>: </a:t>
            </a:r>
            <a:r>
              <a:rPr lang="en-US" sz="1800" b="1" i="1" u="sng"/>
              <a:t>Furqan-ul-haq Siddiqui</a:t>
            </a:r>
          </a:p>
        </p:txBody>
      </p:sp>
      <p:sp>
        <p:nvSpPr>
          <p:cNvPr id="2" name="Slide Number Placeholder 1"/>
          <p:cNvSpPr>
            <a:spLocks noGrp="1"/>
          </p:cNvSpPr>
          <p:nvPr>
            <p:ph type="sldNum" sz="quarter" idx="12"/>
          </p:nvPr>
        </p:nvSpPr>
        <p:spPr/>
        <p:txBody>
          <a:bodyPr/>
          <a:lstStyle/>
          <a:p>
            <a:fld id="{477BF0A0-A918-4207-87EC-7FF3280AA743}" type="slidenum">
              <a:rPr lang="en-US" smtClean="0"/>
              <a:pPr/>
              <a:t>1</a:t>
            </a:fld>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Title 116737"/>
          <p:cNvSpPr>
            <a:spLocks noGrp="1" noChangeArrowheads="1"/>
          </p:cNvSpPr>
          <p:nvPr>
            <p:ph type="title" idx="4294967295"/>
          </p:nvPr>
        </p:nvSpPr>
        <p:spPr>
          <a:xfrm>
            <a:off x="1312749" y="1200150"/>
            <a:ext cx="6341269" cy="400050"/>
          </a:xfrm>
          <a:solidFill>
            <a:schemeClr val="bg1"/>
          </a:solidFill>
        </p:spPr>
        <p:txBody>
          <a:bodyPr/>
          <a:lstStyle/>
          <a:p>
            <a:pPr algn="ctr" eaLnBrk="1" hangingPunct="1"/>
            <a:r>
              <a:rPr lang="en-US" sz="2700" b="1" dirty="0">
                <a:solidFill>
                  <a:schemeClr val="bg2"/>
                </a:solidFill>
              </a:rPr>
              <a:t>Understanding the Marketing Plan</a:t>
            </a:r>
          </a:p>
        </p:txBody>
      </p:sp>
      <p:sp>
        <p:nvSpPr>
          <p:cNvPr id="10243" name="Text Placeholder 116738"/>
          <p:cNvSpPr>
            <a:spLocks noGrp="1" noChangeArrowheads="1"/>
          </p:cNvSpPr>
          <p:nvPr>
            <p:ph type="body" idx="4294967295"/>
          </p:nvPr>
        </p:nvSpPr>
        <p:spPr>
          <a:xfrm>
            <a:off x="1167492" y="1600200"/>
            <a:ext cx="6833509" cy="4400550"/>
          </a:xfrm>
          <a:solidFill>
            <a:schemeClr val="bg1"/>
          </a:solidFill>
        </p:spPr>
        <p:txBody>
          <a:bodyPr/>
          <a:lstStyle/>
          <a:p>
            <a:pPr eaLnBrk="1" hangingPunct="1"/>
            <a:r>
              <a:rPr lang="en-US" dirty="0" smtClean="0"/>
              <a:t>Marketing plan - A written statement of marketing objectives, strategies, and activities to be followed in business plan.</a:t>
            </a:r>
          </a:p>
          <a:p>
            <a:pPr eaLnBrk="1" hangingPunct="1">
              <a:buFont typeface="Wingdings" pitchFamily="2" charset="2"/>
              <a:buChar char="Ø"/>
            </a:pPr>
            <a:r>
              <a:rPr lang="en-US" sz="1800" dirty="0"/>
              <a:t>Ask yourself these five critical questions: </a:t>
            </a:r>
            <a:endParaRPr lang="en-US" sz="1800" dirty="0"/>
          </a:p>
          <a:p>
            <a:pPr marL="342900" indent="-342900" eaLnBrk="1" hangingPunct="1">
              <a:buFont typeface="+mj-lt"/>
              <a:buAutoNum type="arabicPeriod"/>
            </a:pPr>
            <a:r>
              <a:rPr lang="en-US" sz="1500" dirty="0"/>
              <a:t>What </a:t>
            </a:r>
            <a:r>
              <a:rPr lang="en-US" sz="1500" dirty="0"/>
              <a:t>is unique about your business idea? What is the general need that your product or service aims to </a:t>
            </a:r>
            <a:r>
              <a:rPr lang="en-US" sz="1500" dirty="0"/>
              <a:t>meet?</a:t>
            </a:r>
          </a:p>
          <a:p>
            <a:pPr marL="342900" indent="-342900" eaLnBrk="1" hangingPunct="1">
              <a:buFont typeface="+mj-lt"/>
              <a:buAutoNum type="arabicPeriod"/>
            </a:pPr>
            <a:r>
              <a:rPr lang="en-US" sz="1500" dirty="0"/>
              <a:t>Who </a:t>
            </a:r>
            <a:r>
              <a:rPr lang="en-US" sz="1500" dirty="0"/>
              <a:t>is your target buyer? Who buys your product or service now, and who do you really want to sell </a:t>
            </a:r>
            <a:r>
              <a:rPr lang="en-US" sz="1500" dirty="0"/>
              <a:t>to?</a:t>
            </a:r>
          </a:p>
          <a:p>
            <a:pPr marL="342900" indent="-342900" eaLnBrk="1" hangingPunct="1">
              <a:buFont typeface="+mj-lt"/>
              <a:buAutoNum type="arabicPeriod"/>
            </a:pPr>
            <a:r>
              <a:rPr lang="en-US" sz="1500" dirty="0"/>
              <a:t>Who </a:t>
            </a:r>
            <a:r>
              <a:rPr lang="en-US" sz="1500" dirty="0"/>
              <a:t>are your competitors? How can your small business effectively compete in your chosen </a:t>
            </a:r>
            <a:r>
              <a:rPr lang="en-US" sz="1500" dirty="0"/>
              <a:t>market?</a:t>
            </a:r>
          </a:p>
          <a:p>
            <a:pPr marL="342900" indent="-342900" eaLnBrk="1" hangingPunct="1">
              <a:buFont typeface="+mj-lt"/>
              <a:buAutoNum type="arabicPeriod"/>
            </a:pPr>
            <a:r>
              <a:rPr lang="en-US" sz="1500" dirty="0"/>
              <a:t>What </a:t>
            </a:r>
            <a:r>
              <a:rPr lang="en-US" sz="1500" dirty="0"/>
              <a:t>positioning message do you want to communicate to your target buyers? How can you position your business or product to let people know about your </a:t>
            </a:r>
            <a:r>
              <a:rPr lang="en-US" sz="1500" dirty="0"/>
              <a:t>product?</a:t>
            </a:r>
          </a:p>
          <a:p>
            <a:pPr marL="342900" indent="-342900" eaLnBrk="1" hangingPunct="1">
              <a:buFont typeface="+mj-lt"/>
              <a:buAutoNum type="arabicPeriod"/>
            </a:pPr>
            <a:r>
              <a:rPr lang="en-US" sz="1500" dirty="0"/>
              <a:t>What </a:t>
            </a:r>
            <a:r>
              <a:rPr lang="en-US" sz="1500" dirty="0"/>
              <a:t>is your sales strategy? How will you get your product or service in the hands of your customers? </a:t>
            </a:r>
          </a:p>
          <a:p>
            <a:pPr eaLnBrk="1" hangingPunct="1"/>
            <a:endParaRPr lang="en-US" dirty="0" smtClean="0"/>
          </a:p>
        </p:txBody>
      </p:sp>
    </p:spTree>
    <p:extLst>
      <p:ext uri="{BB962C8B-B14F-4D97-AF65-F5344CB8AC3E}">
        <p14:creationId xmlns:p14="http://schemas.microsoft.com/office/powerpoint/2010/main" val="27263958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95400" y="1082278"/>
            <a:ext cx="6448425" cy="857250"/>
          </a:xfrm>
        </p:spPr>
        <p:txBody>
          <a:bodyPr/>
          <a:lstStyle/>
          <a:p>
            <a:pPr eaLnBrk="1" hangingPunct="1"/>
            <a:r>
              <a:rPr lang="en-US" sz="2800" b="1" dirty="0">
                <a:solidFill>
                  <a:schemeClr val="bg2"/>
                </a:solidFill>
                <a:latin typeface="Times New Roman" charset="0"/>
              </a:rPr>
              <a:t>Selecting a Market and Establishing a Position in the Market</a:t>
            </a:r>
          </a:p>
        </p:txBody>
      </p:sp>
      <p:sp>
        <p:nvSpPr>
          <p:cNvPr id="5123" name="Rectangle 3"/>
          <p:cNvSpPr>
            <a:spLocks noGrp="1" noChangeArrowheads="1"/>
          </p:cNvSpPr>
          <p:nvPr>
            <p:ph type="body" idx="1"/>
          </p:nvPr>
        </p:nvSpPr>
        <p:spPr>
          <a:xfrm>
            <a:off x="1485900" y="2114551"/>
            <a:ext cx="6172200" cy="3394472"/>
          </a:xfrm>
        </p:spPr>
        <p:txBody>
          <a:bodyPr/>
          <a:lstStyle/>
          <a:p>
            <a:pPr eaLnBrk="1" hangingPunct="1"/>
            <a:r>
              <a:rPr lang="en-US" sz="2800" b="1" dirty="0">
                <a:solidFill>
                  <a:schemeClr val="bg2"/>
                </a:solidFill>
                <a:latin typeface="Times New Roman" charset="0"/>
              </a:rPr>
              <a:t>Important Questions That All Start-ups Must Ask</a:t>
            </a:r>
          </a:p>
          <a:p>
            <a:pPr lvl="1" eaLnBrk="1" hangingPunct="1"/>
            <a:r>
              <a:rPr lang="en-US" sz="2400" dirty="0">
                <a:latin typeface="Times New Roman" charset="0"/>
              </a:rPr>
              <a:t>In order to succeed, a new firm must address this important issue: Who are our customers and how will we appeal to them?</a:t>
            </a:r>
          </a:p>
          <a:p>
            <a:pPr lvl="1" eaLnBrk="1" hangingPunct="1"/>
            <a:r>
              <a:rPr lang="en-US" sz="2400" b="1" dirty="0">
                <a:solidFill>
                  <a:schemeClr val="bg2"/>
                </a:solidFill>
                <a:latin typeface="Times New Roman" charset="0"/>
              </a:rPr>
              <a:t>A well-managed start-up approaches this query by following a three-step process: </a:t>
            </a:r>
          </a:p>
          <a:p>
            <a:pPr lvl="2" eaLnBrk="1" hangingPunct="1"/>
            <a:r>
              <a:rPr lang="en-US" dirty="0">
                <a:latin typeface="Times New Roman" charset="0"/>
              </a:rPr>
              <a:t>Segmenting the market</a:t>
            </a:r>
          </a:p>
          <a:p>
            <a:pPr lvl="2" eaLnBrk="1" hangingPunct="1"/>
            <a:r>
              <a:rPr lang="en-US" dirty="0">
                <a:latin typeface="Times New Roman" charset="0"/>
              </a:rPr>
              <a:t>Selecting a target market</a:t>
            </a:r>
          </a:p>
          <a:p>
            <a:pPr lvl="2" eaLnBrk="1" hangingPunct="1"/>
            <a:r>
              <a:rPr lang="en-US" dirty="0">
                <a:latin typeface="Times New Roman" charset="0"/>
              </a:rPr>
              <a:t>Establishing a unique position</a:t>
            </a:r>
          </a:p>
        </p:txBody>
      </p:sp>
      <p:sp>
        <p:nvSpPr>
          <p:cNvPr id="5124" name="Line 4"/>
          <p:cNvSpPr>
            <a:spLocks noChangeShapeType="1"/>
          </p:cNvSpPr>
          <p:nvPr/>
        </p:nvSpPr>
        <p:spPr bwMode="auto">
          <a:xfrm>
            <a:off x="1143000" y="194310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spTree>
    <p:extLst>
      <p:ext uri="{BB962C8B-B14F-4D97-AF65-F5344CB8AC3E}">
        <p14:creationId xmlns:p14="http://schemas.microsoft.com/office/powerpoint/2010/main" val="260410790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485900" y="1121569"/>
            <a:ext cx="6172200" cy="857250"/>
          </a:xfrm>
        </p:spPr>
        <p:txBody>
          <a:bodyPr/>
          <a:lstStyle/>
          <a:p>
            <a:pPr eaLnBrk="1" hangingPunct="1"/>
            <a:r>
              <a:rPr lang="en-US" sz="2700" b="1" dirty="0">
                <a:solidFill>
                  <a:schemeClr val="bg2"/>
                </a:solidFill>
                <a:latin typeface="Times New Roman" charset="0"/>
              </a:rPr>
              <a:t>The Process of Selecting a Target Market and Positioning Strategy</a:t>
            </a:r>
          </a:p>
        </p:txBody>
      </p:sp>
      <p:sp>
        <p:nvSpPr>
          <p:cNvPr id="6147" name="Line 4"/>
          <p:cNvSpPr>
            <a:spLocks noChangeShapeType="1"/>
          </p:cNvSpPr>
          <p:nvPr/>
        </p:nvSpPr>
        <p:spPr bwMode="auto">
          <a:xfrm>
            <a:off x="1143000" y="20002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pic>
        <p:nvPicPr>
          <p:cNvPr id="614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636" y="2396728"/>
            <a:ext cx="6449615" cy="3470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931921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533400" y="1657350"/>
            <a:ext cx="7353300" cy="4343400"/>
          </a:xfrm>
        </p:spPr>
        <p:txBody>
          <a:bodyPr/>
          <a:lstStyle/>
          <a:p>
            <a:pPr>
              <a:lnSpc>
                <a:spcPct val="80000"/>
              </a:lnSpc>
            </a:pPr>
            <a:r>
              <a:rPr lang="en-US" b="1" dirty="0">
                <a:solidFill>
                  <a:schemeClr val="bg2"/>
                </a:solidFill>
                <a:latin typeface="Times New Roman" pitchFamily="18" charset="0"/>
              </a:rPr>
              <a:t>Geographic Segmentation-</a:t>
            </a:r>
            <a:r>
              <a:rPr lang="en-US" dirty="0">
                <a:latin typeface="Times New Roman" pitchFamily="18" charset="0"/>
              </a:rPr>
              <a:t> Dividing a market into different geographical units such as nation, province, regions, countries or cities.</a:t>
            </a:r>
          </a:p>
          <a:p>
            <a:pPr>
              <a:lnSpc>
                <a:spcPct val="80000"/>
              </a:lnSpc>
            </a:pPr>
            <a:r>
              <a:rPr lang="en-US" b="1" dirty="0">
                <a:solidFill>
                  <a:schemeClr val="bg2"/>
                </a:solidFill>
                <a:latin typeface="Times New Roman" pitchFamily="18" charset="0"/>
              </a:rPr>
              <a:t>Demographic Segmentation-</a:t>
            </a:r>
            <a:r>
              <a:rPr lang="en-US" dirty="0">
                <a:latin typeface="Times New Roman" pitchFamily="18" charset="0"/>
              </a:rPr>
              <a:t> Dividing the market into groups based on demographic variables such as age, gender, family size, family life cycle, income occupation, education, religion &amp; race.</a:t>
            </a:r>
          </a:p>
          <a:p>
            <a:pPr>
              <a:lnSpc>
                <a:spcPct val="110000"/>
              </a:lnSpc>
            </a:pPr>
            <a:r>
              <a:rPr lang="en-US" b="1" dirty="0">
                <a:solidFill>
                  <a:schemeClr val="bg2"/>
                </a:solidFill>
                <a:latin typeface="Times New Roman" pitchFamily="18" charset="0"/>
              </a:rPr>
              <a:t>Psychographic Segmentation-</a:t>
            </a:r>
            <a:r>
              <a:rPr lang="en-US" dirty="0">
                <a:latin typeface="Times New Roman" pitchFamily="18" charset="0"/>
              </a:rPr>
              <a:t> Dividing a market into different psychological/personality traits, life styles, values etc.</a:t>
            </a:r>
          </a:p>
          <a:p>
            <a:pPr>
              <a:lnSpc>
                <a:spcPct val="80000"/>
              </a:lnSpc>
            </a:pPr>
            <a:r>
              <a:rPr lang="en-US" b="1" dirty="0">
                <a:solidFill>
                  <a:schemeClr val="bg2"/>
                </a:solidFill>
                <a:latin typeface="Times New Roman" pitchFamily="18" charset="0"/>
              </a:rPr>
              <a:t>Behavioral Segmentation-</a:t>
            </a:r>
            <a:r>
              <a:rPr lang="en-US" dirty="0">
                <a:latin typeface="Times New Roman" pitchFamily="18" charset="0"/>
              </a:rPr>
              <a:t> Dividing a market into groups based on consumer knowledge, attitude etc. includes occasion of purchasing, use rate, loyalty with product &amp; responses</a:t>
            </a:r>
            <a:r>
              <a:rPr lang="en-US" dirty="0"/>
              <a:t>.</a:t>
            </a:r>
            <a:endParaRPr lang="en-US" sz="1400" dirty="0"/>
          </a:p>
        </p:txBody>
      </p:sp>
      <p:sp>
        <p:nvSpPr>
          <p:cNvPr id="23556" name="Rectangle 4"/>
          <p:cNvSpPr>
            <a:spLocks noGrp="1" noChangeArrowheads="1"/>
          </p:cNvSpPr>
          <p:nvPr>
            <p:ph type="title"/>
          </p:nvPr>
        </p:nvSpPr>
        <p:spPr>
          <a:xfrm>
            <a:off x="914400" y="914400"/>
            <a:ext cx="6743700" cy="457200"/>
          </a:xfrm>
          <a:solidFill>
            <a:schemeClr val="bg1"/>
          </a:solidFill>
          <a:ln/>
          <a:effectLst>
            <a:outerShdw dist="107763" dir="2700000" algn="ctr" rotWithShape="0">
              <a:srgbClr val="00279F"/>
            </a:outerShdw>
          </a:effectLst>
          <a:extLst>
            <a:ext uri="{91240B29-F687-4F45-9708-019B960494DF}">
              <a14:hiddenLine xmlns:a14="http://schemas.microsoft.com/office/drawing/2010/main" w="12700">
                <a:solidFill>
                  <a:schemeClr val="tx1"/>
                </a:solidFill>
                <a:miter lim="800000"/>
                <a:headEnd/>
                <a:tailEnd/>
              </a14:hiddenLine>
            </a:ext>
          </a:extLst>
        </p:spPr>
        <p:txBody>
          <a:bodyPr/>
          <a:lstStyle/>
          <a:p>
            <a:pPr algn="ctr"/>
            <a:r>
              <a:rPr lang="en-US" sz="2400" b="1" dirty="0">
                <a:solidFill>
                  <a:schemeClr val="bg2"/>
                </a:solidFill>
              </a:rPr>
              <a:t>Bases for Segmenting </a:t>
            </a:r>
            <a:r>
              <a:rPr lang="en-US" sz="2400" b="1" dirty="0">
                <a:solidFill>
                  <a:schemeClr val="bg2"/>
                </a:solidFill>
              </a:rPr>
              <a:t>Markets</a:t>
            </a:r>
            <a:endParaRPr lang="en-US" sz="2400" b="1" dirty="0">
              <a:solidFill>
                <a:schemeClr val="bg2"/>
              </a:solidFill>
            </a:endParaRPr>
          </a:p>
        </p:txBody>
      </p:sp>
    </p:spTree>
    <p:extLst>
      <p:ext uri="{BB962C8B-B14F-4D97-AF65-F5344CB8AC3E}">
        <p14:creationId xmlns:p14="http://schemas.microsoft.com/office/powerpoint/2010/main" val="198055670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lucythebusybee.files.wordpress.com/2013/10/perceptual-map.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0200" y="2035761"/>
            <a:ext cx="3453493" cy="345349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85800" y="800355"/>
            <a:ext cx="6172200" cy="846365"/>
          </a:xfrm>
        </p:spPr>
        <p:txBody>
          <a:bodyPr/>
          <a:lstStyle/>
          <a:p>
            <a:pPr algn="ctr"/>
            <a:r>
              <a:rPr lang="en-US" b="1" dirty="0">
                <a:solidFill>
                  <a:schemeClr val="bg2"/>
                </a:solidFill>
                <a:latin typeface="Times New Roman" charset="0"/>
              </a:rPr>
              <a:t>Establishing a Unique Position</a:t>
            </a:r>
            <a:endParaRPr lang="en-US" b="1" dirty="0">
              <a:solidFill>
                <a:schemeClr val="bg2"/>
              </a:solidFill>
              <a:latin typeface="+mn-lt"/>
            </a:endParaRPr>
          </a:p>
        </p:txBody>
      </p:sp>
      <p:sp>
        <p:nvSpPr>
          <p:cNvPr id="3" name="Slide Number Placeholder 2"/>
          <p:cNvSpPr>
            <a:spLocks noGrp="1"/>
          </p:cNvSpPr>
          <p:nvPr>
            <p:ph type="sldNum" sz="quarter" idx="11"/>
          </p:nvPr>
        </p:nvSpPr>
        <p:spPr/>
        <p:txBody>
          <a:bodyPr/>
          <a:lstStyle/>
          <a:p>
            <a:fld id="{45897356-8A93-4E72-A744-DE5D394E6DCC}" type="slidenum">
              <a:rPr lang="en-US" smtClean="0"/>
              <a:pPr/>
              <a:t>6</a:t>
            </a:fld>
            <a:endParaRPr lang="en-US"/>
          </a:p>
        </p:txBody>
      </p:sp>
      <p:sp>
        <p:nvSpPr>
          <p:cNvPr id="4" name="Rectangle 3"/>
          <p:cNvSpPr/>
          <p:nvPr/>
        </p:nvSpPr>
        <p:spPr>
          <a:xfrm>
            <a:off x="304800" y="1600201"/>
            <a:ext cx="4953000" cy="4278094"/>
          </a:xfrm>
          <a:prstGeom prst="rect">
            <a:avLst/>
          </a:prstGeom>
        </p:spPr>
        <p:txBody>
          <a:bodyPr wrap="square">
            <a:spAutoFit/>
          </a:bodyPr>
          <a:lstStyle/>
          <a:p>
            <a:pPr marL="342900" indent="-342900">
              <a:buFont typeface="Wingdings" panose="05000000000000000000" pitchFamily="2" charset="2"/>
              <a:buChar char="q"/>
            </a:pPr>
            <a:r>
              <a:rPr lang="en-US" sz="2400" dirty="0">
                <a:latin typeface="+mn-lt"/>
              </a:rPr>
              <a:t> </a:t>
            </a:r>
            <a:r>
              <a:rPr lang="en-US" sz="2400" dirty="0">
                <a:latin typeface="+mn-lt"/>
              </a:rPr>
              <a:t>A </a:t>
            </a:r>
            <a:r>
              <a:rPr lang="en-US" sz="2400" dirty="0">
                <a:latin typeface="+mn-lt"/>
              </a:rPr>
              <a:t>helpful technique is to develop a product attribute map, </a:t>
            </a:r>
            <a:r>
              <a:rPr lang="en-US" sz="2400" dirty="0">
                <a:latin typeface="+mn-lt"/>
              </a:rPr>
              <a:t>which illustrates </a:t>
            </a:r>
            <a:r>
              <a:rPr lang="en-US" sz="2400" dirty="0">
                <a:latin typeface="+mn-lt"/>
              </a:rPr>
              <a:t>a firm’s positioning strategy relative to its major rivals.</a:t>
            </a:r>
          </a:p>
          <a:p>
            <a:pPr marL="342900" indent="-342900">
              <a:buFont typeface="Wingdings" panose="05000000000000000000" pitchFamily="2" charset="2"/>
              <a:buChar char="q"/>
            </a:pPr>
            <a:r>
              <a:rPr lang="en-US" sz="2400" dirty="0">
                <a:latin typeface="+mn-lt"/>
              </a:rPr>
              <a:t>The </a:t>
            </a:r>
            <a:r>
              <a:rPr lang="en-US" sz="3200" dirty="0">
                <a:latin typeface="+mn-lt"/>
              </a:rPr>
              <a:t>way</a:t>
            </a:r>
            <a:r>
              <a:rPr lang="en-US" sz="2400" dirty="0">
                <a:latin typeface="+mn-lt"/>
              </a:rPr>
              <a:t> by which the marketers attempt to create a distinct impression in the customer's </a:t>
            </a:r>
            <a:r>
              <a:rPr lang="en-US" sz="2400" dirty="0">
                <a:latin typeface="+mn-lt"/>
              </a:rPr>
              <a:t>mind.</a:t>
            </a:r>
          </a:p>
          <a:p>
            <a:pPr marL="342900" indent="-342900">
              <a:buFont typeface="Wingdings" panose="05000000000000000000" pitchFamily="2" charset="2"/>
              <a:buChar char="q"/>
            </a:pPr>
            <a:r>
              <a:rPr lang="en-US" sz="2400" dirty="0">
                <a:latin typeface="+mn-lt"/>
              </a:rPr>
              <a:t>The positioning concepts focus on the rational or emotional benefits that buyer will receive or feel by using the product/service</a:t>
            </a:r>
            <a:r>
              <a:rPr lang="en-US" sz="2400" dirty="0">
                <a:latin typeface="+mn-lt"/>
              </a:rPr>
              <a:t>.</a:t>
            </a:r>
            <a:endParaRPr lang="en-US" sz="2400" dirty="0">
              <a:solidFill>
                <a:srgbClr val="000000"/>
              </a:solidFill>
              <a:latin typeface="+mn-lt"/>
            </a:endParaRPr>
          </a:p>
        </p:txBody>
      </p:sp>
    </p:spTree>
    <p:extLst>
      <p:ext uri="{BB962C8B-B14F-4D97-AF65-F5344CB8AC3E}">
        <p14:creationId xmlns:p14="http://schemas.microsoft.com/office/powerpoint/2010/main" val="85340570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485900" y="971550"/>
            <a:ext cx="6172200" cy="857250"/>
          </a:xfrm>
        </p:spPr>
        <p:txBody>
          <a:bodyPr/>
          <a:lstStyle/>
          <a:p>
            <a:pPr eaLnBrk="1" hangingPunct="1"/>
            <a:r>
              <a:rPr lang="en-US" sz="2700" b="1" dirty="0">
                <a:solidFill>
                  <a:schemeClr val="bg2"/>
                </a:solidFill>
                <a:latin typeface="Times New Roman" charset="0"/>
              </a:rPr>
              <a:t>Establishing a Unique Position</a:t>
            </a:r>
          </a:p>
        </p:txBody>
      </p:sp>
      <p:sp>
        <p:nvSpPr>
          <p:cNvPr id="11267" name="Rectangle 3"/>
          <p:cNvSpPr>
            <a:spLocks noGrp="1" noChangeArrowheads="1"/>
          </p:cNvSpPr>
          <p:nvPr>
            <p:ph type="body" idx="1"/>
          </p:nvPr>
        </p:nvSpPr>
        <p:spPr>
          <a:xfrm>
            <a:off x="304800" y="2057400"/>
            <a:ext cx="8229600" cy="3200400"/>
          </a:xfrm>
        </p:spPr>
        <p:txBody>
          <a:bodyPr/>
          <a:lstStyle/>
          <a:p>
            <a:pPr eaLnBrk="1" hangingPunct="1"/>
            <a:r>
              <a:rPr lang="en-US" sz="3200" b="1" dirty="0" smtClean="0">
                <a:solidFill>
                  <a:schemeClr val="bg2"/>
                </a:solidFill>
                <a:latin typeface="Times New Roman" charset="0"/>
              </a:rPr>
              <a:t>Positioning (continued)</a:t>
            </a:r>
          </a:p>
          <a:p>
            <a:pPr lvl="1" eaLnBrk="1" hangingPunct="1"/>
            <a:r>
              <a:rPr lang="en-US" sz="2800" dirty="0" smtClean="0">
                <a:latin typeface="Times New Roman" charset="0"/>
              </a:rPr>
              <a:t>Firms often develop a “tagline” to reinforce the position they have staked out in their market, or a phrase that is used consistently in a company’s literature and thus becomes associated with the company.</a:t>
            </a:r>
          </a:p>
          <a:p>
            <a:pPr lvl="1" eaLnBrk="1" hangingPunct="1"/>
            <a:r>
              <a:rPr lang="en-US" sz="2800" dirty="0" smtClean="0">
                <a:latin typeface="Times New Roman" charset="0"/>
              </a:rPr>
              <a:t>An example is Nike’s familiar tagline, “Just do it.”</a:t>
            </a:r>
          </a:p>
          <a:p>
            <a:pPr lvl="2" eaLnBrk="1" hangingPunct="1"/>
            <a:r>
              <a:rPr lang="en-US" sz="2400" dirty="0" smtClean="0">
                <a:latin typeface="Times New Roman" charset="0"/>
              </a:rPr>
              <a:t>The beauty of this simple three-word expression is that it applies equally to a 21-year-old triathlete and a 65-year-old mall walker.</a:t>
            </a:r>
          </a:p>
          <a:p>
            <a:pPr lvl="2" eaLnBrk="1" hangingPunct="1">
              <a:buFontTx/>
              <a:buNone/>
            </a:pPr>
            <a:endParaRPr lang="en-US" sz="2400" dirty="0" smtClean="0">
              <a:latin typeface="Times New Roman" charset="0"/>
            </a:endParaRPr>
          </a:p>
        </p:txBody>
      </p:sp>
      <p:sp>
        <p:nvSpPr>
          <p:cNvPr id="11268" name="Line 4"/>
          <p:cNvSpPr>
            <a:spLocks noChangeShapeType="1"/>
          </p:cNvSpPr>
          <p:nvPr/>
        </p:nvSpPr>
        <p:spPr bwMode="auto">
          <a:xfrm>
            <a:off x="1143000" y="17716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spTree>
    <p:extLst>
      <p:ext uri="{BB962C8B-B14F-4D97-AF65-F5344CB8AC3E}">
        <p14:creationId xmlns:p14="http://schemas.microsoft.com/office/powerpoint/2010/main" val="813536934"/>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371600" y="857250"/>
            <a:ext cx="6400800" cy="857250"/>
          </a:xfrm>
        </p:spPr>
        <p:txBody>
          <a:bodyPr/>
          <a:lstStyle/>
          <a:p>
            <a:pPr eaLnBrk="1" hangingPunct="1"/>
            <a:r>
              <a:rPr lang="en-US" sz="2400" b="1" dirty="0">
                <a:solidFill>
                  <a:schemeClr val="bg2"/>
                </a:solidFill>
                <a:latin typeface="Times New Roman" charset="0"/>
              </a:rPr>
              <a:t>The Four Ps of Marketing for New Ventures</a:t>
            </a:r>
          </a:p>
        </p:txBody>
      </p:sp>
      <p:sp>
        <p:nvSpPr>
          <p:cNvPr id="17411" name="Line 4"/>
          <p:cNvSpPr>
            <a:spLocks noChangeShapeType="1"/>
          </p:cNvSpPr>
          <p:nvPr/>
        </p:nvSpPr>
        <p:spPr bwMode="auto">
          <a:xfrm>
            <a:off x="1143000" y="15430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1563251"/>
            <a:ext cx="4092819" cy="443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43000" y="1771650"/>
            <a:ext cx="2571750" cy="4524315"/>
          </a:xfrm>
          <a:prstGeom prst="rect">
            <a:avLst/>
          </a:prstGeom>
        </p:spPr>
        <p:txBody>
          <a:bodyPr wrap="square">
            <a:spAutoFit/>
          </a:bodyPr>
          <a:lstStyle/>
          <a:p>
            <a:r>
              <a:rPr lang="en-US" sz="2400" dirty="0">
                <a:latin typeface="Times New Roman" panose="02020603050405020304" pitchFamily="18" charset="0"/>
              </a:rPr>
              <a:t>Set of marketing </a:t>
            </a:r>
          </a:p>
          <a:p>
            <a:r>
              <a:rPr lang="en-US" sz="2400" dirty="0">
                <a:latin typeface="Times New Roman" panose="02020603050405020304" pitchFamily="18" charset="0"/>
              </a:rPr>
              <a:t>tools used by a </a:t>
            </a:r>
          </a:p>
          <a:p>
            <a:r>
              <a:rPr lang="en-US" sz="2400" dirty="0">
                <a:latin typeface="Times New Roman" panose="02020603050405020304" pitchFamily="18" charset="0"/>
              </a:rPr>
              <a:t>firm to pursue its marketing objectives in a target market.</a:t>
            </a:r>
          </a:p>
          <a:p>
            <a:pPr algn="ctr"/>
            <a:r>
              <a:rPr lang="en-US" sz="2400" u="sng" dirty="0">
                <a:latin typeface="Times New Roman" panose="02020603050405020304" pitchFamily="18" charset="0"/>
              </a:rPr>
              <a:t>Or</a:t>
            </a:r>
          </a:p>
          <a:p>
            <a:r>
              <a:rPr lang="en-US" sz="2400" dirty="0">
                <a:latin typeface="Times New Roman" panose="02020603050405020304" pitchFamily="18" charset="0"/>
              </a:rPr>
              <a:t>Combination of a number of policies</a:t>
            </a:r>
          </a:p>
          <a:p>
            <a:r>
              <a:rPr lang="en-US" sz="2400" dirty="0">
                <a:latin typeface="Times New Roman" panose="02020603050405020304" pitchFamily="18" charset="0"/>
              </a:rPr>
              <a:t> to realize profit through customer satisfaction.</a:t>
            </a:r>
          </a:p>
        </p:txBody>
      </p:sp>
    </p:spTree>
    <p:extLst>
      <p:ext uri="{BB962C8B-B14F-4D97-AF65-F5344CB8AC3E}">
        <p14:creationId xmlns:p14="http://schemas.microsoft.com/office/powerpoint/2010/main" val="8537848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71650" y="971550"/>
            <a:ext cx="5657850" cy="857250"/>
          </a:xfrm>
        </p:spPr>
        <p:txBody>
          <a:bodyPr/>
          <a:lstStyle/>
          <a:p>
            <a:pPr algn="ctr"/>
            <a:r>
              <a:rPr lang="en-US" sz="3000" b="1">
                <a:solidFill>
                  <a:schemeClr val="bg2"/>
                </a:solidFill>
                <a:latin typeface="Times New Roman" pitchFamily="18" charset="0"/>
                <a:cs typeface="Arial" charset="0"/>
              </a:rPr>
              <a:t>Marketing Mix Variables</a:t>
            </a:r>
          </a:p>
        </p:txBody>
      </p:sp>
      <p:sp>
        <p:nvSpPr>
          <p:cNvPr id="9219" name="Text Box 3"/>
          <p:cNvSpPr txBox="1">
            <a:spLocks noChangeArrowheads="1"/>
          </p:cNvSpPr>
          <p:nvPr/>
        </p:nvSpPr>
        <p:spPr bwMode="blackWhite">
          <a:xfrm>
            <a:off x="1771650" y="1828800"/>
            <a:ext cx="1828800" cy="9144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lnSpc>
                <a:spcPct val="100000"/>
              </a:lnSpc>
              <a:spcBef>
                <a:spcPct val="50000"/>
              </a:spcBef>
              <a:buSzPct val="155000"/>
            </a:pPr>
            <a:r>
              <a:rPr lang="en-US" sz="2400" b="1" dirty="0">
                <a:effectLst>
                  <a:outerShdw blurRad="38100" dist="38100" dir="2700000" algn="tl">
                    <a:srgbClr val="FFFFFF"/>
                  </a:outerShdw>
                </a:effectLst>
                <a:cs typeface="Arial" charset="0"/>
              </a:rPr>
              <a:t>Product</a:t>
            </a:r>
          </a:p>
        </p:txBody>
      </p:sp>
      <p:sp>
        <p:nvSpPr>
          <p:cNvPr id="9220" name="Text Box 4"/>
          <p:cNvSpPr txBox="1">
            <a:spLocks noChangeArrowheads="1"/>
          </p:cNvSpPr>
          <p:nvPr/>
        </p:nvSpPr>
        <p:spPr bwMode="blackWhite">
          <a:xfrm>
            <a:off x="1771650" y="3771900"/>
            <a:ext cx="1828800" cy="8001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lnSpc>
                <a:spcPct val="100000"/>
              </a:lnSpc>
              <a:spcBef>
                <a:spcPct val="50000"/>
              </a:spcBef>
              <a:buClrTx/>
              <a:buSzTx/>
              <a:buFontTx/>
              <a:buNone/>
            </a:pPr>
            <a:r>
              <a:rPr lang="en-US" sz="2400" b="1">
                <a:effectLst>
                  <a:outerShdw blurRad="38100" dist="38100" dir="2700000" algn="tl">
                    <a:srgbClr val="FFFFFF"/>
                  </a:outerShdw>
                </a:effectLst>
                <a:cs typeface="Arial" charset="0"/>
              </a:rPr>
              <a:t>Place</a:t>
            </a:r>
          </a:p>
        </p:txBody>
      </p:sp>
      <p:sp>
        <p:nvSpPr>
          <p:cNvPr id="9221" name="Text Box 5"/>
          <p:cNvSpPr txBox="1">
            <a:spLocks noChangeArrowheads="1"/>
          </p:cNvSpPr>
          <p:nvPr/>
        </p:nvSpPr>
        <p:spPr bwMode="blackWhite">
          <a:xfrm>
            <a:off x="1771650" y="4735116"/>
            <a:ext cx="1828800" cy="808434"/>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lnSpc>
                <a:spcPct val="100000"/>
              </a:lnSpc>
              <a:spcBef>
                <a:spcPct val="50000"/>
              </a:spcBef>
              <a:buClrTx/>
              <a:buSzTx/>
              <a:buFontTx/>
              <a:buNone/>
            </a:pPr>
            <a:r>
              <a:rPr lang="en-US" sz="2400" b="1">
                <a:effectLst>
                  <a:outerShdw blurRad="38100" dist="38100" dir="2700000" algn="tl">
                    <a:srgbClr val="FFFFFF"/>
                  </a:outerShdw>
                </a:effectLst>
                <a:cs typeface="Arial" charset="0"/>
              </a:rPr>
              <a:t>Promotion</a:t>
            </a:r>
          </a:p>
        </p:txBody>
      </p:sp>
      <p:sp>
        <p:nvSpPr>
          <p:cNvPr id="9222" name="Text Box 6"/>
          <p:cNvSpPr txBox="1">
            <a:spLocks noChangeArrowheads="1"/>
          </p:cNvSpPr>
          <p:nvPr/>
        </p:nvSpPr>
        <p:spPr bwMode="blackWhite">
          <a:xfrm>
            <a:off x="1771650" y="2857500"/>
            <a:ext cx="1828800" cy="8001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lnSpc>
                <a:spcPct val="100000"/>
              </a:lnSpc>
              <a:spcBef>
                <a:spcPct val="50000"/>
              </a:spcBef>
              <a:buClrTx/>
              <a:buSzTx/>
              <a:buFontTx/>
              <a:buNone/>
            </a:pPr>
            <a:r>
              <a:rPr lang="en-US" sz="2400" b="1">
                <a:effectLst>
                  <a:outerShdw blurRad="38100" dist="38100" dir="2700000" algn="tl">
                    <a:srgbClr val="FFFFFF"/>
                  </a:outerShdw>
                </a:effectLst>
                <a:cs typeface="Arial" charset="0"/>
              </a:rPr>
              <a:t>Pricing</a:t>
            </a:r>
          </a:p>
        </p:txBody>
      </p:sp>
      <p:sp>
        <p:nvSpPr>
          <p:cNvPr id="9223" name="Text Box 7"/>
          <p:cNvSpPr txBox="1">
            <a:spLocks noChangeArrowheads="1"/>
          </p:cNvSpPr>
          <p:nvPr/>
        </p:nvSpPr>
        <p:spPr bwMode="blackWhite">
          <a:xfrm>
            <a:off x="3600450" y="1828800"/>
            <a:ext cx="4057650" cy="9144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spcBef>
                <a:spcPct val="50000"/>
              </a:spcBef>
              <a:buClrTx/>
              <a:buSzTx/>
              <a:buFontTx/>
              <a:buNone/>
            </a:pPr>
            <a:r>
              <a:rPr lang="en-US" sz="2000" b="1">
                <a:cs typeface="Arial" charset="0"/>
              </a:rPr>
              <a:t>Producing goods, services, or any that offering that satisfy customer needs</a:t>
            </a:r>
          </a:p>
        </p:txBody>
      </p:sp>
      <p:sp>
        <p:nvSpPr>
          <p:cNvPr id="9224" name="Text Box 8"/>
          <p:cNvSpPr txBox="1">
            <a:spLocks noChangeArrowheads="1"/>
          </p:cNvSpPr>
          <p:nvPr/>
        </p:nvSpPr>
        <p:spPr bwMode="blackWhite">
          <a:xfrm>
            <a:off x="3600450" y="3769519"/>
            <a:ext cx="4057650" cy="8001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spcBef>
                <a:spcPct val="50000"/>
              </a:spcBef>
              <a:buClrTx/>
              <a:buSzTx/>
              <a:buFontTx/>
              <a:buNone/>
            </a:pPr>
            <a:r>
              <a:rPr lang="en-US" sz="1800" b="1">
                <a:cs typeface="Arial" charset="0"/>
              </a:rPr>
              <a:t>The ready, convenient, and timely availability of products</a:t>
            </a:r>
          </a:p>
        </p:txBody>
      </p:sp>
      <p:sp>
        <p:nvSpPr>
          <p:cNvPr id="9225" name="Text Box 9"/>
          <p:cNvSpPr txBox="1">
            <a:spLocks noChangeArrowheads="1"/>
          </p:cNvSpPr>
          <p:nvPr/>
        </p:nvSpPr>
        <p:spPr bwMode="blackWhite">
          <a:xfrm>
            <a:off x="3600450" y="4738688"/>
            <a:ext cx="4057650" cy="8001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spcBef>
                <a:spcPct val="50000"/>
              </a:spcBef>
              <a:buClrTx/>
              <a:buSzTx/>
              <a:buFontTx/>
              <a:buNone/>
            </a:pPr>
            <a:r>
              <a:rPr lang="en-US" sz="1800" b="1">
                <a:cs typeface="Arial" charset="0"/>
              </a:rPr>
              <a:t>Activities that inform customers about the organization and its products</a:t>
            </a:r>
          </a:p>
        </p:txBody>
      </p:sp>
      <p:sp>
        <p:nvSpPr>
          <p:cNvPr id="9226" name="Text Box 10"/>
          <p:cNvSpPr txBox="1">
            <a:spLocks noChangeArrowheads="1"/>
          </p:cNvSpPr>
          <p:nvPr/>
        </p:nvSpPr>
        <p:spPr bwMode="blackWhite">
          <a:xfrm>
            <a:off x="3600450" y="2857500"/>
            <a:ext cx="4057650" cy="800100"/>
          </a:xfrm>
          <a:prstGeom prst="rect">
            <a:avLst/>
          </a:prstGeom>
          <a:solidFill>
            <a:schemeClr val="folHlink"/>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spcBef>
                <a:spcPct val="50000"/>
              </a:spcBef>
              <a:buClrTx/>
              <a:buSzTx/>
              <a:buFontTx/>
              <a:buNone/>
            </a:pPr>
            <a:r>
              <a:rPr lang="en-US" sz="1800" b="1" dirty="0">
                <a:cs typeface="Arial" charset="0"/>
              </a:rPr>
              <a:t>Decisions and actions to establish pricing objectives and policies and set product prices</a:t>
            </a:r>
          </a:p>
        </p:txBody>
      </p:sp>
    </p:spTree>
    <p:extLst>
      <p:ext uri="{BB962C8B-B14F-4D97-AF65-F5344CB8AC3E}">
        <p14:creationId xmlns:p14="http://schemas.microsoft.com/office/powerpoint/2010/main" val="26969971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 calcmode="lin" valueType="num">
                                      <p:cBhvr additive="base">
                                        <p:cTn id="7" dur="500" fill="hold"/>
                                        <p:tgtEl>
                                          <p:spTgt spid="9219"/>
                                        </p:tgtEl>
                                        <p:attrNameLst>
                                          <p:attrName>ppt_x</p:attrName>
                                        </p:attrNameLst>
                                      </p:cBhvr>
                                      <p:tavLst>
                                        <p:tav tm="0">
                                          <p:val>
                                            <p:strVal val="#ppt_x"/>
                                          </p:val>
                                        </p:tav>
                                        <p:tav tm="100000">
                                          <p:val>
                                            <p:strVal val="#ppt_x"/>
                                          </p:val>
                                        </p:tav>
                                      </p:tavLst>
                                    </p:anim>
                                    <p:anim calcmode="lin" valueType="num">
                                      <p:cBhvr additive="base">
                                        <p:cTn id="8" dur="500" fill="hold"/>
                                        <p:tgtEl>
                                          <p:spTgt spid="92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23"/>
                                        </p:tgtEl>
                                        <p:attrNameLst>
                                          <p:attrName>style.visibility</p:attrName>
                                        </p:attrNameLst>
                                      </p:cBhvr>
                                      <p:to>
                                        <p:strVal val="visible"/>
                                      </p:to>
                                    </p:set>
                                    <p:anim calcmode="lin" valueType="num">
                                      <p:cBhvr additive="base">
                                        <p:cTn id="11" dur="500" fill="hold"/>
                                        <p:tgtEl>
                                          <p:spTgt spid="9223"/>
                                        </p:tgtEl>
                                        <p:attrNameLst>
                                          <p:attrName>ppt_x</p:attrName>
                                        </p:attrNameLst>
                                      </p:cBhvr>
                                      <p:tavLst>
                                        <p:tav tm="0">
                                          <p:val>
                                            <p:strVal val="#ppt_x"/>
                                          </p:val>
                                        </p:tav>
                                        <p:tav tm="100000">
                                          <p:val>
                                            <p:strVal val="#ppt_x"/>
                                          </p:val>
                                        </p:tav>
                                      </p:tavLst>
                                    </p:anim>
                                    <p:anim calcmode="lin" valueType="num">
                                      <p:cBhvr additive="base">
                                        <p:cTn id="12"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 calcmode="lin" valueType="num">
                                      <p:cBhvr additive="base">
                                        <p:cTn id="17" dur="500" fill="hold"/>
                                        <p:tgtEl>
                                          <p:spTgt spid="9222"/>
                                        </p:tgtEl>
                                        <p:attrNameLst>
                                          <p:attrName>ppt_x</p:attrName>
                                        </p:attrNameLst>
                                      </p:cBhvr>
                                      <p:tavLst>
                                        <p:tav tm="0">
                                          <p:val>
                                            <p:strVal val="#ppt_x"/>
                                          </p:val>
                                        </p:tav>
                                        <p:tav tm="100000">
                                          <p:val>
                                            <p:strVal val="#ppt_x"/>
                                          </p:val>
                                        </p:tav>
                                      </p:tavLst>
                                    </p:anim>
                                    <p:anim calcmode="lin" valueType="num">
                                      <p:cBhvr additive="base">
                                        <p:cTn id="18" dur="500" fill="hold"/>
                                        <p:tgtEl>
                                          <p:spTgt spid="922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226"/>
                                        </p:tgtEl>
                                        <p:attrNameLst>
                                          <p:attrName>style.visibility</p:attrName>
                                        </p:attrNameLst>
                                      </p:cBhvr>
                                      <p:to>
                                        <p:strVal val="visible"/>
                                      </p:to>
                                    </p:set>
                                    <p:anim calcmode="lin" valueType="num">
                                      <p:cBhvr additive="base">
                                        <p:cTn id="21" dur="500" fill="hold"/>
                                        <p:tgtEl>
                                          <p:spTgt spid="9226"/>
                                        </p:tgtEl>
                                        <p:attrNameLst>
                                          <p:attrName>ppt_x</p:attrName>
                                        </p:attrNameLst>
                                      </p:cBhvr>
                                      <p:tavLst>
                                        <p:tav tm="0">
                                          <p:val>
                                            <p:strVal val="#ppt_x"/>
                                          </p:val>
                                        </p:tav>
                                        <p:tav tm="100000">
                                          <p:val>
                                            <p:strVal val="#ppt_x"/>
                                          </p:val>
                                        </p:tav>
                                      </p:tavLst>
                                    </p:anim>
                                    <p:anim calcmode="lin" valueType="num">
                                      <p:cBhvr additive="base">
                                        <p:cTn id="22" dur="500" fill="hold"/>
                                        <p:tgtEl>
                                          <p:spTgt spid="9226"/>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220"/>
                                        </p:tgtEl>
                                        <p:attrNameLst>
                                          <p:attrName>style.visibility</p:attrName>
                                        </p:attrNameLst>
                                      </p:cBhvr>
                                      <p:to>
                                        <p:strVal val="visible"/>
                                      </p:to>
                                    </p:set>
                                    <p:anim calcmode="lin" valueType="num">
                                      <p:cBhvr additive="base">
                                        <p:cTn id="27" dur="500" fill="hold"/>
                                        <p:tgtEl>
                                          <p:spTgt spid="9220"/>
                                        </p:tgtEl>
                                        <p:attrNameLst>
                                          <p:attrName>ppt_x</p:attrName>
                                        </p:attrNameLst>
                                      </p:cBhvr>
                                      <p:tavLst>
                                        <p:tav tm="0">
                                          <p:val>
                                            <p:strVal val="#ppt_x"/>
                                          </p:val>
                                        </p:tav>
                                        <p:tav tm="100000">
                                          <p:val>
                                            <p:strVal val="#ppt_x"/>
                                          </p:val>
                                        </p:tav>
                                      </p:tavLst>
                                    </p:anim>
                                    <p:anim calcmode="lin" valueType="num">
                                      <p:cBhvr additive="base">
                                        <p:cTn id="28" dur="500" fill="hold"/>
                                        <p:tgtEl>
                                          <p:spTgt spid="92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224"/>
                                        </p:tgtEl>
                                        <p:attrNameLst>
                                          <p:attrName>style.visibility</p:attrName>
                                        </p:attrNameLst>
                                      </p:cBhvr>
                                      <p:to>
                                        <p:strVal val="visible"/>
                                      </p:to>
                                    </p:set>
                                    <p:anim calcmode="lin" valueType="num">
                                      <p:cBhvr additive="base">
                                        <p:cTn id="31" dur="500" fill="hold"/>
                                        <p:tgtEl>
                                          <p:spTgt spid="9224"/>
                                        </p:tgtEl>
                                        <p:attrNameLst>
                                          <p:attrName>ppt_x</p:attrName>
                                        </p:attrNameLst>
                                      </p:cBhvr>
                                      <p:tavLst>
                                        <p:tav tm="0">
                                          <p:val>
                                            <p:strVal val="#ppt_x"/>
                                          </p:val>
                                        </p:tav>
                                        <p:tav tm="100000">
                                          <p:val>
                                            <p:strVal val="#ppt_x"/>
                                          </p:val>
                                        </p:tav>
                                      </p:tavLst>
                                    </p:anim>
                                    <p:anim calcmode="lin" valueType="num">
                                      <p:cBhvr additive="base">
                                        <p:cTn id="32"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221"/>
                                        </p:tgtEl>
                                        <p:attrNameLst>
                                          <p:attrName>style.visibility</p:attrName>
                                        </p:attrNameLst>
                                      </p:cBhvr>
                                      <p:to>
                                        <p:strVal val="visible"/>
                                      </p:to>
                                    </p:set>
                                    <p:anim calcmode="lin" valueType="num">
                                      <p:cBhvr additive="base">
                                        <p:cTn id="37" dur="500" fill="hold"/>
                                        <p:tgtEl>
                                          <p:spTgt spid="9221"/>
                                        </p:tgtEl>
                                        <p:attrNameLst>
                                          <p:attrName>ppt_x</p:attrName>
                                        </p:attrNameLst>
                                      </p:cBhvr>
                                      <p:tavLst>
                                        <p:tav tm="0">
                                          <p:val>
                                            <p:strVal val="#ppt_x"/>
                                          </p:val>
                                        </p:tav>
                                        <p:tav tm="100000">
                                          <p:val>
                                            <p:strVal val="#ppt_x"/>
                                          </p:val>
                                        </p:tav>
                                      </p:tavLst>
                                    </p:anim>
                                    <p:anim calcmode="lin" valueType="num">
                                      <p:cBhvr additive="base">
                                        <p:cTn id="38" dur="500" fill="hold"/>
                                        <p:tgtEl>
                                          <p:spTgt spid="92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225"/>
                                        </p:tgtEl>
                                        <p:attrNameLst>
                                          <p:attrName>style.visibility</p:attrName>
                                        </p:attrNameLst>
                                      </p:cBhvr>
                                      <p:to>
                                        <p:strVal val="visible"/>
                                      </p:to>
                                    </p:set>
                                    <p:anim calcmode="lin" valueType="num">
                                      <p:cBhvr additive="base">
                                        <p:cTn id="41" dur="500" fill="hold"/>
                                        <p:tgtEl>
                                          <p:spTgt spid="9225"/>
                                        </p:tgtEl>
                                        <p:attrNameLst>
                                          <p:attrName>ppt_x</p:attrName>
                                        </p:attrNameLst>
                                      </p:cBhvr>
                                      <p:tavLst>
                                        <p:tav tm="0">
                                          <p:val>
                                            <p:strVal val="#ppt_x"/>
                                          </p:val>
                                        </p:tav>
                                        <p:tav tm="100000">
                                          <p:val>
                                            <p:strVal val="#ppt_x"/>
                                          </p:val>
                                        </p:tav>
                                      </p:tavLst>
                                    </p:anim>
                                    <p:anim calcmode="lin" valueType="num">
                                      <p:cBhvr additive="base">
                                        <p:cTn id="42" dur="500" fill="hold"/>
                                        <p:tgtEl>
                                          <p:spTgt spid="92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nimBg="1"/>
      <p:bldP spid="9220" grpId="0" animBg="1"/>
      <p:bldP spid="9221" grpId="0" animBg="1"/>
      <p:bldP spid="9222" grpId="0" animBg="1"/>
      <p:bldP spid="9223" grpId="0" animBg="1"/>
      <p:bldP spid="9224" grpId="0" animBg="1"/>
      <p:bldP spid="9225" grpId="0" animBg="1"/>
      <p:bldP spid="922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ext Placeholder 116738"/>
          <p:cNvSpPr>
            <a:spLocks noGrp="1" noChangeArrowheads="1"/>
          </p:cNvSpPr>
          <p:nvPr>
            <p:ph idx="1"/>
          </p:nvPr>
        </p:nvSpPr>
        <p:spPr>
          <a:xfrm>
            <a:off x="533400" y="1200150"/>
            <a:ext cx="8001000" cy="4800600"/>
          </a:xfrm>
          <a:solidFill>
            <a:schemeClr val="bg1"/>
          </a:solidFill>
        </p:spPr>
        <p:txBody>
          <a:bodyPr/>
          <a:lstStyle/>
          <a:p>
            <a:pPr eaLnBrk="1" hangingPunct="1"/>
            <a:r>
              <a:rPr lang="en-US" sz="3200" b="1" dirty="0">
                <a:solidFill>
                  <a:schemeClr val="bg2"/>
                </a:solidFill>
              </a:rPr>
              <a:t>Product </a:t>
            </a:r>
          </a:p>
          <a:p>
            <a:pPr lvl="1" eaLnBrk="1" hangingPunct="1"/>
            <a:r>
              <a:rPr lang="en-US" sz="2800" dirty="0"/>
              <a:t>May consider more than the physical characteristics. </a:t>
            </a:r>
          </a:p>
          <a:p>
            <a:pPr lvl="1" eaLnBrk="1" hangingPunct="1"/>
            <a:r>
              <a:rPr lang="en-US" sz="2800" dirty="0"/>
              <a:t>Involves packaging, brand name, price, warranty, image, service, delivery time, features, style, and even the Web site. </a:t>
            </a:r>
            <a:endParaRPr lang="en-US" sz="2800" dirty="0"/>
          </a:p>
          <a:p>
            <a:pPr>
              <a:buFont typeface="Wingdings" pitchFamily="2" charset="2"/>
              <a:buChar char="§"/>
            </a:pPr>
            <a:r>
              <a:rPr lang="en-US" sz="2800" dirty="0"/>
              <a:t>Determining the product or products to be sold is central to the </a:t>
            </a:r>
            <a:r>
              <a:rPr lang="en-US" sz="2800" dirty="0" smtClean="0"/>
              <a:t>firm’s entire </a:t>
            </a:r>
            <a:r>
              <a:rPr lang="en-US" sz="2800" dirty="0"/>
              <a:t>marketing </a:t>
            </a:r>
            <a:r>
              <a:rPr lang="en-US" sz="2800" dirty="0" smtClean="0"/>
              <a:t>effort. </a:t>
            </a:r>
            <a:r>
              <a:rPr lang="en-US" sz="2800" dirty="0"/>
              <a:t>T</a:t>
            </a:r>
            <a:r>
              <a:rPr lang="en-US" sz="2800" dirty="0" smtClean="0"/>
              <a:t>he </a:t>
            </a:r>
            <a:r>
              <a:rPr lang="en-US" sz="2800" dirty="0"/>
              <a:t>most </a:t>
            </a:r>
            <a:r>
              <a:rPr lang="en-US" sz="2800" dirty="0" smtClean="0"/>
              <a:t>important attribute </a:t>
            </a:r>
            <a:r>
              <a:rPr lang="en-US" sz="2800" dirty="0"/>
              <a:t>of a product is that it adds value in the minds of its target </a:t>
            </a:r>
            <a:r>
              <a:rPr lang="en-US" sz="2800" dirty="0" smtClean="0"/>
              <a:t>customers. Let’s </a:t>
            </a:r>
            <a:r>
              <a:rPr lang="en-US" sz="2800" dirty="0"/>
              <a:t>think about this by comparing vitamins with pain </a:t>
            </a:r>
            <a:r>
              <a:rPr lang="en-US" sz="2800" dirty="0" smtClean="0"/>
              <a:t>pills;</a:t>
            </a:r>
          </a:p>
        </p:txBody>
      </p:sp>
    </p:spTree>
    <p:extLst>
      <p:ext uri="{BB962C8B-B14F-4D97-AF65-F5344CB8AC3E}">
        <p14:creationId xmlns:p14="http://schemas.microsoft.com/office/powerpoint/2010/main" val="26320894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143000" y="1371600"/>
            <a:ext cx="6858000" cy="4629150"/>
          </a:xfrm>
        </p:spPr>
        <p:txBody>
          <a:bodyPr/>
          <a:lstStyle/>
          <a:p>
            <a:pPr eaLnBrk="1" hangingPunct="1"/>
            <a:r>
              <a:rPr lang="en-US" sz="3200" b="1" dirty="0">
                <a:solidFill>
                  <a:schemeClr val="bg2"/>
                </a:solidFill>
              </a:rPr>
              <a:t>Pricing </a:t>
            </a:r>
            <a:endParaRPr lang="en-US" sz="3200" b="1" dirty="0">
              <a:solidFill>
                <a:schemeClr val="bg2"/>
              </a:solidFill>
            </a:endParaRPr>
          </a:p>
          <a:p>
            <a:pPr>
              <a:buFont typeface="Wingdings" pitchFamily="2" charset="2"/>
              <a:buChar char="Ø"/>
            </a:pPr>
            <a:r>
              <a:rPr lang="en-US" sz="3200" dirty="0" smtClean="0"/>
              <a:t>The </a:t>
            </a:r>
            <a:r>
              <a:rPr lang="en-US" sz="3200" dirty="0"/>
              <a:t>amount of money consumers pay to buy a product. It is the </a:t>
            </a:r>
            <a:r>
              <a:rPr lang="en-US" sz="3200" dirty="0" smtClean="0"/>
              <a:t>only element </a:t>
            </a:r>
            <a:r>
              <a:rPr lang="en-US" sz="3200" dirty="0"/>
              <a:t>in the marketing mix that produces revenue; all other elements </a:t>
            </a:r>
            <a:r>
              <a:rPr lang="en-US" sz="3200" dirty="0" smtClean="0"/>
              <a:t>represent costs. Price </a:t>
            </a:r>
            <a:r>
              <a:rPr lang="en-US" sz="3200" dirty="0"/>
              <a:t>is an extremely important element of the marketing </a:t>
            </a:r>
            <a:r>
              <a:rPr lang="en-US" sz="3200" dirty="0" smtClean="0"/>
              <a:t>mix because </a:t>
            </a:r>
            <a:r>
              <a:rPr lang="en-US" sz="3200" dirty="0"/>
              <a:t>it ultimately determines how much money a company can earn.</a:t>
            </a:r>
            <a:endParaRPr lang="en-US" sz="3200" b="1" dirty="0">
              <a:solidFill>
                <a:schemeClr val="bg2"/>
              </a:solidFill>
            </a:endParaRPr>
          </a:p>
          <a:p>
            <a:pPr marL="0" indent="0">
              <a:buNone/>
            </a:pPr>
            <a:endParaRPr lang="en-US" sz="3200" dirty="0"/>
          </a:p>
        </p:txBody>
      </p:sp>
      <p:sp>
        <p:nvSpPr>
          <p:cNvPr id="6" name="Slide Number Placeholder 5"/>
          <p:cNvSpPr>
            <a:spLocks noGrp="1"/>
          </p:cNvSpPr>
          <p:nvPr>
            <p:ph type="sldNum" sz="quarter" idx="11"/>
          </p:nvPr>
        </p:nvSpPr>
        <p:spPr/>
        <p:txBody>
          <a:bodyPr/>
          <a:lstStyle/>
          <a:p>
            <a:fld id="{CA943D48-AE23-4EFB-A263-E82B3730B84A}" type="slidenum">
              <a:rPr lang="en-US" smtClean="0"/>
              <a:pPr/>
              <a:t>11</a:t>
            </a:fld>
            <a:endParaRPr lang="en-US"/>
          </a:p>
        </p:txBody>
      </p:sp>
    </p:spTree>
    <p:extLst>
      <p:ext uri="{BB962C8B-B14F-4D97-AF65-F5344CB8AC3E}">
        <p14:creationId xmlns:p14="http://schemas.microsoft.com/office/powerpoint/2010/main" val="194847945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0" name="Rectangle 16"/>
          <p:cNvSpPr>
            <a:spLocks noGrp="1" noChangeArrowheads="1"/>
          </p:cNvSpPr>
          <p:nvPr>
            <p:ph type="body" idx="1"/>
          </p:nvPr>
        </p:nvSpPr>
        <p:spPr>
          <a:xfrm>
            <a:off x="1143000" y="4229100"/>
            <a:ext cx="6858000" cy="1771650"/>
          </a:xfrm>
        </p:spPr>
        <p:txBody>
          <a:bodyPr/>
          <a:lstStyle/>
          <a:p>
            <a:r>
              <a:rPr lang="en-US">
                <a:latin typeface="Times New Roman" panose="02020603050405020304" pitchFamily="18" charset="0"/>
              </a:rPr>
              <a:t>Strategies 1,5 &amp; 9 (diagonal) show prices according to quality offered</a:t>
            </a:r>
          </a:p>
          <a:p>
            <a:r>
              <a:rPr lang="en-US">
                <a:latin typeface="Times New Roman" panose="02020603050405020304" pitchFamily="18" charset="0"/>
              </a:rPr>
              <a:t>Strategies 2,3 &amp; 6 to attack the diagonal position</a:t>
            </a:r>
          </a:p>
          <a:p>
            <a:r>
              <a:rPr lang="en-US">
                <a:latin typeface="Times New Roman" panose="02020603050405020304" pitchFamily="18" charset="0"/>
              </a:rPr>
              <a:t>Strategy 4,7 &amp; 8 show overpriced products</a:t>
            </a:r>
          </a:p>
        </p:txBody>
      </p:sp>
      <p:pic>
        <p:nvPicPr>
          <p:cNvPr id="16388" name="Picture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l="2097" t="3922" r="2512" b="5882"/>
          <a:stretch>
            <a:fillRect/>
          </a:stretch>
        </p:blipFill>
        <p:spPr>
          <a:xfrm>
            <a:off x="1143000" y="857251"/>
            <a:ext cx="6858000" cy="3408760"/>
          </a:xfrm>
          <a:noFill/>
          <a:ln>
            <a:solidFill>
              <a:schemeClr val="tx1"/>
            </a:solidFill>
            <a:miter lim="800000"/>
            <a:headEnd/>
            <a:tailEnd/>
          </a:ln>
          <a:effectLst>
            <a:outerShdw dist="107763" dir="2700000" algn="ctr" rotWithShape="0">
              <a:schemeClr val="bg2"/>
            </a:outerShdw>
          </a:effectLst>
        </p:spPr>
      </p:pic>
      <p:sp>
        <p:nvSpPr>
          <p:cNvPr id="16398" name="Text Box 14"/>
          <p:cNvSpPr txBox="1">
            <a:spLocks noChangeArrowheads="1"/>
          </p:cNvSpPr>
          <p:nvPr/>
        </p:nvSpPr>
        <p:spPr bwMode="auto">
          <a:xfrm>
            <a:off x="1143000" y="857251"/>
            <a:ext cx="3143250" cy="369332"/>
          </a:xfrm>
          <a:prstGeom prst="rect">
            <a:avLst/>
          </a:prstGeom>
          <a:solidFill>
            <a:schemeClr val="folHlink"/>
          </a:solidFill>
          <a:ln w="76200" cmpd="tri">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b="1">
                <a:solidFill>
                  <a:schemeClr val="bg2"/>
                </a:solidFill>
                <a:latin typeface="Times New Roman" panose="02020603050405020304" pitchFamily="18" charset="0"/>
              </a:rPr>
              <a:t>Nine Price-Quality Strategies</a:t>
            </a:r>
          </a:p>
        </p:txBody>
      </p:sp>
    </p:spTree>
    <p:extLst>
      <p:ext uri="{BB962C8B-B14F-4D97-AF65-F5344CB8AC3E}">
        <p14:creationId xmlns:p14="http://schemas.microsoft.com/office/powerpoint/2010/main" val="313843711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485900" y="1085850"/>
            <a:ext cx="6172200" cy="514350"/>
          </a:xfrm>
        </p:spPr>
        <p:txBody>
          <a:bodyPr/>
          <a:lstStyle/>
          <a:p>
            <a:pPr algn="ctr"/>
            <a:r>
              <a:rPr lang="en-US" sz="3000" b="1" u="sng" dirty="0">
                <a:solidFill>
                  <a:schemeClr val="bg2"/>
                </a:solidFill>
              </a:rPr>
              <a:t>Selecting </a:t>
            </a:r>
            <a:r>
              <a:rPr lang="en-US" sz="3000" b="1" u="sng" dirty="0">
                <a:solidFill>
                  <a:schemeClr val="bg2"/>
                </a:solidFill>
              </a:rPr>
              <a:t>a Pricing Method</a:t>
            </a:r>
            <a:endParaRPr lang="en-CA" sz="3000" b="1" u="sng" dirty="0">
              <a:solidFill>
                <a:schemeClr val="bg2"/>
              </a:solidFill>
            </a:endParaRPr>
          </a:p>
        </p:txBody>
      </p:sp>
      <p:sp>
        <p:nvSpPr>
          <p:cNvPr id="34819" name="Rectangle 3"/>
          <p:cNvSpPr>
            <a:spLocks noGrp="1" noChangeArrowheads="1"/>
          </p:cNvSpPr>
          <p:nvPr>
            <p:ph type="body" sz="half" idx="1"/>
          </p:nvPr>
        </p:nvSpPr>
        <p:spPr>
          <a:xfrm>
            <a:off x="457200" y="1543050"/>
            <a:ext cx="7315200" cy="1504950"/>
          </a:xfrm>
        </p:spPr>
        <p:txBody>
          <a:bodyPr/>
          <a:lstStyle/>
          <a:p>
            <a:pPr>
              <a:lnSpc>
                <a:spcPct val="90000"/>
              </a:lnSpc>
            </a:pPr>
            <a:r>
              <a:rPr lang="en-US" b="1" dirty="0">
                <a:solidFill>
                  <a:schemeClr val="bg2"/>
                </a:solidFill>
              </a:rPr>
              <a:t>1- Cost-based pricing/ markup pricing</a:t>
            </a:r>
            <a:r>
              <a:rPr lang="en-US" b="1" dirty="0">
                <a:solidFill>
                  <a:srgbClr val="000066"/>
                </a:solidFill>
              </a:rPr>
              <a:t>:</a:t>
            </a:r>
            <a:r>
              <a:rPr lang="en-US" dirty="0"/>
              <a:t> </a:t>
            </a:r>
            <a:r>
              <a:rPr lang="en-US" sz="1800" u="sng" dirty="0"/>
              <a:t>adding</a:t>
            </a:r>
            <a:r>
              <a:rPr lang="en-US" sz="1800" dirty="0"/>
              <a:t> a standard markup to the cost of the product; using formula</a:t>
            </a:r>
            <a:r>
              <a:rPr lang="en-US" sz="1800" dirty="0" smtClean="0"/>
              <a:t>:</a:t>
            </a:r>
            <a:endParaRPr lang="en-US" sz="1800" dirty="0"/>
          </a:p>
          <a:p>
            <a:pPr lvl="1">
              <a:lnSpc>
                <a:spcPct val="90000"/>
              </a:lnSpc>
            </a:pPr>
            <a:r>
              <a:rPr lang="en-US" sz="1800" dirty="0"/>
              <a:t>Markup price </a:t>
            </a:r>
          </a:p>
          <a:p>
            <a:pPr lvl="2">
              <a:lnSpc>
                <a:spcPct val="90000"/>
              </a:lnSpc>
              <a:buFont typeface="Wingdings" pitchFamily="2" charset="2"/>
              <a:buNone/>
            </a:pPr>
            <a:r>
              <a:rPr lang="en-US" sz="1600" dirty="0"/>
              <a:t>Markup price=  unit cost/ (1 – desired return on sales) </a:t>
            </a:r>
            <a:endParaRPr lang="en-US" sz="1600" dirty="0">
              <a:solidFill>
                <a:srgbClr val="000066"/>
              </a:solidFill>
            </a:endParaRPr>
          </a:p>
          <a:p>
            <a:pPr lvl="1">
              <a:lnSpc>
                <a:spcPct val="90000"/>
              </a:lnSpc>
            </a:pPr>
            <a:r>
              <a:rPr lang="en-US" sz="1800" dirty="0"/>
              <a:t>Selling price based on 20%:  </a:t>
            </a:r>
            <a:r>
              <a:rPr lang="en-US" sz="1800" dirty="0">
                <a:solidFill>
                  <a:srgbClr val="000066"/>
                </a:solidFill>
              </a:rPr>
              <a:t>$16/(1 - .20) = $</a:t>
            </a:r>
            <a:r>
              <a:rPr lang="en-US" sz="1800" dirty="0" smtClean="0">
                <a:solidFill>
                  <a:srgbClr val="000066"/>
                </a:solidFill>
              </a:rPr>
              <a:t>20</a:t>
            </a:r>
          </a:p>
          <a:p>
            <a:pPr lvl="1">
              <a:lnSpc>
                <a:spcPct val="90000"/>
              </a:lnSpc>
            </a:pPr>
            <a:endParaRPr lang="en-US" sz="1800" dirty="0" smtClean="0">
              <a:solidFill>
                <a:srgbClr val="000066"/>
              </a:solidFill>
            </a:endParaRPr>
          </a:p>
          <a:p>
            <a:pPr lvl="1">
              <a:lnSpc>
                <a:spcPct val="90000"/>
              </a:lnSpc>
            </a:pPr>
            <a:r>
              <a:rPr lang="en-US" sz="1800" dirty="0">
                <a:solidFill>
                  <a:srgbClr val="000066"/>
                </a:solidFill>
              </a:rPr>
              <a:t> </a:t>
            </a:r>
            <a:endParaRPr lang="en-US" sz="1800" dirty="0" smtClean="0">
              <a:solidFill>
                <a:srgbClr val="000066"/>
              </a:solidFill>
            </a:endParaRPr>
          </a:p>
          <a:p>
            <a:pPr lvl="1">
              <a:lnSpc>
                <a:spcPct val="90000"/>
              </a:lnSpc>
            </a:pPr>
            <a:endParaRPr lang="en-US" sz="1800" dirty="0">
              <a:solidFill>
                <a:srgbClr val="000066"/>
              </a:solidFill>
            </a:endParaRPr>
          </a:p>
          <a:p>
            <a:pPr lvl="1">
              <a:lnSpc>
                <a:spcPct val="90000"/>
              </a:lnSpc>
            </a:pPr>
            <a:endParaRPr lang="en-US" sz="1800" dirty="0" smtClean="0">
              <a:solidFill>
                <a:srgbClr val="000066"/>
              </a:solidFill>
            </a:endParaRPr>
          </a:p>
          <a:p>
            <a:pPr lvl="1">
              <a:lnSpc>
                <a:spcPct val="90000"/>
              </a:lnSpc>
            </a:pPr>
            <a:endParaRPr lang="en-US" sz="1800" dirty="0">
              <a:solidFill>
                <a:srgbClr val="000066"/>
              </a:solidFill>
            </a:endParaRPr>
          </a:p>
          <a:p>
            <a:pPr lvl="1">
              <a:lnSpc>
                <a:spcPct val="90000"/>
              </a:lnSpc>
            </a:pPr>
            <a:endParaRPr lang="en-US" sz="1800" dirty="0" smtClean="0">
              <a:solidFill>
                <a:srgbClr val="000066"/>
              </a:solidFill>
            </a:endParaRPr>
          </a:p>
          <a:p>
            <a:pPr lvl="1">
              <a:lnSpc>
                <a:spcPct val="90000"/>
              </a:lnSpc>
            </a:pPr>
            <a:endParaRPr lang="en-US" sz="1800" dirty="0">
              <a:solidFill>
                <a:srgbClr val="000066"/>
              </a:solidFill>
            </a:endParaRPr>
          </a:p>
          <a:p>
            <a:pPr lvl="1">
              <a:lnSpc>
                <a:spcPct val="90000"/>
              </a:lnSpc>
            </a:pPr>
            <a:endParaRPr lang="en-US" sz="1800" dirty="0">
              <a:solidFill>
                <a:srgbClr val="000066"/>
              </a:solidFill>
            </a:endParaRPr>
          </a:p>
        </p:txBody>
      </p:sp>
      <p:sp>
        <p:nvSpPr>
          <p:cNvPr id="34825" name="Rectangle 9"/>
          <p:cNvSpPr>
            <a:spLocks noChangeArrowheads="1"/>
          </p:cNvSpPr>
          <p:nvPr/>
        </p:nvSpPr>
        <p:spPr bwMode="auto">
          <a:xfrm>
            <a:off x="357554" y="3184921"/>
            <a:ext cx="73914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7175" indent="-257175" eaLnBrk="1" hangingPunct="1">
              <a:spcBef>
                <a:spcPct val="20000"/>
              </a:spcBef>
              <a:buClr>
                <a:schemeClr val="bg2"/>
              </a:buClr>
              <a:buSzPct val="75000"/>
              <a:buFont typeface="Wingdings" pitchFamily="2" charset="2"/>
              <a:buChar char="n"/>
            </a:pPr>
            <a:r>
              <a:rPr lang="en-US" sz="2400" b="1" dirty="0">
                <a:solidFill>
                  <a:srgbClr val="000066"/>
                </a:solidFill>
              </a:rPr>
              <a:t>2- Target Return pricing:</a:t>
            </a:r>
            <a:r>
              <a:rPr lang="en-US" sz="2400" dirty="0"/>
              <a:t> </a:t>
            </a:r>
            <a:r>
              <a:rPr lang="en-US" sz="1800" dirty="0"/>
              <a:t>setting price that would yield its target return on investment (ROI). </a:t>
            </a:r>
            <a:r>
              <a:rPr lang="en-US" sz="1800" dirty="0" err="1"/>
              <a:t>Eg</a:t>
            </a:r>
            <a:r>
              <a:rPr lang="en-US" sz="1800" dirty="0"/>
              <a:t>. A company may select 20% return on its investment</a:t>
            </a:r>
          </a:p>
          <a:p>
            <a:pPr marL="257175" indent="-257175" eaLnBrk="1" hangingPunct="1">
              <a:spcBef>
                <a:spcPct val="20000"/>
              </a:spcBef>
              <a:buClr>
                <a:schemeClr val="bg2"/>
              </a:buClr>
              <a:buSzPct val="75000"/>
              <a:buFont typeface="Wingdings" pitchFamily="2" charset="2"/>
              <a:buChar char="n"/>
            </a:pPr>
            <a:r>
              <a:rPr lang="en-US" sz="1800" b="1" dirty="0"/>
              <a:t>Target-return price</a:t>
            </a:r>
            <a:r>
              <a:rPr lang="en-US" sz="1800" dirty="0"/>
              <a:t>= unit cost+ (desired return multiply by invested capital/ unit sales) </a:t>
            </a:r>
          </a:p>
          <a:p>
            <a:pPr marL="257175" indent="-257175" eaLnBrk="1" hangingPunct="1">
              <a:spcBef>
                <a:spcPct val="20000"/>
              </a:spcBef>
              <a:buClr>
                <a:schemeClr val="bg2"/>
              </a:buClr>
              <a:buSzPct val="75000"/>
            </a:pPr>
            <a:r>
              <a:rPr lang="en-US" sz="2400" dirty="0"/>
              <a:t>	</a:t>
            </a:r>
            <a:endParaRPr lang="en-CA" sz="2400" dirty="0"/>
          </a:p>
        </p:txBody>
      </p:sp>
      <p:pic>
        <p:nvPicPr>
          <p:cNvPr id="34831" name="Picture 15"/>
          <p:cNvPicPr>
            <a:picLocks noGrp="1" noChangeAspect="1" noChangeArrowheads="1"/>
          </p:cNvPicPr>
          <p:nvPr>
            <p:ph sz="quarter" idx="3"/>
          </p:nvPr>
        </p:nvPicPr>
        <p:blipFill>
          <a:blip r:embed="rId2" cstate="print">
            <a:extLst>
              <a:ext uri="{28A0092B-C50C-407E-A947-70E740481C1C}">
                <a14:useLocalDpi xmlns:a14="http://schemas.microsoft.com/office/drawing/2010/main" val="0"/>
              </a:ext>
            </a:extLst>
          </a:blip>
          <a:srcRect/>
          <a:stretch>
            <a:fillRect/>
          </a:stretch>
        </p:blipFill>
        <p:spPr>
          <a:xfrm>
            <a:off x="3429000" y="4636293"/>
            <a:ext cx="4629150" cy="1814513"/>
          </a:xfrm>
          <a:noFill/>
          <a:ln>
            <a:solidFill>
              <a:schemeClr val="tx1"/>
            </a:solidFill>
            <a:miter lim="800000"/>
            <a:headEnd/>
            <a:tailEnd/>
          </a:ln>
          <a:effectLst>
            <a:outerShdw dist="107763" dir="2700000" algn="ctr" rotWithShape="0">
              <a:schemeClr val="bg2"/>
            </a:outerShdw>
          </a:effectLst>
        </p:spPr>
      </p:pic>
    </p:spTree>
    <p:extLst>
      <p:ext uri="{BB962C8B-B14F-4D97-AF65-F5344CB8AC3E}">
        <p14:creationId xmlns:p14="http://schemas.microsoft.com/office/powerpoint/2010/main" val="107236737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sz="half" idx="1"/>
          </p:nvPr>
        </p:nvSpPr>
        <p:spPr>
          <a:xfrm>
            <a:off x="1143000" y="1143000"/>
            <a:ext cx="6858000" cy="1657350"/>
          </a:xfrm>
        </p:spPr>
        <p:txBody>
          <a:bodyPr/>
          <a:lstStyle/>
          <a:p>
            <a:r>
              <a:rPr lang="en-US" sz="2400" b="1">
                <a:solidFill>
                  <a:srgbClr val="FF0000"/>
                </a:solidFill>
              </a:rPr>
              <a:t>3-</a:t>
            </a:r>
            <a:r>
              <a:rPr lang="en-US" sz="2400" b="1">
                <a:solidFill>
                  <a:srgbClr val="000066"/>
                </a:solidFill>
              </a:rPr>
              <a:t>  Value-based pricing:</a:t>
            </a:r>
            <a:r>
              <a:rPr lang="en-US" sz="2400"/>
              <a:t> </a:t>
            </a:r>
            <a:r>
              <a:rPr lang="en-US"/>
              <a:t>setting price based on buyers’ perceptions of value rather than on the seller’s cost .</a:t>
            </a:r>
          </a:p>
        </p:txBody>
      </p:sp>
      <p:pic>
        <p:nvPicPr>
          <p:cNvPr id="43014" name="Picture 6" descr="kotler+f1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2171700"/>
            <a:ext cx="6572250" cy="2462213"/>
          </a:xfrm>
          <a:prstGeom prst="rect">
            <a:avLst/>
          </a:prstGeom>
          <a:noFill/>
          <a:extLst>
            <a:ext uri="{909E8E84-426E-40DD-AFC4-6F175D3DCCD1}">
              <a14:hiddenFill xmlns:a14="http://schemas.microsoft.com/office/drawing/2010/main">
                <a:solidFill>
                  <a:srgbClr val="FFFFFF"/>
                </a:solidFill>
              </a14:hiddenFill>
            </a:ext>
          </a:extLst>
        </p:spPr>
      </p:pic>
      <p:sp>
        <p:nvSpPr>
          <p:cNvPr id="43016" name="Rectangle 8"/>
          <p:cNvSpPr>
            <a:spLocks noChangeArrowheads="1"/>
          </p:cNvSpPr>
          <p:nvPr/>
        </p:nvSpPr>
        <p:spPr bwMode="auto">
          <a:xfrm>
            <a:off x="1257300" y="4743450"/>
            <a:ext cx="65151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7175" indent="-257175" eaLnBrk="1" hangingPunct="1">
              <a:spcBef>
                <a:spcPct val="20000"/>
              </a:spcBef>
              <a:buClr>
                <a:schemeClr val="bg2"/>
              </a:buClr>
              <a:buSzPct val="75000"/>
              <a:buFont typeface="Wingdings" pitchFamily="2" charset="2"/>
              <a:buChar char="n"/>
            </a:pPr>
            <a:r>
              <a:rPr lang="en-US" sz="2100" b="1">
                <a:solidFill>
                  <a:srgbClr val="FF0000"/>
                </a:solidFill>
              </a:rPr>
              <a:t>4.   </a:t>
            </a:r>
            <a:r>
              <a:rPr lang="en-US" sz="2100" b="1"/>
              <a:t> </a:t>
            </a:r>
            <a:r>
              <a:rPr lang="en-US" sz="2100" b="1">
                <a:solidFill>
                  <a:srgbClr val="000066"/>
                </a:solidFill>
              </a:rPr>
              <a:t>Competition based (going-rate) Pricing</a:t>
            </a:r>
            <a:r>
              <a:rPr lang="en-US" sz="2100" b="1"/>
              <a:t>: </a:t>
            </a:r>
            <a:r>
              <a:rPr lang="en-US" sz="2100"/>
              <a:t>Setting prices based on the prices that competitors charge for similar products.</a:t>
            </a:r>
          </a:p>
        </p:txBody>
      </p:sp>
    </p:spTree>
    <p:extLst>
      <p:ext uri="{BB962C8B-B14F-4D97-AF65-F5344CB8AC3E}">
        <p14:creationId xmlns:p14="http://schemas.microsoft.com/office/powerpoint/2010/main" val="187390921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1257300" y="1257300"/>
            <a:ext cx="6743700" cy="4743450"/>
          </a:xfrm>
        </p:spPr>
        <p:txBody>
          <a:bodyPr/>
          <a:lstStyle/>
          <a:p>
            <a:pPr marL="0" indent="0">
              <a:buNone/>
            </a:pPr>
            <a:r>
              <a:rPr lang="en-US" b="1" dirty="0" smtClean="0">
                <a:solidFill>
                  <a:schemeClr val="bg2"/>
                </a:solidFill>
                <a:latin typeface="Times New Roman" pitchFamily="18" charset="0"/>
              </a:rPr>
              <a:t>5. English </a:t>
            </a:r>
            <a:r>
              <a:rPr lang="en-US" b="1" dirty="0">
                <a:solidFill>
                  <a:schemeClr val="bg2"/>
                </a:solidFill>
                <a:latin typeface="Times New Roman" pitchFamily="18" charset="0"/>
              </a:rPr>
              <a:t>Auction (ascending bids)-</a:t>
            </a:r>
            <a:r>
              <a:rPr lang="en-US" dirty="0">
                <a:latin typeface="Times New Roman" pitchFamily="18" charset="0"/>
              </a:rPr>
              <a:t> Seller announces a starting price and bidder raise the offer price until top price is </a:t>
            </a:r>
            <a:r>
              <a:rPr lang="en-US" dirty="0" smtClean="0">
                <a:latin typeface="Times New Roman" pitchFamily="18" charset="0"/>
              </a:rPr>
              <a:t>reached.</a:t>
            </a:r>
          </a:p>
          <a:p>
            <a:pPr marL="0" indent="0">
              <a:buNone/>
            </a:pPr>
            <a:r>
              <a:rPr lang="en-US" b="1" dirty="0" smtClean="0">
                <a:solidFill>
                  <a:schemeClr val="bg2"/>
                </a:solidFill>
                <a:latin typeface="Times New Roman" pitchFamily="18" charset="0"/>
              </a:rPr>
              <a:t>6. ODD </a:t>
            </a:r>
            <a:r>
              <a:rPr lang="en-US" b="1" dirty="0">
                <a:solidFill>
                  <a:schemeClr val="bg2"/>
                </a:solidFill>
                <a:latin typeface="Times New Roman" pitchFamily="18" charset="0"/>
              </a:rPr>
              <a:t>pricing- </a:t>
            </a:r>
            <a:r>
              <a:rPr lang="en-US" sz="2700" dirty="0">
                <a:latin typeface="Times New Roman" pitchFamily="18" charset="0"/>
              </a:rPr>
              <a:t>many sellers select prices ending with odd number</a:t>
            </a:r>
          </a:p>
          <a:p>
            <a:pPr>
              <a:lnSpc>
                <a:spcPct val="80000"/>
              </a:lnSpc>
              <a:spcBef>
                <a:spcPct val="55000"/>
              </a:spcBef>
              <a:buFont typeface="Wingdings" pitchFamily="2" charset="2"/>
              <a:buChar char="Ø"/>
            </a:pPr>
            <a:r>
              <a:rPr lang="en-US" sz="2700" dirty="0">
                <a:latin typeface="Times New Roman" pitchFamily="18" charset="0"/>
              </a:rPr>
              <a:t>Theory:$3.00 is rounded to $3.00 while $2.99 is rounded to “$2.00 plus change. </a:t>
            </a:r>
            <a:r>
              <a:rPr lang="en-US" dirty="0">
                <a:latin typeface="Times New Roman" pitchFamily="18" charset="0"/>
              </a:rPr>
              <a:t>according to a 1997 study published in the </a:t>
            </a:r>
            <a:r>
              <a:rPr lang="en-US" i="1" dirty="0">
                <a:latin typeface="Times New Roman" pitchFamily="18" charset="0"/>
              </a:rPr>
              <a:t>Marketing Bulletin</a:t>
            </a:r>
            <a:r>
              <a:rPr lang="en-US" dirty="0">
                <a:latin typeface="Times New Roman" pitchFamily="18" charset="0"/>
              </a:rPr>
              <a:t>, approximately 60% of prices in advertising material ended in the digit 9, 30% ended in the digit 5, 7% ended in the digit 0 and the remaining seven digits combined accounted for only slightly over 3% of prices evaluated </a:t>
            </a:r>
          </a:p>
          <a:p>
            <a:pPr marL="0" indent="0">
              <a:buNone/>
            </a:pPr>
            <a:endParaRPr lang="en-US" dirty="0">
              <a:latin typeface="Times New Roman" pitchFamily="18" charset="0"/>
            </a:endParaRPr>
          </a:p>
        </p:txBody>
      </p:sp>
    </p:spTree>
    <p:extLst>
      <p:ext uri="{BB962C8B-B14F-4D97-AF65-F5344CB8AC3E}">
        <p14:creationId xmlns:p14="http://schemas.microsoft.com/office/powerpoint/2010/main" val="87174589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ext Placeholder 116738"/>
          <p:cNvSpPr>
            <a:spLocks noGrp="1" noChangeArrowheads="1"/>
          </p:cNvSpPr>
          <p:nvPr>
            <p:ph type="body" idx="4294967295"/>
          </p:nvPr>
        </p:nvSpPr>
        <p:spPr>
          <a:xfrm>
            <a:off x="1143000" y="1371600"/>
            <a:ext cx="6858000" cy="4629150"/>
          </a:xfrm>
          <a:solidFill>
            <a:schemeClr val="bg1"/>
          </a:solidFill>
        </p:spPr>
        <p:txBody>
          <a:bodyPr/>
          <a:lstStyle/>
          <a:p>
            <a:pPr eaLnBrk="1" hangingPunct="1"/>
            <a:r>
              <a:rPr lang="en-US" sz="2800" b="1" dirty="0">
                <a:solidFill>
                  <a:schemeClr val="bg2"/>
                </a:solidFill>
              </a:rPr>
              <a:t>Placement </a:t>
            </a:r>
          </a:p>
          <a:p>
            <a:pPr lvl="1" eaLnBrk="1" hangingPunct="1"/>
            <a:r>
              <a:rPr lang="en-US" sz="2800" dirty="0"/>
              <a:t>Refers </a:t>
            </a:r>
            <a:r>
              <a:rPr lang="en-US" sz="2800" dirty="0"/>
              <a:t>to providing the product at a place which is convenient for consumers to access. Various strategies such as </a:t>
            </a:r>
            <a:r>
              <a:rPr lang="en-US" sz="2800" b="1" i="1" dirty="0">
                <a:solidFill>
                  <a:schemeClr val="bg2"/>
                </a:solidFill>
              </a:rPr>
              <a:t>intensive distribution, selective distribution, exclusive </a:t>
            </a:r>
            <a:r>
              <a:rPr lang="en-US" sz="2800" b="1" i="1" dirty="0">
                <a:solidFill>
                  <a:schemeClr val="bg2"/>
                </a:solidFill>
              </a:rPr>
              <a:t>distribution,</a:t>
            </a:r>
            <a:r>
              <a:rPr lang="en-US" sz="2800" dirty="0"/>
              <a:t> conventional marketing system, vertical marketing system, </a:t>
            </a:r>
            <a:r>
              <a:rPr lang="en-US" sz="2800" dirty="0"/>
              <a:t>and franchising can be used by the marketer to complement the other aspects of the marketing mix.</a:t>
            </a:r>
            <a:r>
              <a:rPr lang="en-US" sz="2800" dirty="0"/>
              <a:t>. </a:t>
            </a:r>
          </a:p>
        </p:txBody>
      </p:sp>
    </p:spTree>
    <p:extLst>
      <p:ext uri="{BB962C8B-B14F-4D97-AF65-F5344CB8AC3E}">
        <p14:creationId xmlns:p14="http://schemas.microsoft.com/office/powerpoint/2010/main" val="1364337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a:xfrm>
            <a:off x="1714500" y="1056084"/>
            <a:ext cx="5829300" cy="85725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67866" tIns="33338" rIns="67866" bIns="33338" numCol="1" anchor="ctr" anchorCtr="0" compatLnSpc="1">
            <a:prstTxWarp prst="textNoShape">
              <a:avLst/>
            </a:prstTxWarp>
          </a:bodyPr>
          <a:lstStyle/>
          <a:p>
            <a:pPr algn="ctr"/>
            <a:r>
              <a:rPr lang="en-US" sz="2700" b="1" u="sng" dirty="0">
                <a:solidFill>
                  <a:schemeClr val="bg2"/>
                </a:solidFill>
                <a:latin typeface="Times New Roman" panose="02020603050405020304" pitchFamily="18" charset="0"/>
              </a:rPr>
              <a:t>Level of Marketing Channels</a:t>
            </a:r>
            <a:r>
              <a:rPr lang="en-US" sz="2400" b="1" dirty="0">
                <a:solidFill>
                  <a:schemeClr val="bg2"/>
                </a:solidFill>
                <a:latin typeface="Times New Roman" panose="02020603050405020304" pitchFamily="18" charset="0"/>
              </a:rPr>
              <a:t/>
            </a:r>
            <a:br>
              <a:rPr lang="en-US" sz="2400" b="1" dirty="0">
                <a:solidFill>
                  <a:schemeClr val="bg2"/>
                </a:solidFill>
                <a:latin typeface="Times New Roman" panose="02020603050405020304" pitchFamily="18" charset="0"/>
              </a:rPr>
            </a:br>
            <a:r>
              <a:rPr lang="en-US" sz="1800" b="1" dirty="0">
                <a:solidFill>
                  <a:schemeClr val="bg2"/>
                </a:solidFill>
                <a:latin typeface="Times New Roman" panose="02020603050405020304" pitchFamily="18" charset="0"/>
              </a:rPr>
              <a:t>Channels for Consumer Products</a:t>
            </a:r>
            <a:endParaRPr lang="en-US" sz="2700" b="1" dirty="0">
              <a:solidFill>
                <a:schemeClr val="bg2"/>
              </a:solidFill>
              <a:latin typeface="Times New Roman" panose="02020603050405020304" pitchFamily="18" charset="0"/>
            </a:endParaRPr>
          </a:p>
        </p:txBody>
      </p:sp>
      <p:pic>
        <p:nvPicPr>
          <p:cNvPr id="7" name="Picture 5" descr="fig15"/>
          <p:cNvPicPr>
            <a:picLocks noChangeAspect="1" noChangeArrowheads="1"/>
          </p:cNvPicPr>
          <p:nvPr/>
        </p:nvPicPr>
        <p:blipFill>
          <a:blip r:embed="rId3">
            <a:extLst>
              <a:ext uri="{28A0092B-C50C-407E-A947-70E740481C1C}">
                <a14:useLocalDpi xmlns:a14="http://schemas.microsoft.com/office/drawing/2010/main" val="0"/>
              </a:ext>
            </a:extLst>
          </a:blip>
          <a:srcRect t="6731" r="50000"/>
          <a:stretch>
            <a:fillRect/>
          </a:stretch>
        </p:blipFill>
        <p:spPr>
          <a:xfrm>
            <a:off x="1600201" y="1913334"/>
            <a:ext cx="5927347" cy="39909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93867978"/>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p:txBody>
          <a:bodyPr/>
          <a:lstStyle/>
          <a:p>
            <a:r>
              <a:rPr lang="en-US" sz="2800" b="1" u="sng" dirty="0">
                <a:solidFill>
                  <a:schemeClr val="bg2"/>
                </a:solidFill>
              </a:rPr>
              <a:t>Conventional marketing System-</a:t>
            </a:r>
            <a:r>
              <a:rPr lang="en-US" sz="2800" dirty="0"/>
              <a:t> comprises of independent producers, wholesalers or retailers who business just to maximize their own profit even if it reduces profit for a system as a whole. In this there is no control upon any member of channel</a:t>
            </a:r>
          </a:p>
        </p:txBody>
      </p:sp>
    </p:spTree>
    <p:extLst>
      <p:ext uri="{BB962C8B-B14F-4D97-AF65-F5344CB8AC3E}">
        <p14:creationId xmlns:p14="http://schemas.microsoft.com/office/powerpoint/2010/main" val="3346514299"/>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04800" y="1143000"/>
            <a:ext cx="8382000" cy="4857750"/>
          </a:xfrm>
        </p:spPr>
        <p:txBody>
          <a:bodyPr/>
          <a:lstStyle/>
          <a:p>
            <a:pPr algn="ctr"/>
            <a:r>
              <a:rPr lang="en-US" sz="2800" b="1" u="sng" dirty="0">
                <a:solidFill>
                  <a:schemeClr val="bg2"/>
                </a:solidFill>
                <a:latin typeface="Times New Roman" panose="02020603050405020304" pitchFamily="18" charset="0"/>
              </a:rPr>
              <a:t>Vertical Marketing Channel/system (VMS)</a:t>
            </a:r>
          </a:p>
          <a:p>
            <a:pPr>
              <a:buFont typeface="Wingdings" panose="05000000000000000000" pitchFamily="2" charset="2"/>
              <a:buNone/>
            </a:pPr>
            <a:r>
              <a:rPr lang="en-US" dirty="0">
                <a:latin typeface="Times New Roman" panose="02020603050405020304" pitchFamily="18" charset="0"/>
              </a:rPr>
              <a:t> 	by contrast, comprises the producer, wholesaler, or retailers acting as a unified/coordinated way. The high degree of control and coordination in VMS is achieved through one of the three means: </a:t>
            </a:r>
          </a:p>
          <a:p>
            <a:pPr>
              <a:buFont typeface="Wingdings" panose="05000000000000000000" pitchFamily="2" charset="2"/>
              <a:buChar char="Ø"/>
            </a:pPr>
            <a:r>
              <a:rPr lang="en-US" b="1" u="sng" dirty="0">
                <a:solidFill>
                  <a:schemeClr val="bg2"/>
                </a:solidFill>
                <a:latin typeface="Times New Roman" panose="02020603050405020304" pitchFamily="18" charset="0"/>
              </a:rPr>
              <a:t>Corporate VMS:</a:t>
            </a:r>
            <a:r>
              <a:rPr lang="en-US" dirty="0">
                <a:latin typeface="Times New Roman" panose="02020603050405020304" pitchFamily="18" charset="0"/>
              </a:rPr>
              <a:t> common ownership of successive level of a channel.</a:t>
            </a:r>
          </a:p>
          <a:p>
            <a:pPr>
              <a:buFont typeface="Wingdings" panose="05000000000000000000" pitchFamily="2" charset="2"/>
              <a:buChar char="Ø"/>
            </a:pPr>
            <a:r>
              <a:rPr lang="en-US" dirty="0">
                <a:latin typeface="Times New Roman" panose="02020603050405020304" pitchFamily="18" charset="0"/>
              </a:rPr>
              <a:t> </a:t>
            </a:r>
            <a:r>
              <a:rPr lang="en-US" b="1" u="sng" dirty="0">
                <a:solidFill>
                  <a:schemeClr val="bg2"/>
                </a:solidFill>
                <a:latin typeface="Times New Roman" panose="02020603050405020304" pitchFamily="18" charset="0"/>
              </a:rPr>
              <a:t>Contractual VMS:</a:t>
            </a:r>
            <a:r>
              <a:rPr lang="en-US" dirty="0">
                <a:latin typeface="Times New Roman" panose="02020603050405020304" pitchFamily="18" charset="0"/>
              </a:rPr>
              <a:t> contracts between independent channel members to increase the efficiency and effectiveness of distribution (franchises </a:t>
            </a:r>
            <a:r>
              <a:rPr lang="en-US" dirty="0" err="1">
                <a:latin typeface="Times New Roman" panose="02020603050405020304" pitchFamily="18" charset="0"/>
              </a:rPr>
              <a:t>etc</a:t>
            </a:r>
            <a:r>
              <a:rPr lang="en-US" dirty="0">
                <a:latin typeface="Times New Roman" panose="02020603050405020304" pitchFamily="18" charset="0"/>
              </a:rPr>
              <a:t>)</a:t>
            </a:r>
          </a:p>
          <a:p>
            <a:pPr>
              <a:buFont typeface="Wingdings" panose="05000000000000000000" pitchFamily="2" charset="2"/>
              <a:buChar char="Ø"/>
            </a:pPr>
            <a:r>
              <a:rPr lang="en-US" b="1" u="sng" dirty="0">
                <a:solidFill>
                  <a:schemeClr val="bg2"/>
                </a:solidFill>
                <a:latin typeface="Times New Roman" panose="02020603050405020304" pitchFamily="18" charset="0"/>
              </a:rPr>
              <a:t>Administrative VMS</a:t>
            </a:r>
            <a:r>
              <a:rPr lang="en-US" dirty="0">
                <a:latin typeface="Times New Roman" panose="02020603050405020304" pitchFamily="18" charset="0"/>
              </a:rPr>
              <a:t>: Coordination in distribution through market/economic power of one of channel members.</a:t>
            </a:r>
          </a:p>
        </p:txBody>
      </p:sp>
    </p:spTree>
    <p:extLst>
      <p:ext uri="{BB962C8B-B14F-4D97-AF65-F5344CB8AC3E}">
        <p14:creationId xmlns:p14="http://schemas.microsoft.com/office/powerpoint/2010/main" val="889213381"/>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1026"/>
          <p:cNvSpPr>
            <a:spLocks noChangeArrowheads="1"/>
          </p:cNvSpPr>
          <p:nvPr/>
        </p:nvSpPr>
        <p:spPr bwMode="auto">
          <a:xfrm>
            <a:off x="1314450" y="2434930"/>
            <a:ext cx="2400300"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2100" b="1" dirty="0">
                <a:solidFill>
                  <a:srgbClr val="000099"/>
                </a:solidFill>
                <a:latin typeface="Times New Roman" panose="02020603050405020304" pitchFamily="18" charset="0"/>
                <a:cs typeface="Times New Roman" panose="02020603050405020304" pitchFamily="18" charset="0"/>
              </a:rPr>
              <a:t>Conventional </a:t>
            </a:r>
            <a:r>
              <a:rPr lang="en-US" sz="2100" b="1" dirty="0">
                <a:solidFill>
                  <a:srgbClr val="000099"/>
                </a:solidFill>
                <a:latin typeface="Times New Roman" panose="02020603050405020304" pitchFamily="18" charset="0"/>
                <a:cs typeface="Times New Roman" panose="02020603050405020304" pitchFamily="18" charset="0"/>
              </a:rPr>
              <a:t>Versus Vertical </a:t>
            </a:r>
            <a:br>
              <a:rPr lang="en-US" sz="2100" b="1" dirty="0">
                <a:solidFill>
                  <a:srgbClr val="000099"/>
                </a:solidFill>
                <a:latin typeface="Times New Roman" panose="02020603050405020304" pitchFamily="18" charset="0"/>
                <a:cs typeface="Times New Roman" panose="02020603050405020304" pitchFamily="18" charset="0"/>
              </a:rPr>
            </a:br>
            <a:r>
              <a:rPr lang="en-US" sz="2100" b="1" dirty="0">
                <a:solidFill>
                  <a:srgbClr val="000099"/>
                </a:solidFill>
                <a:latin typeface="Times New Roman" panose="02020603050405020304" pitchFamily="18" charset="0"/>
                <a:cs typeface="Times New Roman" panose="02020603050405020304" pitchFamily="18" charset="0"/>
              </a:rPr>
              <a:t>Marketing System</a:t>
            </a:r>
            <a:endParaRPr lang="en-US" sz="825" b="1" dirty="0">
              <a:solidFill>
                <a:srgbClr val="000099"/>
              </a:solidFill>
              <a:latin typeface="Times New Roman" panose="02020603050405020304" pitchFamily="18" charset="0"/>
              <a:cs typeface="Times New Roman" panose="02020603050405020304" pitchFamily="18" charset="0"/>
            </a:endParaRPr>
          </a:p>
        </p:txBody>
      </p:sp>
      <p:pic>
        <p:nvPicPr>
          <p:cNvPr id="360453" name="Picture 1029" descr="kotler+f13-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857250"/>
            <a:ext cx="4114800" cy="5225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1332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nodeType="afterEffect">
                                  <p:stCondLst>
                                    <p:cond delay="0"/>
                                  </p:stCondLst>
                                  <p:childTnLst>
                                    <p:set>
                                      <p:cBhvr>
                                        <p:cTn id="6" dur="1" fill="hold">
                                          <p:stCondLst>
                                            <p:cond delay="0"/>
                                          </p:stCondLst>
                                        </p:cTn>
                                        <p:tgtEl>
                                          <p:spTgt spid="360453"/>
                                        </p:tgtEl>
                                        <p:attrNameLst>
                                          <p:attrName>style.visibility</p:attrName>
                                        </p:attrNameLst>
                                      </p:cBhvr>
                                      <p:to>
                                        <p:strVal val="visible"/>
                                      </p:to>
                                    </p:set>
                                    <p:anim calcmode="lin" valueType="num">
                                      <p:cBhvr additive="base">
                                        <p:cTn id="7" dur="500" fill="hold"/>
                                        <p:tgtEl>
                                          <p:spTgt spid="360453"/>
                                        </p:tgtEl>
                                        <p:attrNameLst>
                                          <p:attrName>ppt_x</p:attrName>
                                        </p:attrNameLst>
                                      </p:cBhvr>
                                      <p:tavLst>
                                        <p:tav tm="0">
                                          <p:val>
                                            <p:strVal val="#ppt_x"/>
                                          </p:val>
                                        </p:tav>
                                        <p:tav tm="100000">
                                          <p:val>
                                            <p:strVal val="#ppt_x"/>
                                          </p:val>
                                        </p:tav>
                                      </p:tavLst>
                                    </p:anim>
                                    <p:anim calcmode="lin" valueType="num">
                                      <p:cBhvr additive="base">
                                        <p:cTn id="8" dur="500" fill="hold"/>
                                        <p:tgtEl>
                                          <p:spTgt spid="36045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493044" y="1094185"/>
            <a:ext cx="6172200" cy="457200"/>
          </a:xfrm>
        </p:spPr>
        <p:txBody>
          <a:bodyPr/>
          <a:lstStyle/>
          <a:p>
            <a:pPr eaLnBrk="1" hangingPunct="1"/>
            <a:r>
              <a:rPr lang="en-US" sz="3000" b="1" dirty="0">
                <a:solidFill>
                  <a:schemeClr val="bg2"/>
                </a:solidFill>
                <a:latin typeface="Times New Roman" pitchFamily="18" charset="0"/>
              </a:rPr>
              <a:t>Promotion</a:t>
            </a:r>
          </a:p>
        </p:txBody>
      </p:sp>
      <p:pic>
        <p:nvPicPr>
          <p:cNvPr id="5123" name="Picture 7" descr="http://www.mywbut.com/images/brandadd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3847" y="3679033"/>
            <a:ext cx="1828800" cy="182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3"/>
          <p:cNvSpPr>
            <a:spLocks noGrp="1" noChangeArrowheads="1"/>
          </p:cNvSpPr>
          <p:nvPr>
            <p:ph type="body" idx="1"/>
          </p:nvPr>
        </p:nvSpPr>
        <p:spPr>
          <a:xfrm>
            <a:off x="457201" y="1551386"/>
            <a:ext cx="5715000" cy="4249340"/>
          </a:xfrm>
        </p:spPr>
        <p:txBody>
          <a:bodyPr/>
          <a:lstStyle/>
          <a:p>
            <a:pPr eaLnBrk="1" hangingPunct="1">
              <a:lnSpc>
                <a:spcPct val="110000"/>
              </a:lnSpc>
              <a:spcBef>
                <a:spcPct val="50000"/>
              </a:spcBef>
              <a:buFont typeface="Wingdings" pitchFamily="2" charset="2"/>
              <a:buChar char="Ø"/>
            </a:pPr>
            <a:r>
              <a:rPr lang="en-US" b="1" dirty="0">
                <a:solidFill>
                  <a:schemeClr val="bg2"/>
                </a:solidFill>
                <a:latin typeface="Times New Roman" pitchFamily="18" charset="0"/>
                <a:cs typeface="Times New Roman" pitchFamily="18" charset="0"/>
              </a:rPr>
              <a:t>General Definition- </a:t>
            </a:r>
            <a:r>
              <a:rPr lang="en-US" dirty="0">
                <a:latin typeface="Times New Roman" pitchFamily="18" charset="0"/>
                <a:cs typeface="Times New Roman" pitchFamily="18" charset="0"/>
              </a:rPr>
              <a:t>activity that supports or encourages a cause, venture, or aim.</a:t>
            </a:r>
          </a:p>
          <a:p>
            <a:pPr marL="257175" lvl="1" indent="-257175" eaLnBrk="1" hangingPunct="1">
              <a:lnSpc>
                <a:spcPct val="110000"/>
              </a:lnSpc>
              <a:spcBef>
                <a:spcPct val="50000"/>
              </a:spcBef>
              <a:buClr>
                <a:schemeClr val="bg2"/>
              </a:buClr>
              <a:buSzPct val="75000"/>
              <a:buFont typeface="Wingdings" pitchFamily="2" charset="2"/>
              <a:buChar char="Ø"/>
            </a:pPr>
            <a:r>
              <a:rPr lang="en-US" sz="2400" dirty="0"/>
              <a:t>Promotion refers to the activities the firm takes to communicate the merits of its product to its target market</a:t>
            </a:r>
            <a:r>
              <a:rPr lang="en-US" sz="2400" dirty="0" smtClean="0"/>
              <a:t>.</a:t>
            </a:r>
            <a:r>
              <a:rPr lang="en-US" sz="2400" dirty="0"/>
              <a:t> </a:t>
            </a:r>
            <a:endParaRPr lang="en-US" sz="2400" dirty="0">
              <a:latin typeface="Times New Roman" pitchFamily="18" charset="0"/>
              <a:cs typeface="Times New Roman" pitchFamily="18" charset="0"/>
            </a:endParaRPr>
          </a:p>
          <a:p>
            <a:pPr eaLnBrk="1" hangingPunct="1">
              <a:lnSpc>
                <a:spcPct val="110000"/>
              </a:lnSpc>
              <a:spcBef>
                <a:spcPct val="50000"/>
              </a:spcBef>
              <a:buFont typeface="Wingdings" pitchFamily="2" charset="2"/>
              <a:buChar char="Ø"/>
            </a:pPr>
            <a:r>
              <a:rPr lang="en-US" dirty="0">
                <a:latin typeface="Times New Roman" pitchFamily="18" charset="0"/>
              </a:rPr>
              <a:t>Marketing activities to communicate positive, persuasive information about an organization, its products and its activities to a target audience to increase sales &amp; profit of organization.</a:t>
            </a:r>
          </a:p>
        </p:txBody>
      </p:sp>
      <p:pic>
        <p:nvPicPr>
          <p:cNvPr id="5125" name="Picture 9" descr="https://encrypted-tbn2.gstatic.com/images?q=tbn:ANd9GcSEr3luaqxBX531tJgLTLs0tx4hQY6KiRkrRL6HqG0vHOFix3QDH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6507" y="1657350"/>
            <a:ext cx="1664494"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619906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ChangeArrowheads="1"/>
          </p:cNvSpPr>
          <p:nvPr/>
        </p:nvSpPr>
        <p:spPr bwMode="auto">
          <a:xfrm rot="5400000">
            <a:off x="2206229" y="706041"/>
            <a:ext cx="800100" cy="3028951"/>
          </a:xfrm>
          <a:prstGeom prst="cube">
            <a:avLst>
              <a:gd name="adj" fmla="val 11657"/>
            </a:avLst>
          </a:prstGeom>
          <a:solidFill>
            <a:schemeClr val="accent3">
              <a:lumMod val="95000"/>
            </a:schemeClr>
          </a:solidFill>
          <a:ln w="12700">
            <a:solidFill>
              <a:schemeClr val="tx1"/>
            </a:solidFill>
            <a:miter lim="800000"/>
            <a:headEnd/>
            <a:tailEnd/>
          </a:ln>
          <a:effectLst>
            <a:outerShdw dist="89803" dir="2700000" algn="ctr" rotWithShape="0">
              <a:schemeClr val="tx1"/>
            </a:outerShdw>
          </a:effectLst>
        </p:spPr>
        <p:txBody>
          <a:bodyPr rot="10800000" vert="eaVert" wrap="none" lIns="63039" tIns="30986" rIns="63039" bIns="30986" anchor="ctr"/>
          <a:lstStyle>
            <a:lvl1pPr defTabSz="831850">
              <a:defRPr>
                <a:solidFill>
                  <a:schemeClr val="tx1"/>
                </a:solidFill>
                <a:latin typeface="Arial" panose="020B0604020202020204" pitchFamily="34" charset="0"/>
              </a:defRPr>
            </a:lvl1pPr>
            <a:lvl2pPr marL="415925" defTabSz="831850">
              <a:defRPr>
                <a:solidFill>
                  <a:schemeClr val="tx1"/>
                </a:solidFill>
                <a:latin typeface="Arial" panose="020B0604020202020204" pitchFamily="34" charset="0"/>
              </a:defRPr>
            </a:lvl2pPr>
            <a:lvl3pPr marL="831850" defTabSz="831850">
              <a:defRPr>
                <a:solidFill>
                  <a:schemeClr val="tx1"/>
                </a:solidFill>
                <a:latin typeface="Arial" panose="020B0604020202020204" pitchFamily="34" charset="0"/>
              </a:defRPr>
            </a:lvl3pPr>
            <a:lvl4pPr marL="1246188" defTabSz="831850">
              <a:defRPr>
                <a:solidFill>
                  <a:schemeClr val="tx1"/>
                </a:solidFill>
                <a:latin typeface="Arial" panose="020B0604020202020204" pitchFamily="34" charset="0"/>
              </a:defRPr>
            </a:lvl4pPr>
            <a:lvl5pPr marL="1660525" defTabSz="831850">
              <a:defRPr>
                <a:solidFill>
                  <a:schemeClr val="tx1"/>
                </a:solidFill>
                <a:latin typeface="Arial" panose="020B0604020202020204" pitchFamily="34" charset="0"/>
              </a:defRPr>
            </a:lvl5pPr>
            <a:lvl6pPr marL="2117725" defTabSz="831850" fontAlgn="base">
              <a:spcBef>
                <a:spcPct val="0"/>
              </a:spcBef>
              <a:spcAft>
                <a:spcPct val="0"/>
              </a:spcAft>
              <a:defRPr>
                <a:solidFill>
                  <a:schemeClr val="tx1"/>
                </a:solidFill>
                <a:latin typeface="Arial" panose="020B0604020202020204" pitchFamily="34" charset="0"/>
              </a:defRPr>
            </a:lvl6pPr>
            <a:lvl7pPr marL="2574925" defTabSz="831850" fontAlgn="base">
              <a:spcBef>
                <a:spcPct val="0"/>
              </a:spcBef>
              <a:spcAft>
                <a:spcPct val="0"/>
              </a:spcAft>
              <a:defRPr>
                <a:solidFill>
                  <a:schemeClr val="tx1"/>
                </a:solidFill>
                <a:latin typeface="Arial" panose="020B0604020202020204" pitchFamily="34" charset="0"/>
              </a:defRPr>
            </a:lvl7pPr>
            <a:lvl8pPr marL="3032125" defTabSz="831850" fontAlgn="base">
              <a:spcBef>
                <a:spcPct val="0"/>
              </a:spcBef>
              <a:spcAft>
                <a:spcPct val="0"/>
              </a:spcAft>
              <a:defRPr>
                <a:solidFill>
                  <a:schemeClr val="tx1"/>
                </a:solidFill>
                <a:latin typeface="Arial" panose="020B0604020202020204" pitchFamily="34" charset="0"/>
              </a:defRPr>
            </a:lvl8pPr>
            <a:lvl9pPr marL="3489325" defTabSz="831850" fontAlgn="base">
              <a:spcBef>
                <a:spcPct val="0"/>
              </a:spcBef>
              <a:spcAft>
                <a:spcPct val="0"/>
              </a:spcAft>
              <a:defRPr>
                <a:solidFill>
                  <a:schemeClr val="tx1"/>
                </a:solidFill>
                <a:latin typeface="Arial" panose="020B0604020202020204" pitchFamily="34" charset="0"/>
              </a:defRPr>
            </a:lvl9pPr>
          </a:lstStyle>
          <a:p>
            <a:pPr algn="ctr">
              <a:defRPr/>
            </a:pPr>
            <a:r>
              <a:rPr lang="en-US" sz="2100" b="1" dirty="0">
                <a:solidFill>
                  <a:srgbClr val="000000"/>
                </a:solidFill>
                <a:latin typeface="Times New Roman" panose="02020603050405020304" pitchFamily="18" charset="0"/>
                <a:cs typeface="Times New Roman" panose="02020603050405020304" pitchFamily="18" charset="0"/>
              </a:rPr>
              <a:t>Advertising</a:t>
            </a:r>
          </a:p>
        </p:txBody>
      </p:sp>
      <p:sp>
        <p:nvSpPr>
          <p:cNvPr id="32771" name="AutoShape 3"/>
          <p:cNvSpPr>
            <a:spLocks noChangeArrowheads="1"/>
          </p:cNvSpPr>
          <p:nvPr/>
        </p:nvSpPr>
        <p:spPr bwMode="auto">
          <a:xfrm rot="5400000">
            <a:off x="2245519" y="1581150"/>
            <a:ext cx="800100" cy="3028950"/>
          </a:xfrm>
          <a:prstGeom prst="cube">
            <a:avLst>
              <a:gd name="adj" fmla="val 11657"/>
            </a:avLst>
          </a:prstGeom>
          <a:solidFill>
            <a:schemeClr val="accent3">
              <a:lumMod val="95000"/>
            </a:schemeClr>
          </a:solidFill>
          <a:ln w="12700">
            <a:solidFill>
              <a:srgbClr val="000000"/>
            </a:solidFill>
            <a:miter lim="800000"/>
            <a:headEnd/>
            <a:tailEnd/>
          </a:ln>
          <a:effectLst>
            <a:outerShdw dist="89803" dir="2700000" algn="ctr" rotWithShape="0">
              <a:schemeClr val="tx1"/>
            </a:outerShdw>
          </a:effectLst>
        </p:spPr>
        <p:txBody>
          <a:bodyPr rot="10800000" vert="eaVert" wrap="none" lIns="63039" tIns="30986" rIns="63039" bIns="30986" anchor="ctr"/>
          <a:lstStyle>
            <a:lvl1pPr defTabSz="831850">
              <a:defRPr>
                <a:solidFill>
                  <a:schemeClr val="tx1"/>
                </a:solidFill>
                <a:latin typeface="Arial" panose="020B0604020202020204" pitchFamily="34" charset="0"/>
              </a:defRPr>
            </a:lvl1pPr>
            <a:lvl2pPr marL="415925" defTabSz="831850">
              <a:defRPr>
                <a:solidFill>
                  <a:schemeClr val="tx1"/>
                </a:solidFill>
                <a:latin typeface="Arial" panose="020B0604020202020204" pitchFamily="34" charset="0"/>
              </a:defRPr>
            </a:lvl2pPr>
            <a:lvl3pPr marL="831850" defTabSz="831850">
              <a:defRPr>
                <a:solidFill>
                  <a:schemeClr val="tx1"/>
                </a:solidFill>
                <a:latin typeface="Arial" panose="020B0604020202020204" pitchFamily="34" charset="0"/>
              </a:defRPr>
            </a:lvl3pPr>
            <a:lvl4pPr marL="1246188" defTabSz="831850">
              <a:defRPr>
                <a:solidFill>
                  <a:schemeClr val="tx1"/>
                </a:solidFill>
                <a:latin typeface="Arial" panose="020B0604020202020204" pitchFamily="34" charset="0"/>
              </a:defRPr>
            </a:lvl4pPr>
            <a:lvl5pPr marL="1660525" defTabSz="831850">
              <a:defRPr>
                <a:solidFill>
                  <a:schemeClr val="tx1"/>
                </a:solidFill>
                <a:latin typeface="Arial" panose="020B0604020202020204" pitchFamily="34" charset="0"/>
              </a:defRPr>
            </a:lvl5pPr>
            <a:lvl6pPr marL="2117725" defTabSz="831850" fontAlgn="base">
              <a:spcBef>
                <a:spcPct val="0"/>
              </a:spcBef>
              <a:spcAft>
                <a:spcPct val="0"/>
              </a:spcAft>
              <a:defRPr>
                <a:solidFill>
                  <a:schemeClr val="tx1"/>
                </a:solidFill>
                <a:latin typeface="Arial" panose="020B0604020202020204" pitchFamily="34" charset="0"/>
              </a:defRPr>
            </a:lvl6pPr>
            <a:lvl7pPr marL="2574925" defTabSz="831850" fontAlgn="base">
              <a:spcBef>
                <a:spcPct val="0"/>
              </a:spcBef>
              <a:spcAft>
                <a:spcPct val="0"/>
              </a:spcAft>
              <a:defRPr>
                <a:solidFill>
                  <a:schemeClr val="tx1"/>
                </a:solidFill>
                <a:latin typeface="Arial" panose="020B0604020202020204" pitchFamily="34" charset="0"/>
              </a:defRPr>
            </a:lvl7pPr>
            <a:lvl8pPr marL="3032125" defTabSz="831850" fontAlgn="base">
              <a:spcBef>
                <a:spcPct val="0"/>
              </a:spcBef>
              <a:spcAft>
                <a:spcPct val="0"/>
              </a:spcAft>
              <a:defRPr>
                <a:solidFill>
                  <a:schemeClr val="tx1"/>
                </a:solidFill>
                <a:latin typeface="Arial" panose="020B0604020202020204" pitchFamily="34" charset="0"/>
              </a:defRPr>
            </a:lvl8pPr>
            <a:lvl9pPr marL="3489325" defTabSz="831850" fontAlgn="base">
              <a:spcBef>
                <a:spcPct val="0"/>
              </a:spcBef>
              <a:spcAft>
                <a:spcPct val="0"/>
              </a:spcAft>
              <a:defRPr>
                <a:solidFill>
                  <a:schemeClr val="tx1"/>
                </a:solidFill>
                <a:latin typeface="Arial" panose="020B0604020202020204" pitchFamily="34" charset="0"/>
              </a:defRPr>
            </a:lvl9pPr>
          </a:lstStyle>
          <a:p>
            <a:pPr algn="ctr">
              <a:defRPr/>
            </a:pPr>
            <a:r>
              <a:rPr lang="en-US" sz="2100" b="1">
                <a:solidFill>
                  <a:srgbClr val="000000"/>
                </a:solidFill>
                <a:latin typeface="Times New Roman" panose="02020603050405020304" pitchFamily="18" charset="0"/>
                <a:cs typeface="Times New Roman" panose="02020603050405020304" pitchFamily="18" charset="0"/>
              </a:rPr>
              <a:t>Personal Selling</a:t>
            </a:r>
          </a:p>
        </p:txBody>
      </p:sp>
      <p:sp>
        <p:nvSpPr>
          <p:cNvPr id="32772" name="AutoShape 4"/>
          <p:cNvSpPr>
            <a:spLocks noChangeArrowheads="1"/>
          </p:cNvSpPr>
          <p:nvPr/>
        </p:nvSpPr>
        <p:spPr bwMode="auto">
          <a:xfrm rot="5400000">
            <a:off x="2302669" y="2421731"/>
            <a:ext cx="742950" cy="3062288"/>
          </a:xfrm>
          <a:prstGeom prst="cube">
            <a:avLst>
              <a:gd name="adj" fmla="val 11657"/>
            </a:avLst>
          </a:prstGeom>
          <a:solidFill>
            <a:schemeClr val="accent3">
              <a:lumMod val="95000"/>
            </a:schemeClr>
          </a:solidFill>
          <a:ln w="12700">
            <a:solidFill>
              <a:srgbClr val="000000"/>
            </a:solidFill>
            <a:miter lim="800000"/>
            <a:headEnd/>
            <a:tailEnd/>
          </a:ln>
          <a:effectLst>
            <a:outerShdw dist="89803" dir="2700000" algn="ctr" rotWithShape="0">
              <a:schemeClr val="tx1"/>
            </a:outerShdw>
          </a:effectLst>
        </p:spPr>
        <p:txBody>
          <a:bodyPr wrap="none" anchor="ctr"/>
          <a:lstStyle/>
          <a:p>
            <a:pPr>
              <a:defRPr/>
            </a:pPr>
            <a:endParaRPr lang="en-US" sz="2100" b="1">
              <a:latin typeface="Times New Roman" panose="02020603050405020304" pitchFamily="18" charset="0"/>
              <a:cs typeface="Times New Roman" panose="02020603050405020304" pitchFamily="18" charset="0"/>
            </a:endParaRPr>
          </a:p>
        </p:txBody>
      </p:sp>
      <p:sp>
        <p:nvSpPr>
          <p:cNvPr id="6149" name="AutoShape 5"/>
          <p:cNvSpPr>
            <a:spLocks noChangeArrowheads="1"/>
          </p:cNvSpPr>
          <p:nvPr/>
        </p:nvSpPr>
        <p:spPr bwMode="auto">
          <a:xfrm>
            <a:off x="4220767" y="2087166"/>
            <a:ext cx="435769" cy="400050"/>
          </a:xfrm>
          <a:prstGeom prst="rightArrow">
            <a:avLst>
              <a:gd name="adj1" fmla="val 50000"/>
              <a:gd name="adj2" fmla="val 54479"/>
            </a:avLst>
          </a:prstGeom>
          <a:solidFill>
            <a:schemeClr val="bg2"/>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sz="1350">
              <a:latin typeface="Times New Roman" panose="02020603050405020304" pitchFamily="18" charset="0"/>
              <a:cs typeface="Times New Roman" panose="02020603050405020304" pitchFamily="18" charset="0"/>
            </a:endParaRPr>
          </a:p>
        </p:txBody>
      </p:sp>
      <p:sp>
        <p:nvSpPr>
          <p:cNvPr id="6150" name="AutoShape 6"/>
          <p:cNvSpPr>
            <a:spLocks noChangeArrowheads="1"/>
          </p:cNvSpPr>
          <p:nvPr/>
        </p:nvSpPr>
        <p:spPr bwMode="auto">
          <a:xfrm>
            <a:off x="4189811" y="2952750"/>
            <a:ext cx="435769" cy="400050"/>
          </a:xfrm>
          <a:prstGeom prst="rightArrow">
            <a:avLst>
              <a:gd name="adj1" fmla="val 50000"/>
              <a:gd name="adj2" fmla="val 54479"/>
            </a:avLst>
          </a:prstGeom>
          <a:solidFill>
            <a:schemeClr val="bg2"/>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sz="1350">
              <a:latin typeface="Times New Roman" panose="02020603050405020304" pitchFamily="18" charset="0"/>
              <a:cs typeface="Times New Roman" panose="02020603050405020304" pitchFamily="18" charset="0"/>
            </a:endParaRPr>
          </a:p>
        </p:txBody>
      </p:sp>
      <p:sp>
        <p:nvSpPr>
          <p:cNvPr id="32775" name="AutoShape 7"/>
          <p:cNvSpPr>
            <a:spLocks noChangeArrowheads="1"/>
          </p:cNvSpPr>
          <p:nvPr/>
        </p:nvSpPr>
        <p:spPr bwMode="auto">
          <a:xfrm rot="5400000">
            <a:off x="2343150" y="3170635"/>
            <a:ext cx="685800" cy="3086100"/>
          </a:xfrm>
          <a:prstGeom prst="cube">
            <a:avLst>
              <a:gd name="adj" fmla="val 11657"/>
            </a:avLst>
          </a:prstGeom>
          <a:solidFill>
            <a:schemeClr val="accent3">
              <a:lumMod val="95000"/>
            </a:schemeClr>
          </a:solidFill>
          <a:ln w="12700">
            <a:solidFill>
              <a:srgbClr val="000000"/>
            </a:solidFill>
            <a:miter lim="800000"/>
            <a:headEnd/>
            <a:tailEnd/>
          </a:ln>
          <a:effectLst>
            <a:outerShdw dist="89803" dir="2700000" algn="ctr" rotWithShape="0">
              <a:schemeClr val="tx1"/>
            </a:outerShdw>
          </a:effectLst>
        </p:spPr>
        <p:txBody>
          <a:bodyPr wrap="none" anchor="ctr"/>
          <a:lstStyle/>
          <a:p>
            <a:pPr>
              <a:defRPr/>
            </a:pPr>
            <a:endParaRPr lang="en-US" sz="2100" b="1">
              <a:latin typeface="Times New Roman" panose="02020603050405020304" pitchFamily="18" charset="0"/>
              <a:cs typeface="Times New Roman" panose="02020603050405020304" pitchFamily="18" charset="0"/>
            </a:endParaRPr>
          </a:p>
        </p:txBody>
      </p:sp>
      <p:sp>
        <p:nvSpPr>
          <p:cNvPr id="32776" name="AutoShape 8"/>
          <p:cNvSpPr>
            <a:spLocks noChangeArrowheads="1"/>
          </p:cNvSpPr>
          <p:nvPr/>
        </p:nvSpPr>
        <p:spPr bwMode="auto">
          <a:xfrm rot="5400000">
            <a:off x="2245519" y="3999310"/>
            <a:ext cx="857250" cy="3086100"/>
          </a:xfrm>
          <a:prstGeom prst="cube">
            <a:avLst>
              <a:gd name="adj" fmla="val 11657"/>
            </a:avLst>
          </a:prstGeom>
          <a:solidFill>
            <a:schemeClr val="accent3">
              <a:lumMod val="95000"/>
            </a:schemeClr>
          </a:solidFill>
          <a:ln w="12700">
            <a:solidFill>
              <a:srgbClr val="000000"/>
            </a:solidFill>
            <a:miter lim="800000"/>
            <a:headEnd/>
            <a:tailEnd/>
          </a:ln>
          <a:effectLst>
            <a:outerShdw dist="89803" dir="2700000" algn="ctr" rotWithShape="0">
              <a:schemeClr val="tx1"/>
            </a:outerShdw>
          </a:effectLst>
        </p:spPr>
        <p:txBody>
          <a:bodyPr wrap="none" anchor="ctr"/>
          <a:lstStyle/>
          <a:p>
            <a:pPr>
              <a:defRPr/>
            </a:pPr>
            <a:endParaRPr lang="en-US" sz="2100" b="1">
              <a:latin typeface="Times New Roman" panose="02020603050405020304" pitchFamily="18" charset="0"/>
              <a:cs typeface="Times New Roman" panose="02020603050405020304" pitchFamily="18" charset="0"/>
            </a:endParaRPr>
          </a:p>
        </p:txBody>
      </p:sp>
      <p:sp>
        <p:nvSpPr>
          <p:cNvPr id="6153" name="AutoShape 9"/>
          <p:cNvSpPr>
            <a:spLocks noChangeArrowheads="1"/>
          </p:cNvSpPr>
          <p:nvPr/>
        </p:nvSpPr>
        <p:spPr bwMode="auto">
          <a:xfrm>
            <a:off x="4229101" y="3775472"/>
            <a:ext cx="469106" cy="400050"/>
          </a:xfrm>
          <a:prstGeom prst="rightArrow">
            <a:avLst>
              <a:gd name="adj1" fmla="val 50000"/>
              <a:gd name="adj2" fmla="val 58647"/>
            </a:avLst>
          </a:prstGeom>
          <a:solidFill>
            <a:schemeClr val="bg2"/>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sz="1350">
              <a:latin typeface="Times New Roman" panose="02020603050405020304" pitchFamily="18" charset="0"/>
              <a:cs typeface="Times New Roman" panose="02020603050405020304" pitchFamily="18" charset="0"/>
            </a:endParaRPr>
          </a:p>
        </p:txBody>
      </p:sp>
      <p:sp>
        <p:nvSpPr>
          <p:cNvPr id="6154" name="AutoShape 10"/>
          <p:cNvSpPr>
            <a:spLocks noChangeArrowheads="1"/>
          </p:cNvSpPr>
          <p:nvPr/>
        </p:nvSpPr>
        <p:spPr bwMode="auto">
          <a:xfrm>
            <a:off x="4114800" y="5342335"/>
            <a:ext cx="628650" cy="400050"/>
          </a:xfrm>
          <a:prstGeom prst="rightArrow">
            <a:avLst>
              <a:gd name="adj1" fmla="val 50000"/>
              <a:gd name="adj2" fmla="val 78593"/>
            </a:avLst>
          </a:prstGeom>
          <a:solidFill>
            <a:schemeClr val="bg2"/>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sz="1350">
              <a:latin typeface="Times New Roman" panose="02020603050405020304" pitchFamily="18" charset="0"/>
              <a:cs typeface="Times New Roman" panose="02020603050405020304" pitchFamily="18" charset="0"/>
            </a:endParaRPr>
          </a:p>
        </p:txBody>
      </p:sp>
      <p:sp>
        <p:nvSpPr>
          <p:cNvPr id="6155" name="Rectangle 11"/>
          <p:cNvSpPr>
            <a:spLocks noChangeArrowheads="1"/>
          </p:cNvSpPr>
          <p:nvPr/>
        </p:nvSpPr>
        <p:spPr bwMode="auto">
          <a:xfrm>
            <a:off x="4686301" y="1891904"/>
            <a:ext cx="3245644" cy="808315"/>
          </a:xfrm>
          <a:prstGeom prst="rect">
            <a:avLst/>
          </a:prstGeom>
          <a:solidFill>
            <a:schemeClr val="folHlink"/>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lIns="60903" tIns="29917" rIns="60903" bIns="29917">
            <a:spAutoFit/>
          </a:bodyPr>
          <a:lstStyle>
            <a:lvl1pPr defTabSz="8207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defTabSz="8207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defTabSz="8207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defTabSz="8207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defTabSz="8207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nSpc>
                <a:spcPct val="90000"/>
              </a:lnSpc>
              <a:spcBef>
                <a:spcPct val="50000"/>
              </a:spcBef>
              <a:buClrTx/>
              <a:buSzTx/>
              <a:buFontTx/>
              <a:buNone/>
            </a:pPr>
            <a:r>
              <a:rPr lang="en-US" sz="1800">
                <a:latin typeface="Times New Roman" panose="02020603050405020304" pitchFamily="18" charset="0"/>
                <a:cs typeface="Times New Roman" panose="02020603050405020304" pitchFamily="18" charset="0"/>
              </a:rPr>
              <a:t>Any Paid Form of Non-personal Presentation by an Identified Sponsor.</a:t>
            </a:r>
          </a:p>
        </p:txBody>
      </p:sp>
      <p:sp>
        <p:nvSpPr>
          <p:cNvPr id="32780" name="Rectangle 12"/>
          <p:cNvSpPr>
            <a:spLocks noChangeArrowheads="1"/>
          </p:cNvSpPr>
          <p:nvPr/>
        </p:nvSpPr>
        <p:spPr bwMode="auto">
          <a:xfrm>
            <a:off x="1229916" y="3790951"/>
            <a:ext cx="2786063" cy="351267"/>
          </a:xfrm>
          <a:prstGeom prst="rect">
            <a:avLst/>
          </a:prstGeom>
          <a:solidFill>
            <a:schemeClr val="accent3">
              <a:lumMod val="95000"/>
            </a:schemeClr>
          </a:solidFill>
          <a:ln>
            <a:noFill/>
          </a:ln>
          <a:effectLst/>
        </p:spPr>
        <p:txBody>
          <a:bodyPr lIns="60903" tIns="29917" rIns="60903" bIns="29917">
            <a:spAutoFit/>
          </a:bodyPr>
          <a:lstStyle>
            <a:lvl1pPr defTabSz="820738">
              <a:defRPr>
                <a:solidFill>
                  <a:schemeClr val="tx1"/>
                </a:solidFill>
                <a:latin typeface="Arial" panose="020B0604020202020204" pitchFamily="34" charset="0"/>
              </a:defRPr>
            </a:lvl1pPr>
            <a:lvl2pPr marL="409575" defTabSz="820738">
              <a:defRPr>
                <a:solidFill>
                  <a:schemeClr val="tx1"/>
                </a:solidFill>
                <a:latin typeface="Arial" panose="020B0604020202020204" pitchFamily="34" charset="0"/>
              </a:defRPr>
            </a:lvl2pPr>
            <a:lvl3pPr marL="820738" defTabSz="820738">
              <a:defRPr>
                <a:solidFill>
                  <a:schemeClr val="tx1"/>
                </a:solidFill>
                <a:latin typeface="Arial" panose="020B0604020202020204" pitchFamily="34" charset="0"/>
              </a:defRPr>
            </a:lvl3pPr>
            <a:lvl4pPr marL="1230313" defTabSz="820738">
              <a:defRPr>
                <a:solidFill>
                  <a:schemeClr val="tx1"/>
                </a:solidFill>
                <a:latin typeface="Arial" panose="020B0604020202020204" pitchFamily="34" charset="0"/>
              </a:defRPr>
            </a:lvl4pPr>
            <a:lvl5pPr marL="1641475" defTabSz="820738">
              <a:defRPr>
                <a:solidFill>
                  <a:schemeClr val="tx1"/>
                </a:solidFill>
                <a:latin typeface="Arial" panose="020B0604020202020204" pitchFamily="34" charset="0"/>
              </a:defRPr>
            </a:lvl5pPr>
            <a:lvl6pPr marL="2098675" defTabSz="820738" fontAlgn="base">
              <a:spcBef>
                <a:spcPct val="0"/>
              </a:spcBef>
              <a:spcAft>
                <a:spcPct val="0"/>
              </a:spcAft>
              <a:defRPr>
                <a:solidFill>
                  <a:schemeClr val="tx1"/>
                </a:solidFill>
                <a:latin typeface="Arial" panose="020B0604020202020204" pitchFamily="34" charset="0"/>
              </a:defRPr>
            </a:lvl6pPr>
            <a:lvl7pPr marL="2555875" defTabSz="820738" fontAlgn="base">
              <a:spcBef>
                <a:spcPct val="0"/>
              </a:spcBef>
              <a:spcAft>
                <a:spcPct val="0"/>
              </a:spcAft>
              <a:defRPr>
                <a:solidFill>
                  <a:schemeClr val="tx1"/>
                </a:solidFill>
                <a:latin typeface="Arial" panose="020B0604020202020204" pitchFamily="34" charset="0"/>
              </a:defRPr>
            </a:lvl7pPr>
            <a:lvl8pPr marL="3013075" defTabSz="820738" fontAlgn="base">
              <a:spcBef>
                <a:spcPct val="0"/>
              </a:spcBef>
              <a:spcAft>
                <a:spcPct val="0"/>
              </a:spcAft>
              <a:defRPr>
                <a:solidFill>
                  <a:schemeClr val="tx1"/>
                </a:solidFill>
                <a:latin typeface="Arial" panose="020B0604020202020204" pitchFamily="34" charset="0"/>
              </a:defRPr>
            </a:lvl8pPr>
            <a:lvl9pPr marL="3470275" defTabSz="820738" fontAlgn="base">
              <a:spcBef>
                <a:spcPct val="0"/>
              </a:spcBef>
              <a:spcAft>
                <a:spcPct val="0"/>
              </a:spcAft>
              <a:defRPr>
                <a:solidFill>
                  <a:schemeClr val="tx1"/>
                </a:solidFill>
                <a:latin typeface="Arial" panose="020B0604020202020204" pitchFamily="34" charset="0"/>
              </a:defRPr>
            </a:lvl9pPr>
          </a:lstStyle>
          <a:p>
            <a:pPr algn="ctr">
              <a:lnSpc>
                <a:spcPct val="90000"/>
              </a:lnSpc>
              <a:spcBef>
                <a:spcPct val="50000"/>
              </a:spcBef>
              <a:defRPr/>
            </a:pPr>
            <a:r>
              <a:rPr lang="en-US" sz="2100" b="1">
                <a:latin typeface="Times New Roman" panose="02020603050405020304" pitchFamily="18" charset="0"/>
                <a:cs typeface="Times New Roman" panose="02020603050405020304" pitchFamily="18" charset="0"/>
              </a:rPr>
              <a:t>Sales Promotion</a:t>
            </a:r>
          </a:p>
        </p:txBody>
      </p:sp>
      <p:sp>
        <p:nvSpPr>
          <p:cNvPr id="6157" name="Rectangle 13"/>
          <p:cNvSpPr>
            <a:spLocks noChangeArrowheads="1"/>
          </p:cNvSpPr>
          <p:nvPr/>
        </p:nvSpPr>
        <p:spPr bwMode="auto">
          <a:xfrm>
            <a:off x="4743450" y="3695701"/>
            <a:ext cx="3257550" cy="559016"/>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0903" tIns="29917" rIns="60903" bIns="29917">
            <a:spAutoFit/>
          </a:bodyPr>
          <a:lstStyle>
            <a:lvl1pPr defTabSz="8207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defTabSz="8207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defTabSz="8207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defTabSz="8207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defTabSz="8207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nSpc>
                <a:spcPct val="90000"/>
              </a:lnSpc>
              <a:spcBef>
                <a:spcPct val="50000"/>
              </a:spcBef>
              <a:buClrTx/>
              <a:buSzTx/>
              <a:buFontTx/>
              <a:buNone/>
            </a:pPr>
            <a:r>
              <a:rPr lang="en-US" sz="1800">
                <a:latin typeface="Times New Roman" panose="02020603050405020304" pitchFamily="18" charset="0"/>
                <a:cs typeface="Times New Roman" panose="02020603050405020304" pitchFamily="18" charset="0"/>
              </a:rPr>
              <a:t>Short-term Incentives to Encourage Sales.</a:t>
            </a:r>
          </a:p>
        </p:txBody>
      </p:sp>
      <p:sp>
        <p:nvSpPr>
          <p:cNvPr id="32782" name="Rectangle 14"/>
          <p:cNvSpPr>
            <a:spLocks noChangeArrowheads="1"/>
          </p:cNvSpPr>
          <p:nvPr/>
        </p:nvSpPr>
        <p:spPr bwMode="auto">
          <a:xfrm>
            <a:off x="1177529" y="4544616"/>
            <a:ext cx="2857500" cy="351267"/>
          </a:xfrm>
          <a:prstGeom prst="rect">
            <a:avLst/>
          </a:prstGeom>
          <a:solidFill>
            <a:schemeClr val="accent3">
              <a:lumMod val="95000"/>
            </a:schemeClr>
          </a:solidFill>
          <a:ln>
            <a:noFill/>
          </a:ln>
          <a:effectLst/>
        </p:spPr>
        <p:txBody>
          <a:bodyPr lIns="60903" tIns="29917" rIns="60903" bIns="29917">
            <a:spAutoFit/>
          </a:bodyPr>
          <a:lstStyle>
            <a:lvl1pPr defTabSz="820738">
              <a:defRPr>
                <a:solidFill>
                  <a:schemeClr val="tx1"/>
                </a:solidFill>
                <a:latin typeface="Arial" panose="020B0604020202020204" pitchFamily="34" charset="0"/>
              </a:defRPr>
            </a:lvl1pPr>
            <a:lvl2pPr marL="409575" defTabSz="820738">
              <a:defRPr>
                <a:solidFill>
                  <a:schemeClr val="tx1"/>
                </a:solidFill>
                <a:latin typeface="Arial" panose="020B0604020202020204" pitchFamily="34" charset="0"/>
              </a:defRPr>
            </a:lvl2pPr>
            <a:lvl3pPr marL="820738" defTabSz="820738">
              <a:defRPr>
                <a:solidFill>
                  <a:schemeClr val="tx1"/>
                </a:solidFill>
                <a:latin typeface="Arial" panose="020B0604020202020204" pitchFamily="34" charset="0"/>
              </a:defRPr>
            </a:lvl3pPr>
            <a:lvl4pPr marL="1230313" defTabSz="820738">
              <a:defRPr>
                <a:solidFill>
                  <a:schemeClr val="tx1"/>
                </a:solidFill>
                <a:latin typeface="Arial" panose="020B0604020202020204" pitchFamily="34" charset="0"/>
              </a:defRPr>
            </a:lvl4pPr>
            <a:lvl5pPr marL="1641475" defTabSz="820738">
              <a:defRPr>
                <a:solidFill>
                  <a:schemeClr val="tx1"/>
                </a:solidFill>
                <a:latin typeface="Arial" panose="020B0604020202020204" pitchFamily="34" charset="0"/>
              </a:defRPr>
            </a:lvl5pPr>
            <a:lvl6pPr marL="2098675" defTabSz="820738" fontAlgn="base">
              <a:spcBef>
                <a:spcPct val="0"/>
              </a:spcBef>
              <a:spcAft>
                <a:spcPct val="0"/>
              </a:spcAft>
              <a:defRPr>
                <a:solidFill>
                  <a:schemeClr val="tx1"/>
                </a:solidFill>
                <a:latin typeface="Arial" panose="020B0604020202020204" pitchFamily="34" charset="0"/>
              </a:defRPr>
            </a:lvl6pPr>
            <a:lvl7pPr marL="2555875" defTabSz="820738" fontAlgn="base">
              <a:spcBef>
                <a:spcPct val="0"/>
              </a:spcBef>
              <a:spcAft>
                <a:spcPct val="0"/>
              </a:spcAft>
              <a:defRPr>
                <a:solidFill>
                  <a:schemeClr val="tx1"/>
                </a:solidFill>
                <a:latin typeface="Arial" panose="020B0604020202020204" pitchFamily="34" charset="0"/>
              </a:defRPr>
            </a:lvl7pPr>
            <a:lvl8pPr marL="3013075" defTabSz="820738" fontAlgn="base">
              <a:spcBef>
                <a:spcPct val="0"/>
              </a:spcBef>
              <a:spcAft>
                <a:spcPct val="0"/>
              </a:spcAft>
              <a:defRPr>
                <a:solidFill>
                  <a:schemeClr val="tx1"/>
                </a:solidFill>
                <a:latin typeface="Arial" panose="020B0604020202020204" pitchFamily="34" charset="0"/>
              </a:defRPr>
            </a:lvl8pPr>
            <a:lvl9pPr marL="3470275" defTabSz="820738" fontAlgn="base">
              <a:spcBef>
                <a:spcPct val="0"/>
              </a:spcBef>
              <a:spcAft>
                <a:spcPct val="0"/>
              </a:spcAft>
              <a:defRPr>
                <a:solidFill>
                  <a:schemeClr val="tx1"/>
                </a:solidFill>
                <a:latin typeface="Arial" panose="020B0604020202020204" pitchFamily="34" charset="0"/>
              </a:defRPr>
            </a:lvl9pPr>
          </a:lstStyle>
          <a:p>
            <a:pPr algn="ctr">
              <a:lnSpc>
                <a:spcPct val="90000"/>
              </a:lnSpc>
              <a:spcBef>
                <a:spcPct val="50000"/>
              </a:spcBef>
              <a:defRPr/>
            </a:pPr>
            <a:r>
              <a:rPr lang="en-US" sz="2100" b="1" dirty="0">
                <a:latin typeface="Times New Roman" panose="02020603050405020304" pitchFamily="18" charset="0"/>
                <a:cs typeface="Times New Roman" panose="02020603050405020304" pitchFamily="18" charset="0"/>
              </a:rPr>
              <a:t>Public Relations</a:t>
            </a:r>
          </a:p>
        </p:txBody>
      </p:sp>
      <p:sp>
        <p:nvSpPr>
          <p:cNvPr id="6159" name="Rectangle 15"/>
          <p:cNvSpPr>
            <a:spLocks noChangeArrowheads="1"/>
          </p:cNvSpPr>
          <p:nvPr/>
        </p:nvSpPr>
        <p:spPr bwMode="auto">
          <a:xfrm>
            <a:off x="4686300" y="4308873"/>
            <a:ext cx="3314700" cy="808315"/>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0903" tIns="29917" rIns="60903" bIns="29917">
            <a:spAutoFit/>
          </a:bodyPr>
          <a:lstStyle>
            <a:lvl1pPr defTabSz="8207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defTabSz="8207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defTabSz="8207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defTabSz="8207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defTabSz="8207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nSpc>
                <a:spcPct val="90000"/>
              </a:lnSpc>
              <a:spcBef>
                <a:spcPct val="50000"/>
              </a:spcBef>
              <a:buClrTx/>
              <a:buSzTx/>
              <a:buFontTx/>
              <a:buNone/>
            </a:pPr>
            <a:r>
              <a:rPr lang="en-US" sz="1800">
                <a:latin typeface="Times New Roman" panose="02020603050405020304" pitchFamily="18" charset="0"/>
                <a:cs typeface="Times New Roman" panose="02020603050405020304" pitchFamily="18" charset="0"/>
              </a:rPr>
              <a:t>Building Good Relations with Various Publics by Obtaining Favorable Unpaid Publicity.</a:t>
            </a:r>
          </a:p>
        </p:txBody>
      </p:sp>
      <p:sp>
        <p:nvSpPr>
          <p:cNvPr id="32784" name="Rectangle 16"/>
          <p:cNvSpPr>
            <a:spLocks noChangeArrowheads="1"/>
          </p:cNvSpPr>
          <p:nvPr/>
        </p:nvSpPr>
        <p:spPr bwMode="auto">
          <a:xfrm>
            <a:off x="1194197" y="5313760"/>
            <a:ext cx="2857500" cy="351267"/>
          </a:xfrm>
          <a:prstGeom prst="rect">
            <a:avLst/>
          </a:prstGeom>
          <a:solidFill>
            <a:schemeClr val="accent3">
              <a:lumMod val="95000"/>
            </a:schemeClr>
          </a:solidFill>
          <a:ln>
            <a:noFill/>
          </a:ln>
          <a:effectLst/>
        </p:spPr>
        <p:txBody>
          <a:bodyPr lIns="60903" tIns="29917" rIns="60903" bIns="29917">
            <a:spAutoFit/>
          </a:bodyPr>
          <a:lstStyle>
            <a:lvl1pPr defTabSz="820738">
              <a:defRPr>
                <a:solidFill>
                  <a:schemeClr val="tx1"/>
                </a:solidFill>
                <a:latin typeface="Arial" panose="020B0604020202020204" pitchFamily="34" charset="0"/>
              </a:defRPr>
            </a:lvl1pPr>
            <a:lvl2pPr marL="409575" defTabSz="820738">
              <a:defRPr>
                <a:solidFill>
                  <a:schemeClr val="tx1"/>
                </a:solidFill>
                <a:latin typeface="Arial" panose="020B0604020202020204" pitchFamily="34" charset="0"/>
              </a:defRPr>
            </a:lvl2pPr>
            <a:lvl3pPr marL="820738" defTabSz="820738">
              <a:defRPr>
                <a:solidFill>
                  <a:schemeClr val="tx1"/>
                </a:solidFill>
                <a:latin typeface="Arial" panose="020B0604020202020204" pitchFamily="34" charset="0"/>
              </a:defRPr>
            </a:lvl3pPr>
            <a:lvl4pPr marL="1230313" defTabSz="820738">
              <a:defRPr>
                <a:solidFill>
                  <a:schemeClr val="tx1"/>
                </a:solidFill>
                <a:latin typeface="Arial" panose="020B0604020202020204" pitchFamily="34" charset="0"/>
              </a:defRPr>
            </a:lvl4pPr>
            <a:lvl5pPr marL="1641475" defTabSz="820738">
              <a:defRPr>
                <a:solidFill>
                  <a:schemeClr val="tx1"/>
                </a:solidFill>
                <a:latin typeface="Arial" panose="020B0604020202020204" pitchFamily="34" charset="0"/>
              </a:defRPr>
            </a:lvl5pPr>
            <a:lvl6pPr marL="2098675" defTabSz="820738" fontAlgn="base">
              <a:spcBef>
                <a:spcPct val="0"/>
              </a:spcBef>
              <a:spcAft>
                <a:spcPct val="0"/>
              </a:spcAft>
              <a:defRPr>
                <a:solidFill>
                  <a:schemeClr val="tx1"/>
                </a:solidFill>
                <a:latin typeface="Arial" panose="020B0604020202020204" pitchFamily="34" charset="0"/>
              </a:defRPr>
            </a:lvl6pPr>
            <a:lvl7pPr marL="2555875" defTabSz="820738" fontAlgn="base">
              <a:spcBef>
                <a:spcPct val="0"/>
              </a:spcBef>
              <a:spcAft>
                <a:spcPct val="0"/>
              </a:spcAft>
              <a:defRPr>
                <a:solidFill>
                  <a:schemeClr val="tx1"/>
                </a:solidFill>
                <a:latin typeface="Arial" panose="020B0604020202020204" pitchFamily="34" charset="0"/>
              </a:defRPr>
            </a:lvl7pPr>
            <a:lvl8pPr marL="3013075" defTabSz="820738" fontAlgn="base">
              <a:spcBef>
                <a:spcPct val="0"/>
              </a:spcBef>
              <a:spcAft>
                <a:spcPct val="0"/>
              </a:spcAft>
              <a:defRPr>
                <a:solidFill>
                  <a:schemeClr val="tx1"/>
                </a:solidFill>
                <a:latin typeface="Arial" panose="020B0604020202020204" pitchFamily="34" charset="0"/>
              </a:defRPr>
            </a:lvl8pPr>
            <a:lvl9pPr marL="3470275" defTabSz="820738" fontAlgn="base">
              <a:spcBef>
                <a:spcPct val="0"/>
              </a:spcBef>
              <a:spcAft>
                <a:spcPct val="0"/>
              </a:spcAft>
              <a:defRPr>
                <a:solidFill>
                  <a:schemeClr val="tx1"/>
                </a:solidFill>
                <a:latin typeface="Arial" panose="020B0604020202020204" pitchFamily="34" charset="0"/>
              </a:defRPr>
            </a:lvl9pPr>
          </a:lstStyle>
          <a:p>
            <a:pPr algn="ctr">
              <a:lnSpc>
                <a:spcPct val="90000"/>
              </a:lnSpc>
              <a:spcBef>
                <a:spcPct val="50000"/>
              </a:spcBef>
              <a:defRPr/>
            </a:pPr>
            <a:r>
              <a:rPr lang="en-US" sz="2100" b="1">
                <a:latin typeface="Times New Roman" panose="02020603050405020304" pitchFamily="18" charset="0"/>
                <a:cs typeface="Times New Roman" panose="02020603050405020304" pitchFamily="18" charset="0"/>
              </a:rPr>
              <a:t>Direct Marketing</a:t>
            </a:r>
          </a:p>
        </p:txBody>
      </p:sp>
      <p:sp>
        <p:nvSpPr>
          <p:cNvPr id="6161" name="Rectangle 17"/>
          <p:cNvSpPr>
            <a:spLocks noChangeArrowheads="1"/>
          </p:cNvSpPr>
          <p:nvPr/>
        </p:nvSpPr>
        <p:spPr bwMode="auto">
          <a:xfrm>
            <a:off x="4743450" y="5162551"/>
            <a:ext cx="3257550" cy="808315"/>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0903" tIns="29917" rIns="60903" bIns="29917">
            <a:spAutoFit/>
          </a:bodyPr>
          <a:lstStyle>
            <a:lvl1pPr defTabSz="8207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defTabSz="8207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defTabSz="8207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defTabSz="8207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defTabSz="8207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nSpc>
                <a:spcPct val="90000"/>
              </a:lnSpc>
              <a:spcBef>
                <a:spcPct val="50000"/>
              </a:spcBef>
              <a:buClrTx/>
              <a:buSzTx/>
              <a:buFontTx/>
              <a:buNone/>
            </a:pPr>
            <a:r>
              <a:rPr lang="en-US" sz="1800">
                <a:latin typeface="Times New Roman" panose="02020603050405020304" pitchFamily="18" charset="0"/>
                <a:cs typeface="Times New Roman" panose="02020603050405020304" pitchFamily="18" charset="0"/>
              </a:rPr>
              <a:t>Direct Communications With Individuals to Obtain an Immediate Response.</a:t>
            </a:r>
          </a:p>
        </p:txBody>
      </p:sp>
      <p:sp>
        <p:nvSpPr>
          <p:cNvPr id="6162" name="AutoShape 18"/>
          <p:cNvSpPr>
            <a:spLocks noChangeArrowheads="1"/>
          </p:cNvSpPr>
          <p:nvPr/>
        </p:nvSpPr>
        <p:spPr bwMode="auto">
          <a:xfrm>
            <a:off x="4291012" y="4576763"/>
            <a:ext cx="453629" cy="400050"/>
          </a:xfrm>
          <a:prstGeom prst="rightArrow">
            <a:avLst>
              <a:gd name="adj1" fmla="val 50000"/>
              <a:gd name="adj2" fmla="val 56712"/>
            </a:avLst>
          </a:prstGeom>
          <a:solidFill>
            <a:schemeClr val="bg2"/>
          </a:solidFill>
          <a:ln>
            <a:noFill/>
          </a:ln>
          <a:effectLst>
            <a:outerShdw dist="107763" dir="2700000" algn="ctr" rotWithShape="0">
              <a:schemeClr val="tx1"/>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US" sz="1350">
              <a:latin typeface="Times New Roman" panose="02020603050405020304" pitchFamily="18" charset="0"/>
              <a:cs typeface="Times New Roman" panose="02020603050405020304" pitchFamily="18" charset="0"/>
            </a:endParaRPr>
          </a:p>
        </p:txBody>
      </p:sp>
      <p:sp>
        <p:nvSpPr>
          <p:cNvPr id="6163" name="Rectangle 19"/>
          <p:cNvSpPr>
            <a:spLocks noChangeArrowheads="1"/>
          </p:cNvSpPr>
          <p:nvPr/>
        </p:nvSpPr>
        <p:spPr bwMode="auto">
          <a:xfrm>
            <a:off x="4656535" y="2824164"/>
            <a:ext cx="3314700" cy="559016"/>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0903" tIns="29917" rIns="60903" bIns="29917">
            <a:spAutoFit/>
          </a:bodyPr>
          <a:lstStyle>
            <a:lvl1pPr defTabSz="8207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defTabSz="8207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defTabSz="8207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defTabSz="8207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defTabSz="8207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207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nSpc>
                <a:spcPct val="90000"/>
              </a:lnSpc>
              <a:spcBef>
                <a:spcPct val="50000"/>
              </a:spcBef>
              <a:buClrTx/>
              <a:buSzTx/>
              <a:buFontTx/>
              <a:buNone/>
            </a:pPr>
            <a:r>
              <a:rPr lang="en-US" sz="1800">
                <a:latin typeface="Times New Roman" panose="02020603050405020304" pitchFamily="18" charset="0"/>
                <a:cs typeface="Times New Roman" panose="02020603050405020304" pitchFamily="18" charset="0"/>
              </a:rPr>
              <a:t>Personal Presentations by a Firm’s Sales Force.</a:t>
            </a:r>
          </a:p>
        </p:txBody>
      </p:sp>
      <p:sp>
        <p:nvSpPr>
          <p:cNvPr id="6164" name="Rectangle 1"/>
          <p:cNvSpPr>
            <a:spLocks noChangeArrowheads="1"/>
          </p:cNvSpPr>
          <p:nvPr/>
        </p:nvSpPr>
        <p:spPr bwMode="auto">
          <a:xfrm>
            <a:off x="1177530" y="1215630"/>
            <a:ext cx="67937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sz="2400" b="1">
                <a:solidFill>
                  <a:schemeClr val="bg2"/>
                </a:solidFill>
                <a:latin typeface="Times New Roman" panose="02020603050405020304" pitchFamily="18" charset="0"/>
                <a:cs typeface="Times New Roman" panose="02020603050405020304" pitchFamily="18" charset="0"/>
              </a:rPr>
              <a:t>There are five main aspects of a Promotional Mix</a:t>
            </a:r>
          </a:p>
        </p:txBody>
      </p:sp>
    </p:spTree>
    <p:extLst>
      <p:ext uri="{BB962C8B-B14F-4D97-AF65-F5344CB8AC3E}">
        <p14:creationId xmlns:p14="http://schemas.microsoft.com/office/powerpoint/2010/main" val="4218748394"/>
      </p:ext>
    </p:extLst>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143000" y="857250"/>
            <a:ext cx="4572000" cy="514350"/>
          </a:xfrm>
          <a:solidFill>
            <a:schemeClr val="bg1">
              <a:alpha val="67058"/>
            </a:schemeClr>
          </a:solidFill>
        </p:spPr>
        <p:txBody>
          <a:bodyPr/>
          <a:lstStyle/>
          <a:p>
            <a:pPr algn="ctr" eaLnBrk="1" hangingPunct="1"/>
            <a:r>
              <a:rPr lang="en-US" sz="3000" b="1">
                <a:solidFill>
                  <a:schemeClr val="bg2"/>
                </a:solidFill>
                <a:latin typeface="Times New Roman" pitchFamily="18" charset="0"/>
              </a:rPr>
              <a:t>Type of Advertisement </a:t>
            </a:r>
          </a:p>
        </p:txBody>
      </p:sp>
      <p:sp>
        <p:nvSpPr>
          <p:cNvPr id="11267" name="Rectangle 4"/>
          <p:cNvSpPr>
            <a:spLocks noGrp="1" noChangeArrowheads="1"/>
          </p:cNvSpPr>
          <p:nvPr>
            <p:ph type="body" sz="half" idx="1"/>
          </p:nvPr>
        </p:nvSpPr>
        <p:spPr>
          <a:xfrm>
            <a:off x="1143000" y="1371600"/>
            <a:ext cx="4514850" cy="4629150"/>
          </a:xfrm>
        </p:spPr>
        <p:txBody>
          <a:bodyPr/>
          <a:lstStyle/>
          <a:p>
            <a:pPr eaLnBrk="1" hangingPunct="1">
              <a:buFont typeface="Wingdings" pitchFamily="2" charset="2"/>
              <a:buChar char="Ø"/>
            </a:pPr>
            <a:r>
              <a:rPr lang="en-US" sz="2100" b="1" dirty="0">
                <a:latin typeface="Times New Roman" pitchFamily="18" charset="0"/>
              </a:rPr>
              <a:t>Television</a:t>
            </a:r>
          </a:p>
          <a:p>
            <a:pPr eaLnBrk="1" hangingPunct="1">
              <a:buFont typeface="Wingdings" pitchFamily="2" charset="2"/>
              <a:buChar char="Ø"/>
            </a:pPr>
            <a:r>
              <a:rPr lang="en-US" sz="2100" b="1" dirty="0">
                <a:latin typeface="Times New Roman" pitchFamily="18" charset="0"/>
              </a:rPr>
              <a:t>Radio</a:t>
            </a:r>
          </a:p>
          <a:p>
            <a:pPr eaLnBrk="1" hangingPunct="1">
              <a:buFont typeface="Wingdings" pitchFamily="2" charset="2"/>
              <a:buChar char="Ø"/>
            </a:pPr>
            <a:r>
              <a:rPr lang="en-US" sz="2100" b="1" dirty="0">
                <a:latin typeface="Times New Roman" pitchFamily="18" charset="0"/>
              </a:rPr>
              <a:t>Print</a:t>
            </a:r>
          </a:p>
          <a:p>
            <a:pPr eaLnBrk="1" hangingPunct="1">
              <a:buFont typeface="Wingdings" pitchFamily="2" charset="2"/>
              <a:buChar char="Ø"/>
            </a:pPr>
            <a:r>
              <a:rPr lang="en-US" sz="2100" b="1" dirty="0">
                <a:latin typeface="Times New Roman" pitchFamily="18" charset="0"/>
              </a:rPr>
              <a:t>Online</a:t>
            </a:r>
          </a:p>
          <a:p>
            <a:pPr eaLnBrk="1" hangingPunct="1">
              <a:buFont typeface="Wingdings" pitchFamily="2" charset="2"/>
              <a:buChar char="Ø"/>
            </a:pPr>
            <a:r>
              <a:rPr lang="en-US" sz="2100" b="1" dirty="0">
                <a:latin typeface="Times New Roman" pitchFamily="18" charset="0"/>
              </a:rPr>
              <a:t>Billboards </a:t>
            </a:r>
            <a:endParaRPr lang="en-US" sz="2100" dirty="0">
              <a:latin typeface="Times New Roman" pitchFamily="18" charset="0"/>
            </a:endParaRPr>
          </a:p>
          <a:p>
            <a:pPr eaLnBrk="1" hangingPunct="1">
              <a:buFont typeface="Wingdings" pitchFamily="2" charset="2"/>
              <a:buChar char="Ø"/>
            </a:pPr>
            <a:r>
              <a:rPr lang="en-US" sz="2100" b="1" dirty="0">
                <a:latin typeface="Times New Roman" pitchFamily="18" charset="0"/>
              </a:rPr>
              <a:t>Mobile Billboards</a:t>
            </a:r>
          </a:p>
          <a:p>
            <a:pPr eaLnBrk="1" hangingPunct="1">
              <a:buFont typeface="Wingdings" pitchFamily="2" charset="2"/>
              <a:buChar char="Ø"/>
            </a:pPr>
            <a:r>
              <a:rPr lang="en-US" sz="2100" b="1" dirty="0">
                <a:latin typeface="Times New Roman" pitchFamily="18" charset="0"/>
              </a:rPr>
              <a:t>In-store advertising</a:t>
            </a:r>
          </a:p>
          <a:p>
            <a:pPr eaLnBrk="1" hangingPunct="1">
              <a:buFont typeface="Wingdings" pitchFamily="2" charset="2"/>
              <a:buChar char="Ø"/>
            </a:pPr>
            <a:r>
              <a:rPr lang="en-US" sz="2100" b="1" dirty="0">
                <a:latin typeface="Times New Roman" pitchFamily="18" charset="0"/>
              </a:rPr>
              <a:t>Infomercials</a:t>
            </a:r>
            <a:r>
              <a:rPr lang="en-US" sz="2100" dirty="0">
                <a:latin typeface="Times New Roman" pitchFamily="18" charset="0"/>
              </a:rPr>
              <a:t> </a:t>
            </a:r>
          </a:p>
          <a:p>
            <a:pPr eaLnBrk="1" hangingPunct="1">
              <a:buFont typeface="Wingdings" pitchFamily="2" charset="2"/>
              <a:buChar char="Ø"/>
            </a:pPr>
            <a:r>
              <a:rPr lang="en-US" sz="2100" b="1" dirty="0">
                <a:latin typeface="Times New Roman" pitchFamily="18" charset="0"/>
              </a:rPr>
              <a:t>Covert advertising</a:t>
            </a:r>
            <a:r>
              <a:rPr lang="en-US" sz="2100" dirty="0">
                <a:latin typeface="Times New Roman" pitchFamily="18" charset="0"/>
              </a:rPr>
              <a:t> </a:t>
            </a:r>
          </a:p>
          <a:p>
            <a:pPr eaLnBrk="1" hangingPunct="1">
              <a:buFont typeface="Wingdings" pitchFamily="2" charset="2"/>
              <a:buChar char="Ø"/>
            </a:pPr>
            <a:r>
              <a:rPr lang="en-US" sz="2100" b="1" dirty="0">
                <a:latin typeface="Times New Roman" pitchFamily="18" charset="0"/>
              </a:rPr>
              <a:t>Celebrities</a:t>
            </a:r>
            <a:endParaRPr lang="en-US" sz="2100" dirty="0">
              <a:latin typeface="Times New Roman" pitchFamily="18" charset="0"/>
            </a:endParaRPr>
          </a:p>
          <a:p>
            <a:pPr eaLnBrk="1" hangingPunct="1">
              <a:lnSpc>
                <a:spcPct val="80000"/>
              </a:lnSpc>
              <a:buFont typeface="Wingdings" pitchFamily="2" charset="2"/>
              <a:buChar char="Ø"/>
            </a:pPr>
            <a:endParaRPr lang="en-US" sz="2100" b="1" dirty="0">
              <a:latin typeface="Times New Roman" pitchFamily="18" charset="0"/>
            </a:endParaRPr>
          </a:p>
        </p:txBody>
      </p:sp>
      <p:pic>
        <p:nvPicPr>
          <p:cNvPr id="11268" name="Picture 10"/>
          <p:cNvPicPr>
            <a:picLocks noGrp="1" noChangeAspect="1" noChangeArrowheads="1"/>
          </p:cNvPicPr>
          <p:nvPr>
            <p:ph sz="quarter" idx="3"/>
          </p:nvPr>
        </p:nvPicPr>
        <p:blipFill>
          <a:blip r:embed="rId2" cstate="print">
            <a:extLst>
              <a:ext uri="{28A0092B-C50C-407E-A947-70E740481C1C}">
                <a14:useLocalDpi xmlns:a14="http://schemas.microsoft.com/office/drawing/2010/main" val="0"/>
              </a:ext>
            </a:extLst>
          </a:blip>
          <a:srcRect/>
          <a:stretch>
            <a:fillRect/>
          </a:stretch>
        </p:blipFill>
        <p:spPr>
          <a:xfrm>
            <a:off x="5715000" y="857250"/>
            <a:ext cx="2286000" cy="1714500"/>
          </a:xfrm>
          <a:noFill/>
        </p:spPr>
      </p:pic>
      <p:pic>
        <p:nvPicPr>
          <p:cNvPr id="11269" name="Picture 13"/>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715000" y="2571750"/>
            <a:ext cx="2286000" cy="1766888"/>
          </a:xfrm>
          <a:noFill/>
        </p:spPr>
      </p:pic>
      <p:pic>
        <p:nvPicPr>
          <p:cNvPr id="11270"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5000" y="4343400"/>
            <a:ext cx="22860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1"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86250" y="1657351"/>
            <a:ext cx="1314450" cy="90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25211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485900" y="914400"/>
            <a:ext cx="6172200" cy="857250"/>
          </a:xfrm>
        </p:spPr>
        <p:txBody>
          <a:bodyPr/>
          <a:lstStyle/>
          <a:p>
            <a:pPr algn="ctr" eaLnBrk="1" hangingPunct="1"/>
            <a:r>
              <a:rPr lang="en-US" sz="2700" b="1" dirty="0">
                <a:solidFill>
                  <a:schemeClr val="bg2"/>
                </a:solidFill>
                <a:latin typeface="Times New Roman" panose="02020603050405020304" pitchFamily="18" charset="0"/>
              </a:rPr>
              <a:t>Google Ads and AdSense Program</a:t>
            </a:r>
          </a:p>
        </p:txBody>
      </p:sp>
      <p:sp>
        <p:nvSpPr>
          <p:cNvPr id="25603" name="Rectangle 3"/>
          <p:cNvSpPr>
            <a:spLocks noGrp="1" noChangeArrowheads="1"/>
          </p:cNvSpPr>
          <p:nvPr>
            <p:ph type="body" idx="1"/>
          </p:nvPr>
        </p:nvSpPr>
        <p:spPr>
          <a:xfrm>
            <a:off x="0" y="1600200"/>
            <a:ext cx="5486399" cy="5181600"/>
          </a:xfrm>
        </p:spPr>
        <p:txBody>
          <a:bodyPr/>
          <a:lstStyle/>
          <a:p>
            <a:pPr eaLnBrk="1" hangingPunct="1">
              <a:lnSpc>
                <a:spcPct val="90000"/>
              </a:lnSpc>
            </a:pPr>
            <a:r>
              <a:rPr lang="en-US" sz="2800" b="1" dirty="0">
                <a:solidFill>
                  <a:schemeClr val="bg2"/>
                </a:solidFill>
                <a:latin typeface="Times New Roman" panose="02020603050405020304" pitchFamily="18" charset="0"/>
              </a:rPr>
              <a:t>Google Ads </a:t>
            </a:r>
            <a:r>
              <a:rPr lang="en-US" sz="1600" b="1" dirty="0">
                <a:latin typeface="Times New Roman" panose="02020603050405020304" pitchFamily="18" charset="0"/>
              </a:rPr>
              <a:t>(previously Google AdWords, before July 24, </a:t>
            </a:r>
            <a:r>
              <a:rPr lang="en-US" sz="1600" b="1" dirty="0">
                <a:latin typeface="Times New Roman" panose="02020603050405020304" pitchFamily="18" charset="0"/>
              </a:rPr>
              <a:t>2018)</a:t>
            </a:r>
          </a:p>
          <a:p>
            <a:pPr lvl="1" eaLnBrk="1" hangingPunct="1">
              <a:lnSpc>
                <a:spcPct val="90000"/>
              </a:lnSpc>
            </a:pPr>
            <a:r>
              <a:rPr lang="en-US" sz="2400" dirty="0">
                <a:latin typeface="Times New Roman" panose="02020603050405020304" pitchFamily="18" charset="0"/>
              </a:rPr>
              <a:t>Allows advertisers to buy keywords on the Google </a:t>
            </a:r>
            <a:r>
              <a:rPr lang="en-US" sz="2400" dirty="0" smtClean="0">
                <a:latin typeface="Times New Roman" panose="02020603050405020304" pitchFamily="18" charset="0"/>
              </a:rPr>
              <a:t>home page</a:t>
            </a:r>
            <a:r>
              <a:rPr lang="en-US" sz="2400" dirty="0">
                <a:latin typeface="Times New Roman" panose="02020603050405020304" pitchFamily="18" charset="0"/>
              </a:rPr>
              <a:t>.</a:t>
            </a:r>
          </a:p>
          <a:p>
            <a:pPr lvl="1" eaLnBrk="1" hangingPunct="1">
              <a:lnSpc>
                <a:spcPct val="90000"/>
              </a:lnSpc>
            </a:pPr>
            <a:r>
              <a:rPr lang="en-US" sz="2400" dirty="0">
                <a:latin typeface="Times New Roman" panose="02020603050405020304" pitchFamily="18" charset="0"/>
              </a:rPr>
              <a:t>T</a:t>
            </a:r>
            <a:r>
              <a:rPr lang="en-US" sz="2400" dirty="0">
                <a:latin typeface="Times New Roman" panose="02020603050405020304" pitchFamily="18" charset="0"/>
              </a:rPr>
              <a:t>ext-based ads to the side of (and sometimes above) search results when the keyword is used.</a:t>
            </a:r>
          </a:p>
          <a:p>
            <a:pPr lvl="1" eaLnBrk="1" hangingPunct="1">
              <a:lnSpc>
                <a:spcPct val="90000"/>
              </a:lnSpc>
            </a:pPr>
            <a:r>
              <a:rPr lang="en-US" sz="2400" dirty="0">
                <a:latin typeface="Times New Roman" panose="02020603050405020304" pitchFamily="18" charset="0"/>
              </a:rPr>
              <a:t>The program includes local, national, and international distribution.</a:t>
            </a:r>
          </a:p>
          <a:p>
            <a:pPr lvl="1" eaLnBrk="1" hangingPunct="1">
              <a:lnSpc>
                <a:spcPct val="90000"/>
              </a:lnSpc>
            </a:pPr>
            <a:r>
              <a:rPr lang="en-US" sz="2400" dirty="0">
                <a:latin typeface="Times New Roman" panose="02020603050405020304" pitchFamily="18" charset="0"/>
              </a:rPr>
              <a:t>Advertisers pay a certain amount per click.</a:t>
            </a:r>
          </a:p>
          <a:p>
            <a:pPr lvl="1" eaLnBrk="1" hangingPunct="1">
              <a:lnSpc>
                <a:spcPct val="90000"/>
              </a:lnSpc>
            </a:pPr>
            <a:r>
              <a:rPr lang="en-US" sz="1800" dirty="0">
                <a:latin typeface="Times New Roman" panose="02020603050405020304" pitchFamily="18" charset="0"/>
              </a:rPr>
              <a:t>AdWords </a:t>
            </a:r>
            <a:r>
              <a:rPr lang="en-US" sz="1800" dirty="0">
                <a:latin typeface="Times New Roman" panose="02020603050405020304" pitchFamily="18" charset="0"/>
              </a:rPr>
              <a:t>has evolved </a:t>
            </a:r>
            <a:r>
              <a:rPr lang="en-US" sz="1800" dirty="0">
                <a:latin typeface="Times New Roman" panose="02020603050405020304" pitchFamily="18" charset="0"/>
              </a:rPr>
              <a:t>into Google's </a:t>
            </a:r>
            <a:r>
              <a:rPr lang="en-US" sz="1800" dirty="0">
                <a:latin typeface="Times New Roman" panose="02020603050405020304" pitchFamily="18" charset="0"/>
              </a:rPr>
              <a:t>main source of </a:t>
            </a:r>
            <a:r>
              <a:rPr lang="en-US" sz="1800" dirty="0">
                <a:latin typeface="Times New Roman" panose="02020603050405020304" pitchFamily="18" charset="0"/>
              </a:rPr>
              <a:t>revenue. Google's </a:t>
            </a:r>
            <a:r>
              <a:rPr lang="en-US" sz="1800" dirty="0">
                <a:latin typeface="Times New Roman" panose="02020603050405020304" pitchFamily="18" charset="0"/>
              </a:rPr>
              <a:t>total advertising revenues </a:t>
            </a:r>
            <a:r>
              <a:rPr lang="en-US" sz="1800" dirty="0">
                <a:latin typeface="Times New Roman" panose="02020603050405020304" pitchFamily="18" charset="0"/>
              </a:rPr>
              <a:t>of</a:t>
            </a:r>
            <a:r>
              <a:rPr lang="en-US" sz="1800" dirty="0">
                <a:latin typeface="Times New Roman" panose="02020603050405020304" pitchFamily="18" charset="0"/>
              </a:rPr>
              <a:t> USD $95.4 billion in 2017..</a:t>
            </a:r>
          </a:p>
        </p:txBody>
      </p:sp>
      <p:pic>
        <p:nvPicPr>
          <p:cNvPr id="3" name="Picture 2"/>
          <p:cNvPicPr>
            <a:picLocks noChangeAspect="1"/>
          </p:cNvPicPr>
          <p:nvPr/>
        </p:nvPicPr>
        <p:blipFill>
          <a:blip r:embed="rId2"/>
          <a:stretch>
            <a:fillRect/>
          </a:stretch>
        </p:blipFill>
        <p:spPr>
          <a:xfrm>
            <a:off x="5715000" y="1981200"/>
            <a:ext cx="3038763" cy="3643313"/>
          </a:xfrm>
          <a:prstGeom prst="rect">
            <a:avLst/>
          </a:prstGeom>
        </p:spPr>
      </p:pic>
    </p:spTree>
    <p:extLst>
      <p:ext uri="{BB962C8B-B14F-4D97-AF65-F5344CB8AC3E}">
        <p14:creationId xmlns:p14="http://schemas.microsoft.com/office/powerpoint/2010/main" val="422883219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04800" y="845527"/>
            <a:ext cx="4648200" cy="5707673"/>
          </a:xfrm>
        </p:spPr>
        <p:txBody>
          <a:bodyPr/>
          <a:lstStyle/>
          <a:p>
            <a:pPr eaLnBrk="1" hangingPunct="1">
              <a:lnSpc>
                <a:spcPct val="90000"/>
              </a:lnSpc>
            </a:pPr>
            <a:r>
              <a:rPr lang="en-US" sz="2800" dirty="0">
                <a:latin typeface="Times New Roman" panose="02020603050405020304" pitchFamily="18" charset="0"/>
              </a:rPr>
              <a:t>AdSense</a:t>
            </a:r>
          </a:p>
          <a:p>
            <a:pPr lvl="1" eaLnBrk="1" hangingPunct="1">
              <a:lnSpc>
                <a:spcPct val="90000"/>
              </a:lnSpc>
            </a:pPr>
            <a:r>
              <a:rPr lang="en-US" sz="2000" dirty="0">
                <a:latin typeface="Times New Roman" panose="02020603050405020304" pitchFamily="18" charset="0"/>
              </a:rPr>
              <a:t>Allows advertisers to buy ads that will be shown on other Web sites instead of Google’s home page.</a:t>
            </a:r>
          </a:p>
          <a:p>
            <a:pPr lvl="1" eaLnBrk="1" hangingPunct="1">
              <a:lnSpc>
                <a:spcPct val="90000"/>
              </a:lnSpc>
            </a:pPr>
            <a:r>
              <a:rPr lang="en-US" sz="2000" dirty="0">
                <a:latin typeface="Times New Roman" panose="02020603050405020304" pitchFamily="18" charset="0"/>
              </a:rPr>
              <a:t>Google selects sites of interest to the advertiser’s customers.</a:t>
            </a:r>
          </a:p>
          <a:p>
            <a:pPr lvl="1" eaLnBrk="1" hangingPunct="1">
              <a:lnSpc>
                <a:spcPct val="90000"/>
              </a:lnSpc>
            </a:pPr>
            <a:r>
              <a:rPr lang="en-US" sz="2000" dirty="0">
                <a:latin typeface="Times New Roman" panose="02020603050405020304" pitchFamily="18" charset="0"/>
              </a:rPr>
              <a:t>Advertisers are charged on a pay-per-click or a per-thousand impression basis.</a:t>
            </a:r>
          </a:p>
          <a:p>
            <a:pPr lvl="1" eaLnBrk="1" hangingPunct="1">
              <a:lnSpc>
                <a:spcPct val="90000"/>
              </a:lnSpc>
            </a:pPr>
            <a:r>
              <a:rPr lang="en-US" sz="2000" dirty="0">
                <a:latin typeface="Times New Roman" panose="02020603050405020304" pitchFamily="18" charset="0"/>
              </a:rPr>
              <a:t>Advertisers benefit because the content of the ad is often relevant to the Web site.</a:t>
            </a:r>
          </a:p>
          <a:p>
            <a:pPr lvl="1" eaLnBrk="1" hangingPunct="1">
              <a:lnSpc>
                <a:spcPct val="90000"/>
              </a:lnSpc>
            </a:pPr>
            <a:r>
              <a:rPr lang="en-US" sz="2000" dirty="0">
                <a:latin typeface="Times New Roman" panose="02020603050405020304" pitchFamily="18" charset="0"/>
              </a:rPr>
              <a:t>Web site owners benefit by using the service to monetize their Web site.</a:t>
            </a:r>
          </a:p>
          <a:p>
            <a:pPr lvl="1" eaLnBrk="1" hangingPunct="1">
              <a:lnSpc>
                <a:spcPct val="90000"/>
              </a:lnSpc>
            </a:pPr>
            <a:r>
              <a:rPr lang="en-US" sz="2000" dirty="0">
                <a:latin typeface="Times New Roman" panose="02020603050405020304" pitchFamily="18" charset="0"/>
              </a:rPr>
              <a:t> In Q1 2011, Google earned US $2.43 billion ($9.71 billion annualized), or 28% of total revenue, through Google AdSense</a:t>
            </a:r>
            <a:endParaRPr lang="en-US" sz="2000" dirty="0">
              <a:latin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068304" y="857250"/>
            <a:ext cx="2932697" cy="2228850"/>
          </a:xfrm>
          <a:prstGeom prst="rect">
            <a:avLst/>
          </a:prstGeom>
        </p:spPr>
      </p:pic>
      <p:pic>
        <p:nvPicPr>
          <p:cNvPr id="4" name="Picture 3"/>
          <p:cNvPicPr>
            <a:picLocks noChangeAspect="1"/>
          </p:cNvPicPr>
          <p:nvPr/>
        </p:nvPicPr>
        <p:blipFill rotWithShape="1">
          <a:blip r:embed="rId3"/>
          <a:srcRect l="50000"/>
          <a:stretch/>
        </p:blipFill>
        <p:spPr>
          <a:xfrm>
            <a:off x="5068304" y="3086100"/>
            <a:ext cx="2932697" cy="2914650"/>
          </a:xfrm>
          <a:prstGeom prst="rect">
            <a:avLst/>
          </a:prstGeom>
        </p:spPr>
      </p:pic>
    </p:spTree>
    <p:extLst>
      <p:ext uri="{BB962C8B-B14F-4D97-AF65-F5344CB8AC3E}">
        <p14:creationId xmlns:p14="http://schemas.microsoft.com/office/powerpoint/2010/main" val="242092277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485900" y="971550"/>
            <a:ext cx="6172200" cy="857250"/>
          </a:xfrm>
        </p:spPr>
        <p:txBody>
          <a:bodyPr/>
          <a:lstStyle/>
          <a:p>
            <a:pPr algn="ctr" eaLnBrk="1" hangingPunct="1"/>
            <a:r>
              <a:rPr lang="en-US" sz="2700" b="1" dirty="0">
                <a:solidFill>
                  <a:schemeClr val="bg2"/>
                </a:solidFill>
                <a:latin typeface="Times New Roman" panose="02020603050405020304" pitchFamily="18" charset="0"/>
              </a:rPr>
              <a:t>Other Promotions Techniques</a:t>
            </a:r>
          </a:p>
        </p:txBody>
      </p:sp>
      <p:sp>
        <p:nvSpPr>
          <p:cNvPr id="30723" name="Line 4"/>
          <p:cNvSpPr>
            <a:spLocks noChangeShapeType="1"/>
          </p:cNvSpPr>
          <p:nvPr/>
        </p:nvSpPr>
        <p:spPr bwMode="auto">
          <a:xfrm>
            <a:off x="1143000" y="17716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sp>
        <p:nvSpPr>
          <p:cNvPr id="30724" name="Rectangle 5"/>
          <p:cNvSpPr>
            <a:spLocks noChangeArrowheads="1"/>
          </p:cNvSpPr>
          <p:nvPr/>
        </p:nvSpPr>
        <p:spPr bwMode="auto">
          <a:xfrm>
            <a:off x="1143000" y="2057400"/>
            <a:ext cx="3371850" cy="37719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endParaRPr lang="en-US" sz="1800"/>
          </a:p>
        </p:txBody>
      </p:sp>
      <p:cxnSp>
        <p:nvCxnSpPr>
          <p:cNvPr id="14" name="Straight Connector 13"/>
          <p:cNvCxnSpPr/>
          <p:nvPr/>
        </p:nvCxnSpPr>
        <p:spPr>
          <a:xfrm>
            <a:off x="1600200" y="2571750"/>
            <a:ext cx="2571750" cy="11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28" name="TextBox 15"/>
          <p:cNvSpPr txBox="1">
            <a:spLocks noChangeArrowheads="1"/>
          </p:cNvSpPr>
          <p:nvPr/>
        </p:nvSpPr>
        <p:spPr bwMode="auto">
          <a:xfrm>
            <a:off x="1657350" y="2114551"/>
            <a:ext cx="2457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1800" b="1" dirty="0">
                <a:solidFill>
                  <a:schemeClr val="bg2"/>
                </a:solidFill>
              </a:rPr>
              <a:t>Viral Marketing</a:t>
            </a:r>
          </a:p>
        </p:txBody>
      </p:sp>
      <p:sp>
        <p:nvSpPr>
          <p:cNvPr id="30730" name="TextBox 17"/>
          <p:cNvSpPr txBox="1">
            <a:spLocks noChangeArrowheads="1"/>
          </p:cNvSpPr>
          <p:nvPr/>
        </p:nvSpPr>
        <p:spPr bwMode="auto">
          <a:xfrm>
            <a:off x="1714500" y="2743200"/>
            <a:ext cx="23431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1800" dirty="0"/>
              <a:t>Facilitates and encourages people to pass along a marketing message about a particular product or </a:t>
            </a:r>
            <a:r>
              <a:rPr lang="en-US" sz="1800" dirty="0"/>
              <a:t>service. </a:t>
            </a:r>
            <a:r>
              <a:rPr lang="en-US" sz="1800" dirty="0"/>
              <a:t>. </a:t>
            </a:r>
            <a:r>
              <a:rPr lang="en-US" sz="1800" dirty="0"/>
              <a:t>(through social media and emails usually </a:t>
            </a:r>
            <a:r>
              <a:rPr lang="en-US" sz="1800" dirty="0"/>
              <a:t>by including jokes, games, video clips, etc)</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8394" y="2461023"/>
            <a:ext cx="3176112" cy="2339577"/>
          </a:xfrm>
          <a:prstGeom prst="rect">
            <a:avLst/>
          </a:prstGeom>
        </p:spPr>
      </p:pic>
    </p:spTree>
    <p:extLst>
      <p:ext uri="{BB962C8B-B14F-4D97-AF65-F5344CB8AC3E}">
        <p14:creationId xmlns:p14="http://schemas.microsoft.com/office/powerpoint/2010/main" val="300655002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4857750" y="2057400"/>
            <a:ext cx="2571750" cy="314325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endParaRPr lang="en-US" sz="1800"/>
          </a:p>
        </p:txBody>
      </p:sp>
      <p:cxnSp>
        <p:nvCxnSpPr>
          <p:cNvPr id="6" name="Straight Connector 5"/>
          <p:cNvCxnSpPr/>
          <p:nvPr/>
        </p:nvCxnSpPr>
        <p:spPr>
          <a:xfrm>
            <a:off x="4857750" y="2571750"/>
            <a:ext cx="2571750" cy="11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16"/>
          <p:cNvSpPr txBox="1">
            <a:spLocks noChangeArrowheads="1"/>
          </p:cNvSpPr>
          <p:nvPr/>
        </p:nvSpPr>
        <p:spPr bwMode="auto">
          <a:xfrm>
            <a:off x="4914900" y="2171701"/>
            <a:ext cx="2457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1800" b="1" dirty="0">
                <a:solidFill>
                  <a:schemeClr val="bg2"/>
                </a:solidFill>
              </a:rPr>
              <a:t>Guerrilla Marketing</a:t>
            </a:r>
          </a:p>
        </p:txBody>
      </p:sp>
      <p:sp>
        <p:nvSpPr>
          <p:cNvPr id="8" name="TextBox 18"/>
          <p:cNvSpPr txBox="1">
            <a:spLocks noChangeArrowheads="1"/>
          </p:cNvSpPr>
          <p:nvPr/>
        </p:nvSpPr>
        <p:spPr bwMode="auto">
          <a:xfrm>
            <a:off x="4914900" y="2743200"/>
            <a:ext cx="23431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1800" dirty="0"/>
              <a:t>An approach </a:t>
            </a:r>
            <a:r>
              <a:rPr lang="en-US" sz="1800" dirty="0"/>
              <a:t>to marketing that relies </a:t>
            </a:r>
            <a:r>
              <a:rPr lang="en-US" sz="1800" dirty="0"/>
              <a:t>on cleverness</a:t>
            </a:r>
            <a:r>
              <a:rPr lang="en-US" sz="1800" dirty="0"/>
              <a:t>, and surprise rather than traditional techniques</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676" y="1128628"/>
            <a:ext cx="2366963" cy="1775222"/>
          </a:xfrm>
          <a:prstGeom prst="rect">
            <a:avLst/>
          </a:prstGeom>
        </p:spPr>
      </p:pic>
      <p:pic>
        <p:nvPicPr>
          <p:cNvPr id="10" name="Picture 9"/>
          <p:cNvPicPr>
            <a:picLocks noChangeAspect="1"/>
          </p:cNvPicPr>
          <p:nvPr/>
        </p:nvPicPr>
        <p:blipFill>
          <a:blip r:embed="rId3"/>
          <a:stretch>
            <a:fillRect/>
          </a:stretch>
        </p:blipFill>
        <p:spPr>
          <a:xfrm>
            <a:off x="1586594" y="2861073"/>
            <a:ext cx="2143125" cy="1535906"/>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6594" y="4450557"/>
            <a:ext cx="2143125" cy="1550194"/>
          </a:xfrm>
          <a:prstGeom prst="rect">
            <a:avLst/>
          </a:prstGeom>
        </p:spPr>
      </p:pic>
    </p:spTree>
    <p:extLst>
      <p:ext uri="{BB962C8B-B14F-4D97-AF65-F5344CB8AC3E}">
        <p14:creationId xmlns:p14="http://schemas.microsoft.com/office/powerpoint/2010/main" val="83219583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43000" y="971550"/>
            <a:ext cx="6515100" cy="857250"/>
          </a:xfrm>
        </p:spPr>
        <p:txBody>
          <a:bodyPr/>
          <a:lstStyle/>
          <a:p>
            <a:pPr eaLnBrk="1" hangingPunct="1"/>
            <a:r>
              <a:rPr lang="en-US" sz="2700" b="1" dirty="0">
                <a:solidFill>
                  <a:schemeClr val="bg2"/>
                </a:solidFill>
                <a:latin typeface="Times New Roman" charset="0"/>
              </a:rPr>
              <a:t>Public Relations</a:t>
            </a:r>
          </a:p>
        </p:txBody>
      </p:sp>
      <p:sp>
        <p:nvSpPr>
          <p:cNvPr id="27651" name="Rectangle 3"/>
          <p:cNvSpPr>
            <a:spLocks noGrp="1" noChangeArrowheads="1"/>
          </p:cNvSpPr>
          <p:nvPr>
            <p:ph type="body" idx="1"/>
          </p:nvPr>
        </p:nvSpPr>
        <p:spPr>
          <a:xfrm>
            <a:off x="1143000" y="1771650"/>
            <a:ext cx="4457700" cy="4000500"/>
          </a:xfrm>
        </p:spPr>
        <p:txBody>
          <a:bodyPr/>
          <a:lstStyle/>
          <a:p>
            <a:pPr eaLnBrk="1" hangingPunct="1"/>
            <a:r>
              <a:rPr lang="en-US" sz="2100" dirty="0">
                <a:latin typeface="Times New Roman" charset="0"/>
              </a:rPr>
              <a:t>Public Relations</a:t>
            </a:r>
          </a:p>
          <a:p>
            <a:pPr lvl="1" eaLnBrk="1" hangingPunct="1"/>
            <a:r>
              <a:rPr lang="en-US" dirty="0" smtClean="0">
                <a:latin typeface="Times New Roman" charset="0"/>
              </a:rPr>
              <a:t>One of the most cost effective ways to increase the awareness of the products of a company is through public relations.</a:t>
            </a:r>
          </a:p>
          <a:p>
            <a:pPr lvl="1" eaLnBrk="1" hangingPunct="1"/>
            <a:r>
              <a:rPr lang="en-US" dirty="0" smtClean="0">
                <a:latin typeface="Times New Roman" charset="0"/>
              </a:rPr>
              <a:t>Public relations refer to efforts to establish and maintain a company’s image with the public.</a:t>
            </a:r>
          </a:p>
          <a:p>
            <a:pPr lvl="1" eaLnBrk="1" hangingPunct="1"/>
            <a:r>
              <a:rPr lang="en-US" dirty="0" smtClean="0">
                <a:latin typeface="Times New Roman" charset="0"/>
              </a:rPr>
              <a:t>The major difference between public relations and advertising is that public relations is not paid for—directly.</a:t>
            </a:r>
          </a:p>
        </p:txBody>
      </p:sp>
      <p:sp>
        <p:nvSpPr>
          <p:cNvPr id="27652" name="Line 4"/>
          <p:cNvSpPr>
            <a:spLocks noChangeShapeType="1"/>
          </p:cNvSpPr>
          <p:nvPr/>
        </p:nvSpPr>
        <p:spPr bwMode="auto">
          <a:xfrm>
            <a:off x="1143000" y="17716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t="17073" b="26830"/>
          <a:stretch>
            <a:fillRect/>
          </a:stretch>
        </p:blipFill>
        <p:spPr bwMode="auto">
          <a:xfrm>
            <a:off x="5943599" y="857251"/>
            <a:ext cx="2057400" cy="169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1" y="2578894"/>
            <a:ext cx="2081147" cy="174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7347" y="4349593"/>
            <a:ext cx="2057400" cy="1403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421952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485900" y="971550"/>
            <a:ext cx="6172200" cy="742950"/>
          </a:xfrm>
        </p:spPr>
        <p:txBody>
          <a:bodyPr/>
          <a:lstStyle/>
          <a:p>
            <a:pPr algn="ctr" eaLnBrk="1" hangingPunct="1"/>
            <a:r>
              <a:rPr lang="en-US" sz="2700" b="1" dirty="0">
                <a:solidFill>
                  <a:schemeClr val="bg2"/>
                </a:solidFill>
                <a:latin typeface="Times New Roman" charset="0"/>
              </a:rPr>
              <a:t>Public Relations Techniques</a:t>
            </a:r>
          </a:p>
        </p:txBody>
      </p:sp>
      <p:sp>
        <p:nvSpPr>
          <p:cNvPr id="28675" name="Line 4"/>
          <p:cNvSpPr>
            <a:spLocks noChangeShapeType="1"/>
          </p:cNvSpPr>
          <p:nvPr/>
        </p:nvSpPr>
        <p:spPr bwMode="auto">
          <a:xfrm>
            <a:off x="1143000" y="16573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sp>
        <p:nvSpPr>
          <p:cNvPr id="28676" name="Rectangle 8"/>
          <p:cNvSpPr>
            <a:spLocks noChangeArrowheads="1"/>
          </p:cNvSpPr>
          <p:nvPr/>
        </p:nvSpPr>
        <p:spPr bwMode="auto">
          <a:xfrm>
            <a:off x="2000250" y="205740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Press release</a:t>
            </a:r>
          </a:p>
        </p:txBody>
      </p:sp>
      <p:sp>
        <p:nvSpPr>
          <p:cNvPr id="28677" name="Rectangle 9"/>
          <p:cNvSpPr>
            <a:spLocks noChangeArrowheads="1"/>
          </p:cNvSpPr>
          <p:nvPr/>
        </p:nvSpPr>
        <p:spPr bwMode="auto">
          <a:xfrm>
            <a:off x="2000250" y="291465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Social media</a:t>
            </a:r>
          </a:p>
          <a:p>
            <a:pPr algn="ctr"/>
            <a:r>
              <a:rPr lang="en-US" sz="1500"/>
              <a:t>coverage</a:t>
            </a:r>
          </a:p>
        </p:txBody>
      </p:sp>
      <p:sp>
        <p:nvSpPr>
          <p:cNvPr id="28678" name="Rectangle 10"/>
          <p:cNvSpPr>
            <a:spLocks noChangeArrowheads="1"/>
          </p:cNvSpPr>
          <p:nvPr/>
        </p:nvSpPr>
        <p:spPr bwMode="auto">
          <a:xfrm>
            <a:off x="2000250" y="377190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Blogging</a:t>
            </a:r>
          </a:p>
        </p:txBody>
      </p:sp>
      <p:sp>
        <p:nvSpPr>
          <p:cNvPr id="28679" name="Rectangle 11"/>
          <p:cNvSpPr>
            <a:spLocks noChangeArrowheads="1"/>
          </p:cNvSpPr>
          <p:nvPr/>
        </p:nvSpPr>
        <p:spPr bwMode="auto">
          <a:xfrm>
            <a:off x="3028950" y="4686300"/>
            <a:ext cx="2686050" cy="571500"/>
          </a:xfrm>
          <a:prstGeom prst="rect">
            <a:avLst/>
          </a:prstGeom>
          <a:solidFill>
            <a:srgbClr val="FFFFCC"/>
          </a:solidFill>
          <a:ln w="9525">
            <a:solidFill>
              <a:schemeClr val="tx1"/>
            </a:solidFill>
            <a:miter lim="800000"/>
            <a:headEnd/>
            <a:tailEnd/>
          </a:ln>
        </p:spPr>
        <p:txBody>
          <a:bodyPr wrap="none" anchor="ctr"/>
          <a:lstStyle/>
          <a:p>
            <a:pPr algn="ctr"/>
            <a:r>
              <a:rPr lang="en-US" sz="1500"/>
              <a:t>Civic, social, and community</a:t>
            </a:r>
          </a:p>
          <a:p>
            <a:pPr algn="ctr"/>
            <a:r>
              <a:rPr lang="en-US" sz="1500"/>
              <a:t>involvement</a:t>
            </a:r>
          </a:p>
        </p:txBody>
      </p:sp>
      <p:sp>
        <p:nvSpPr>
          <p:cNvPr id="28680" name="Rectangle 12"/>
          <p:cNvSpPr>
            <a:spLocks noChangeArrowheads="1"/>
          </p:cNvSpPr>
          <p:nvPr/>
        </p:nvSpPr>
        <p:spPr bwMode="auto">
          <a:xfrm>
            <a:off x="4857750" y="205740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Traditional media</a:t>
            </a:r>
          </a:p>
          <a:p>
            <a:pPr algn="ctr"/>
            <a:r>
              <a:rPr lang="en-US" sz="1500"/>
              <a:t>coverage</a:t>
            </a:r>
          </a:p>
        </p:txBody>
      </p:sp>
      <p:sp>
        <p:nvSpPr>
          <p:cNvPr id="28681" name="Rectangle 13"/>
          <p:cNvSpPr>
            <a:spLocks noChangeArrowheads="1"/>
          </p:cNvSpPr>
          <p:nvPr/>
        </p:nvSpPr>
        <p:spPr bwMode="auto">
          <a:xfrm>
            <a:off x="4857750" y="291465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Articles in industry</a:t>
            </a:r>
          </a:p>
          <a:p>
            <a:pPr algn="ctr"/>
            <a:r>
              <a:rPr lang="en-US" sz="1500"/>
              <a:t>press and periodicals </a:t>
            </a:r>
          </a:p>
        </p:txBody>
      </p:sp>
      <p:sp>
        <p:nvSpPr>
          <p:cNvPr id="28682" name="Rectangle 14"/>
          <p:cNvSpPr>
            <a:spLocks noChangeArrowheads="1"/>
          </p:cNvSpPr>
          <p:nvPr/>
        </p:nvSpPr>
        <p:spPr bwMode="auto">
          <a:xfrm>
            <a:off x="4857750" y="3771900"/>
            <a:ext cx="1943100" cy="571500"/>
          </a:xfrm>
          <a:prstGeom prst="rect">
            <a:avLst/>
          </a:prstGeom>
          <a:solidFill>
            <a:srgbClr val="FFFFCC"/>
          </a:solidFill>
          <a:ln w="9525">
            <a:solidFill>
              <a:schemeClr val="tx1"/>
            </a:solidFill>
            <a:miter lim="800000"/>
            <a:headEnd/>
            <a:tailEnd/>
          </a:ln>
        </p:spPr>
        <p:txBody>
          <a:bodyPr wrap="none" anchor="ctr"/>
          <a:lstStyle/>
          <a:p>
            <a:pPr algn="ctr"/>
            <a:r>
              <a:rPr lang="en-US" sz="1500"/>
              <a:t>Monthly newsletter</a:t>
            </a:r>
          </a:p>
        </p:txBody>
      </p:sp>
    </p:spTree>
    <p:extLst>
      <p:ext uri="{BB962C8B-B14F-4D97-AF65-F5344CB8AC3E}">
        <p14:creationId xmlns:p14="http://schemas.microsoft.com/office/powerpoint/2010/main" val="354608107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485900" y="971550"/>
            <a:ext cx="6172200" cy="857250"/>
          </a:xfrm>
        </p:spPr>
        <p:txBody>
          <a:bodyPr/>
          <a:lstStyle/>
          <a:p>
            <a:pPr eaLnBrk="1" hangingPunct="1"/>
            <a:r>
              <a:rPr lang="en-US" sz="2700" b="1" dirty="0">
                <a:solidFill>
                  <a:schemeClr val="bg2"/>
                </a:solidFill>
                <a:latin typeface="Times New Roman" charset="0"/>
              </a:rPr>
              <a:t>Social Media</a:t>
            </a:r>
          </a:p>
        </p:txBody>
      </p:sp>
      <p:sp>
        <p:nvSpPr>
          <p:cNvPr id="29699" name="Rectangle 3"/>
          <p:cNvSpPr>
            <a:spLocks noGrp="1" noChangeArrowheads="1"/>
          </p:cNvSpPr>
          <p:nvPr>
            <p:ph type="body" idx="1"/>
          </p:nvPr>
        </p:nvSpPr>
        <p:spPr>
          <a:xfrm>
            <a:off x="457200" y="1981199"/>
            <a:ext cx="7200900" cy="3356373"/>
          </a:xfrm>
        </p:spPr>
        <p:txBody>
          <a:bodyPr/>
          <a:lstStyle/>
          <a:p>
            <a:pPr eaLnBrk="1" hangingPunct="1"/>
            <a:r>
              <a:rPr lang="en-US" dirty="0">
                <a:latin typeface="Times New Roman" charset="0"/>
              </a:rPr>
              <a:t>Social Media</a:t>
            </a:r>
          </a:p>
          <a:p>
            <a:pPr lvl="1" eaLnBrk="1" hangingPunct="1"/>
            <a:r>
              <a:rPr lang="en-US" sz="2000" dirty="0">
                <a:latin typeface="Times New Roman" charset="0"/>
              </a:rPr>
              <a:t>Consists primarily of blogging and connecting with customers and others through social networking sites like Facebook and Twitter.</a:t>
            </a:r>
          </a:p>
          <a:p>
            <a:pPr eaLnBrk="1" hangingPunct="1"/>
            <a:r>
              <a:rPr lang="en-US" dirty="0">
                <a:latin typeface="Times New Roman" charset="0"/>
              </a:rPr>
              <a:t>Blogging</a:t>
            </a:r>
          </a:p>
          <a:p>
            <a:pPr lvl="1" eaLnBrk="1" hangingPunct="1"/>
            <a:r>
              <a:rPr lang="en-US" sz="2000" dirty="0">
                <a:latin typeface="Times New Roman" charset="0"/>
              </a:rPr>
              <a:t>The idea behind blogs is that they familiarize people with a business and help build an emotional bond between a business and its customers. </a:t>
            </a:r>
          </a:p>
          <a:p>
            <a:pPr eaLnBrk="1" hangingPunct="1"/>
            <a:r>
              <a:rPr lang="en-US" dirty="0">
                <a:latin typeface="Times New Roman" charset="0"/>
              </a:rPr>
              <a:t>Facebook and Twitter</a:t>
            </a:r>
          </a:p>
          <a:p>
            <a:pPr lvl="1" eaLnBrk="1" hangingPunct="1"/>
            <a:r>
              <a:rPr lang="en-US" sz="2000" dirty="0">
                <a:latin typeface="Times New Roman" charset="0"/>
              </a:rPr>
              <a:t>Businesses establish a presence on Facebook and Twitter to build a community around their products and services.</a:t>
            </a:r>
          </a:p>
          <a:p>
            <a:pPr lvl="1" eaLnBrk="1" hangingPunct="1"/>
            <a:endParaRPr lang="en-US" sz="2000" dirty="0">
              <a:latin typeface="Times New Roman" charset="0"/>
            </a:endParaRPr>
          </a:p>
        </p:txBody>
      </p:sp>
      <p:sp>
        <p:nvSpPr>
          <p:cNvPr id="29700" name="Line 4"/>
          <p:cNvSpPr>
            <a:spLocks noChangeShapeType="1"/>
          </p:cNvSpPr>
          <p:nvPr/>
        </p:nvSpPr>
        <p:spPr bwMode="auto">
          <a:xfrm>
            <a:off x="1143000" y="1771650"/>
            <a:ext cx="6858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sz="2100"/>
          </a:p>
        </p:txBody>
      </p:sp>
    </p:spTree>
    <p:extLst>
      <p:ext uri="{BB962C8B-B14F-4D97-AF65-F5344CB8AC3E}">
        <p14:creationId xmlns:p14="http://schemas.microsoft.com/office/powerpoint/2010/main" val="326626743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4562</TotalTime>
  <Words>1827</Words>
  <Application>Microsoft Office PowerPoint</Application>
  <PresentationFormat>On-screen Show (4:3)</PresentationFormat>
  <Paragraphs>180</Paragraphs>
  <Slides>30</Slides>
  <Notes>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6" baseType="lpstr">
      <vt:lpstr>Arial</vt:lpstr>
      <vt:lpstr>Arial Black</vt:lpstr>
      <vt:lpstr>Times New Roman</vt:lpstr>
      <vt:lpstr>Wingdings</vt:lpstr>
      <vt:lpstr>Pixel</vt:lpstr>
      <vt:lpstr>Document</vt:lpstr>
      <vt:lpstr>Marketing Plan (Unique Marketing Issues) </vt:lpstr>
      <vt:lpstr>Understanding the Marketing Plan</vt:lpstr>
      <vt:lpstr>Selecting a Market and Establishing a Position in the Market</vt:lpstr>
      <vt:lpstr>The Process of Selecting a Target Market and Positioning Strategy</vt:lpstr>
      <vt:lpstr>Bases for Segmenting Markets</vt:lpstr>
      <vt:lpstr>Establishing a Unique Position</vt:lpstr>
      <vt:lpstr>Establishing a Unique Position</vt:lpstr>
      <vt:lpstr>The Four Ps of Marketing for New Ventures</vt:lpstr>
      <vt:lpstr>Marketing Mix Variables</vt:lpstr>
      <vt:lpstr>PowerPoint Presentation</vt:lpstr>
      <vt:lpstr>PowerPoint Presentation</vt:lpstr>
      <vt:lpstr>PowerPoint Presentation</vt:lpstr>
      <vt:lpstr>Selecting a Pricing Method</vt:lpstr>
      <vt:lpstr>PowerPoint Presentation</vt:lpstr>
      <vt:lpstr>PowerPoint Presentation</vt:lpstr>
      <vt:lpstr>PowerPoint Presentation</vt:lpstr>
      <vt:lpstr>Level of Marketing Channels Channels for Consumer Products</vt:lpstr>
      <vt:lpstr>PowerPoint Presentation</vt:lpstr>
      <vt:lpstr>PowerPoint Presentation</vt:lpstr>
      <vt:lpstr>PowerPoint Presentation</vt:lpstr>
      <vt:lpstr>Promotion</vt:lpstr>
      <vt:lpstr>PowerPoint Presentation</vt:lpstr>
      <vt:lpstr>Type of Advertisement </vt:lpstr>
      <vt:lpstr>Google Ads and AdSense Program</vt:lpstr>
      <vt:lpstr>PowerPoint Presentation</vt:lpstr>
      <vt:lpstr>Other Promotions Techniques</vt:lpstr>
      <vt:lpstr>PowerPoint Presentation</vt:lpstr>
      <vt:lpstr>Public Relations</vt:lpstr>
      <vt:lpstr>Public Relations Techniques</vt:lpstr>
      <vt:lpstr>Social Media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Marketing</dc:title>
  <dc:creator>Furqan</dc:creator>
  <cp:lastModifiedBy>saba Raja</cp:lastModifiedBy>
  <cp:revision>442</cp:revision>
  <cp:lastPrinted>2018-11-21T18:13:06Z</cp:lastPrinted>
  <dcterms:created xsi:type="dcterms:W3CDTF">2007-10-02T00:59:36Z</dcterms:created>
  <dcterms:modified xsi:type="dcterms:W3CDTF">2018-11-21T18:19:44Z</dcterms:modified>
</cp:coreProperties>
</file>