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5"/>
  </p:notesMasterIdLst>
  <p:handoutMasterIdLst>
    <p:handoutMasterId r:id="rId26"/>
  </p:handoutMasterIdLst>
  <p:sldIdLst>
    <p:sldId id="256" r:id="rId2"/>
    <p:sldId id="260" r:id="rId3"/>
    <p:sldId id="261" r:id="rId4"/>
    <p:sldId id="262" r:id="rId5"/>
    <p:sldId id="264" r:id="rId6"/>
    <p:sldId id="265" r:id="rId7"/>
    <p:sldId id="374" r:id="rId8"/>
    <p:sldId id="307" r:id="rId9"/>
    <p:sldId id="333" r:id="rId10"/>
    <p:sldId id="320" r:id="rId11"/>
    <p:sldId id="321" r:id="rId12"/>
    <p:sldId id="324" r:id="rId13"/>
    <p:sldId id="327" r:id="rId14"/>
    <p:sldId id="330" r:id="rId15"/>
    <p:sldId id="310" r:id="rId16"/>
    <p:sldId id="334" r:id="rId17"/>
    <p:sldId id="335" r:id="rId18"/>
    <p:sldId id="336" r:id="rId19"/>
    <p:sldId id="294" r:id="rId20"/>
    <p:sldId id="295" r:id="rId21"/>
    <p:sldId id="296" r:id="rId22"/>
    <p:sldId id="297" r:id="rId23"/>
    <p:sldId id="316" r:id="rId24"/>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charset="0"/>
        <a:ea typeface="+mn-ea"/>
        <a:cs typeface="+mn-cs"/>
      </a:defRPr>
    </a:lvl1pPr>
    <a:lvl2pPr marL="457200" algn="l" rtl="0" eaLnBrk="0" fontAlgn="base" hangingPunct="0">
      <a:spcBef>
        <a:spcPct val="0"/>
      </a:spcBef>
      <a:spcAft>
        <a:spcPct val="0"/>
      </a:spcAft>
      <a:defRPr sz="2800" kern="1200">
        <a:solidFill>
          <a:schemeClr val="tx1"/>
        </a:solidFill>
        <a:latin typeface="Arial" charset="0"/>
        <a:ea typeface="+mn-ea"/>
        <a:cs typeface="+mn-cs"/>
      </a:defRPr>
    </a:lvl2pPr>
    <a:lvl3pPr marL="914400" algn="l" rtl="0" eaLnBrk="0" fontAlgn="base" hangingPunct="0">
      <a:spcBef>
        <a:spcPct val="0"/>
      </a:spcBef>
      <a:spcAft>
        <a:spcPct val="0"/>
      </a:spcAft>
      <a:defRPr sz="2800" kern="1200">
        <a:solidFill>
          <a:schemeClr val="tx1"/>
        </a:solidFill>
        <a:latin typeface="Arial" charset="0"/>
        <a:ea typeface="+mn-ea"/>
        <a:cs typeface="+mn-cs"/>
      </a:defRPr>
    </a:lvl3pPr>
    <a:lvl4pPr marL="1371600" algn="l" rtl="0" eaLnBrk="0" fontAlgn="base" hangingPunct="0">
      <a:spcBef>
        <a:spcPct val="0"/>
      </a:spcBef>
      <a:spcAft>
        <a:spcPct val="0"/>
      </a:spcAft>
      <a:defRPr sz="2800" kern="1200">
        <a:solidFill>
          <a:schemeClr val="tx1"/>
        </a:solidFill>
        <a:latin typeface="Arial" charset="0"/>
        <a:ea typeface="+mn-ea"/>
        <a:cs typeface="+mn-cs"/>
      </a:defRPr>
    </a:lvl4pPr>
    <a:lvl5pPr marL="1828800" algn="l" rtl="0" eaLnBrk="0" fontAlgn="base" hangingPunct="0">
      <a:spcBef>
        <a:spcPct val="0"/>
      </a:spcBef>
      <a:spcAft>
        <a:spcPct val="0"/>
      </a:spcAft>
      <a:defRPr sz="2800" kern="1200">
        <a:solidFill>
          <a:schemeClr val="tx1"/>
        </a:solidFill>
        <a:latin typeface="Arial" charset="0"/>
        <a:ea typeface="+mn-ea"/>
        <a:cs typeface="+mn-cs"/>
      </a:defRPr>
    </a:lvl5pPr>
    <a:lvl6pPr marL="2286000" algn="l" defTabSz="914400" rtl="0" eaLnBrk="1" latinLnBrk="0" hangingPunct="1">
      <a:defRPr sz="2800" kern="1200">
        <a:solidFill>
          <a:schemeClr val="tx1"/>
        </a:solidFill>
        <a:latin typeface="Arial" charset="0"/>
        <a:ea typeface="+mn-ea"/>
        <a:cs typeface="+mn-cs"/>
      </a:defRPr>
    </a:lvl6pPr>
    <a:lvl7pPr marL="2743200" algn="l" defTabSz="914400" rtl="0" eaLnBrk="1" latinLnBrk="0" hangingPunct="1">
      <a:defRPr sz="2800" kern="1200">
        <a:solidFill>
          <a:schemeClr val="tx1"/>
        </a:solidFill>
        <a:latin typeface="Arial" charset="0"/>
        <a:ea typeface="+mn-ea"/>
        <a:cs typeface="+mn-cs"/>
      </a:defRPr>
    </a:lvl7pPr>
    <a:lvl8pPr marL="3200400" algn="l" defTabSz="914400" rtl="0" eaLnBrk="1" latinLnBrk="0" hangingPunct="1">
      <a:defRPr sz="2800" kern="1200">
        <a:solidFill>
          <a:schemeClr val="tx1"/>
        </a:solidFill>
        <a:latin typeface="Arial" charset="0"/>
        <a:ea typeface="+mn-ea"/>
        <a:cs typeface="+mn-cs"/>
      </a:defRPr>
    </a:lvl8pPr>
    <a:lvl9pPr marL="3657600" algn="l" defTabSz="914400" rtl="0" eaLnBrk="1" latinLnBrk="0" hangingPunct="1">
      <a:defRPr sz="2800" kern="1200">
        <a:solidFill>
          <a:schemeClr val="tx1"/>
        </a:solidFill>
        <a:latin typeface="Arial"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108E4"/>
    <a:srgbClr val="89528A"/>
    <a:srgbClr val="3333FF"/>
    <a:srgbClr val="357F2F"/>
    <a:srgbClr val="D91B0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699" autoAdjust="0"/>
  </p:normalViewPr>
  <p:slideViewPr>
    <p:cSldViewPr>
      <p:cViewPr>
        <p:scale>
          <a:sx n="70" d="100"/>
          <a:sy n="70" d="100"/>
        </p:scale>
        <p:origin x="-138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41" d="100"/>
          <a:sy n="41" d="100"/>
        </p:scale>
        <p:origin x="-906" y="-114"/>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72707" name="Rectangle 3"/>
          <p:cNvSpPr>
            <a:spLocks noGrp="1" noChangeArrowheads="1"/>
          </p:cNvSpPr>
          <p:nvPr>
            <p:ph type="dt" sz="quarter"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2708" name="Rectangle 4"/>
          <p:cNvSpPr>
            <a:spLocks noGrp="1" noChangeArrowheads="1"/>
          </p:cNvSpPr>
          <p:nvPr>
            <p:ph type="ftr" sz="quarter" idx="2"/>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72709" name="Rectangle 5"/>
          <p:cNvSpPr>
            <a:spLocks noGrp="1" noChangeArrowheads="1"/>
          </p:cNvSpPr>
          <p:nvPr>
            <p:ph type="sldNum" sz="quarter" idx="3"/>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a:lvl1pPr>
          </a:lstStyle>
          <a:p>
            <a:fld id="{072B3248-3742-4550-8556-98AA2D0D81DA}" type="slidenum">
              <a:rPr lang="en-US"/>
              <a:pPr/>
              <a:t>‹#›</a:t>
            </a:fld>
            <a:endParaRPr lang="en-US"/>
          </a:p>
        </p:txBody>
      </p:sp>
    </p:spTree>
    <p:extLst>
      <p:ext uri="{BB962C8B-B14F-4D97-AF65-F5344CB8AC3E}">
        <p14:creationId xmlns:p14="http://schemas.microsoft.com/office/powerpoint/2010/main" xmlns="" val="2579959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59395" name="Rectangle 3"/>
          <p:cNvSpPr>
            <a:spLocks noGrp="1" noChangeArrowheads="1"/>
          </p:cNvSpPr>
          <p:nvPr>
            <p:ph type="dt"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59397" name="Rectangle 5"/>
          <p:cNvSpPr>
            <a:spLocks noGrp="1" noChangeArrowheads="1"/>
          </p:cNvSpPr>
          <p:nvPr>
            <p:ph type="body" sz="quarter" idx="3"/>
          </p:nvPr>
        </p:nvSpPr>
        <p:spPr bwMode="auto">
          <a:xfrm>
            <a:off x="685800" y="4343400"/>
            <a:ext cx="54864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9398" name="Rectangle 6"/>
          <p:cNvSpPr>
            <a:spLocks noGrp="1" noChangeArrowheads="1"/>
          </p:cNvSpPr>
          <p:nvPr>
            <p:ph type="ftr" sz="quarter" idx="4"/>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59399" name="Rectangle 7"/>
          <p:cNvSpPr>
            <a:spLocks noGrp="1" noChangeArrowheads="1"/>
          </p:cNvSpPr>
          <p:nvPr>
            <p:ph type="sldNum" sz="quarter" idx="5"/>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a:lvl1pPr>
          </a:lstStyle>
          <a:p>
            <a:fld id="{B60A90C0-3980-4C38-AEAA-70202EB56953}" type="slidenum">
              <a:rPr lang="en-US"/>
              <a:pPr/>
              <a:t>‹#›</a:t>
            </a:fld>
            <a:endParaRPr lang="en-US"/>
          </a:p>
        </p:txBody>
      </p:sp>
    </p:spTree>
    <p:extLst>
      <p:ext uri="{BB962C8B-B14F-4D97-AF65-F5344CB8AC3E}">
        <p14:creationId xmlns:p14="http://schemas.microsoft.com/office/powerpoint/2010/main" xmlns="" val="22658537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C9CD539-FC85-4DE2-961B-B9DBBD1C5C6B}" type="slidenum">
              <a:rPr lang="en-US"/>
              <a:pPr eaLnBrk="1" hangingPunct="1"/>
              <a:t>9</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sz="1200" b="0" i="0" u="none" strike="noStrike" kern="1200" baseline="0" dirty="0" smtClean="0">
                <a:solidFill>
                  <a:schemeClr val="tx1"/>
                </a:solidFill>
                <a:latin typeface="Arial" charset="0"/>
                <a:ea typeface="+mn-ea"/>
                <a:cs typeface="+mn-cs"/>
              </a:rPr>
              <a:t>If the price gets too high,</a:t>
            </a:r>
          </a:p>
          <a:p>
            <a:r>
              <a:rPr lang="en-US" sz="1200" b="0" i="0" u="none" strike="noStrike" kern="1200" baseline="0" dirty="0" smtClean="0">
                <a:solidFill>
                  <a:schemeClr val="tx1"/>
                </a:solidFill>
                <a:latin typeface="Arial" charset="0"/>
                <a:ea typeface="+mn-ea"/>
                <a:cs typeface="+mn-cs"/>
              </a:rPr>
              <a:t>businesspeople will increasingly utilize videoconferencing as a substitute for</a:t>
            </a:r>
          </a:p>
          <a:p>
            <a:r>
              <a:rPr lang="en-US" sz="1200" b="0" i="0" u="none" strike="noStrike" kern="1200" baseline="0" dirty="0" smtClean="0">
                <a:solidFill>
                  <a:schemeClr val="tx1"/>
                </a:solidFill>
                <a:latin typeface="Arial" charset="0"/>
                <a:ea typeface="+mn-ea"/>
                <a:cs typeface="+mn-cs"/>
              </a:rPr>
              <a:t>travel. This problem is particularly acute if the substitutes are free or nearly</a:t>
            </a:r>
          </a:p>
          <a:p>
            <a:r>
              <a:rPr lang="en-US" sz="1200" b="0" i="0" u="none" strike="noStrike" kern="1200" baseline="0" dirty="0" smtClean="0">
                <a:solidFill>
                  <a:schemeClr val="tx1"/>
                </a:solidFill>
                <a:latin typeface="Arial" charset="0"/>
                <a:ea typeface="+mn-ea"/>
                <a:cs typeface="+mn-cs"/>
              </a:rPr>
              <a:t>free. For example, if the price of express mail gets too high, people will</a:t>
            </a:r>
          </a:p>
          <a:p>
            <a:r>
              <a:rPr lang="en-US" sz="1200" b="0" i="0" u="none" strike="noStrike" kern="1200" baseline="0" dirty="0" smtClean="0">
                <a:solidFill>
                  <a:schemeClr val="tx1"/>
                </a:solidFill>
                <a:latin typeface="Arial" charset="0"/>
                <a:ea typeface="+mn-ea"/>
                <a:cs typeface="+mn-cs"/>
              </a:rPr>
              <a:t>increasingly attach documents to e-mail messages rather than sending them</a:t>
            </a:r>
          </a:p>
          <a:p>
            <a:r>
              <a:rPr lang="en-US" sz="1200" b="0" i="0" u="none" strike="noStrike" kern="1200" baseline="0" dirty="0" smtClean="0">
                <a:solidFill>
                  <a:schemeClr val="tx1"/>
                </a:solidFill>
                <a:latin typeface="Arial" charset="0"/>
                <a:ea typeface="+mn-ea"/>
                <a:cs typeface="+mn-cs"/>
              </a:rPr>
              <a:t>via UPS or FedEx.</a:t>
            </a:r>
            <a:endParaRPr lang="en-US" dirty="0" smtClean="0">
              <a:latin typeface="Arial" panose="020B0604020202020204" pitchFamily="34" charset="0"/>
            </a:endParaRPr>
          </a:p>
        </p:txBody>
      </p:sp>
    </p:spTree>
    <p:extLst>
      <p:ext uri="{BB962C8B-B14F-4D97-AF65-F5344CB8AC3E}">
        <p14:creationId xmlns:p14="http://schemas.microsoft.com/office/powerpoint/2010/main" xmlns="" val="3942113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4113A20-E3AD-42A6-8646-2E3C8444962C}" type="slidenum">
              <a:rPr lang="en-US"/>
              <a:pPr eaLnBrk="1" hangingPunct="1"/>
              <a:t>15</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smtClean="0">
              <a:latin typeface="Arial" panose="020B0604020202020204" pitchFamily="34" charset="0"/>
            </a:endParaRPr>
          </a:p>
        </p:txBody>
      </p:sp>
    </p:spTree>
    <p:extLst>
      <p:ext uri="{BB962C8B-B14F-4D97-AF65-F5344CB8AC3E}">
        <p14:creationId xmlns:p14="http://schemas.microsoft.com/office/powerpoint/2010/main" xmlns="" val="2928365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50938" y="692150"/>
            <a:ext cx="4556125" cy="3416300"/>
          </a:xfrm>
          <a:ln cap="flat"/>
        </p:spPr>
      </p:sp>
      <p:sp>
        <p:nvSpPr>
          <p:cNvPr id="17411" name="Rectangle 3"/>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xmlns="" val="2429424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1150938" y="692150"/>
            <a:ext cx="4556125" cy="3416300"/>
          </a:xfrm>
          <a:ln cap="flat"/>
        </p:spPr>
      </p:sp>
      <p:sp>
        <p:nvSpPr>
          <p:cNvPr id="19459" name="Rectangle 3"/>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xmlns="" val="490172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defRPr/>
              </a:pPr>
              <a:endParaRPr lang="en-US" sz="2400" smtClean="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grpSp>
      </p:grpSp>
      <p:sp>
        <p:nvSpPr>
          <p:cNvPr id="5531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en-US" noProof="0" smtClean="0"/>
              <a:t>Click to edit Master title style</a:t>
            </a:r>
          </a:p>
        </p:txBody>
      </p:sp>
      <p:sp>
        <p:nvSpPr>
          <p:cNvPr id="5531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en-US" noProof="0" smtClean="0"/>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p:txBody>
          <a:bodyPr/>
          <a:lstStyle>
            <a:lvl1pPr>
              <a:defRPr/>
            </a:lvl1pPr>
          </a:lstStyle>
          <a:p>
            <a:fld id="{477BF0A0-A918-4207-87EC-7FF3280AA743}" type="slidenum">
              <a:rPr lang="en-US"/>
              <a:pPr/>
              <a:t>‹#›</a:t>
            </a:fld>
            <a:endParaRPr lang="en-US"/>
          </a:p>
        </p:txBody>
      </p:sp>
    </p:spTree>
    <p:extLst>
      <p:ext uri="{BB962C8B-B14F-4D97-AF65-F5344CB8AC3E}">
        <p14:creationId xmlns:p14="http://schemas.microsoft.com/office/powerpoint/2010/main" xmlns="" val="3554596659"/>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957F6B4F-1517-4E06-9D34-2A0254A37EA2}"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101455404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82E638F5-3713-4B38-B41F-4200B1243ABD}"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103323204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4BF7896F-F25B-4DF9-B766-31C3E186E1AC}"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359562545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fld id="{4530B2A1-F9E9-46DC-A3ED-00AF5F18F06A}" type="slidenum">
              <a:rPr lang="en-US"/>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75060953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fld id="{45897356-8A93-4E72-A744-DE5D394E6DCC}" type="slidenum">
              <a:rPr lang="en-US"/>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68506485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fld id="{B4403D01-21DF-454E-931A-4E6ED8B5AF15}" type="slidenum">
              <a:rPr lang="en-US"/>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299257656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F825D0B7-9688-487B-A4B5-90F7EAF6E9AC}"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391022497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8B7D11D6-27AD-45C0-B738-D2F3BEF6713C}"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8919825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D9FDAD4D-CB4A-4E5D-9165-0019CA8CA9AC}"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36335447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fld id="{9A220CE2-9E86-48E3-920D-6B19E9321397}" type="slidenum">
              <a:rPr lang="en-US"/>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301523150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
          <p:cNvSpPr>
            <a:spLocks noGrp="1" noChangeArrowheads="1"/>
          </p:cNvSpPr>
          <p:nvPr>
            <p:ph type="ftr" sz="quarter" idx="10"/>
          </p:nvPr>
        </p:nvSpPr>
        <p:spPr>
          <a:ln/>
        </p:spPr>
        <p:txBody>
          <a:bodyPr/>
          <a:lstStyle>
            <a:lvl1pPr>
              <a:defRPr/>
            </a:lvl1pPr>
          </a:lstStyle>
          <a:p>
            <a:pPr>
              <a:defRPr/>
            </a:pPr>
            <a:endParaRPr lang="en-US"/>
          </a:p>
        </p:txBody>
      </p:sp>
      <p:sp>
        <p:nvSpPr>
          <p:cNvPr id="7" name="Rectangle 3"/>
          <p:cNvSpPr>
            <a:spLocks noGrp="1" noChangeArrowheads="1"/>
          </p:cNvSpPr>
          <p:nvPr>
            <p:ph type="sldNum" sz="quarter" idx="11"/>
          </p:nvPr>
        </p:nvSpPr>
        <p:spPr>
          <a:ln/>
        </p:spPr>
        <p:txBody>
          <a:bodyPr/>
          <a:lstStyle>
            <a:lvl1pPr>
              <a:defRPr/>
            </a:lvl1pPr>
          </a:lstStyle>
          <a:p>
            <a:fld id="{87EF4393-F296-4065-BF42-BDBEC44B8E64}" type="slidenum">
              <a:rPr lang="en-US"/>
              <a:pPr/>
              <a:t>‹#›</a:t>
            </a:fld>
            <a:endParaRPr lang="en-US"/>
          </a:p>
        </p:txBody>
      </p:sp>
      <p:sp>
        <p:nvSpPr>
          <p:cNvPr id="8"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332977145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981200"/>
            <a:ext cx="4038600" cy="3886200"/>
          </a:xfrm>
        </p:spPr>
        <p:txBody>
          <a:bodyPr/>
          <a:lstStyle/>
          <a:p>
            <a:pPr lvl="0"/>
            <a:endParaRPr lang="en-US" noProof="0" smtClean="0"/>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fld id="{BE7426DF-16ED-4372-937B-44D674C6962C}" type="slidenum">
              <a:rPr lang="en-US"/>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174859431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981200"/>
            <a:ext cx="40386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1866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
          <p:cNvSpPr>
            <a:spLocks noGrp="1" noChangeArrowheads="1"/>
          </p:cNvSpPr>
          <p:nvPr>
            <p:ph type="ftr" sz="quarter" idx="10"/>
          </p:nvPr>
        </p:nvSpPr>
        <p:spPr>
          <a:ln/>
        </p:spPr>
        <p:txBody>
          <a:bodyPr/>
          <a:lstStyle>
            <a:lvl1pPr>
              <a:defRPr/>
            </a:lvl1pPr>
          </a:lstStyle>
          <a:p>
            <a:pPr>
              <a:defRPr/>
            </a:pPr>
            <a:endParaRPr lang="en-US"/>
          </a:p>
        </p:txBody>
      </p:sp>
      <p:sp>
        <p:nvSpPr>
          <p:cNvPr id="7" name="Rectangle 3"/>
          <p:cNvSpPr>
            <a:spLocks noGrp="1" noChangeArrowheads="1"/>
          </p:cNvSpPr>
          <p:nvPr>
            <p:ph type="sldNum" sz="quarter" idx="11"/>
          </p:nvPr>
        </p:nvSpPr>
        <p:spPr>
          <a:ln/>
        </p:spPr>
        <p:txBody>
          <a:bodyPr/>
          <a:lstStyle>
            <a:lvl1pPr>
              <a:defRPr/>
            </a:lvl1pPr>
          </a:lstStyle>
          <a:p>
            <a:fld id="{CA943D48-AE23-4EFB-A263-E82B3730B84A}" type="slidenum">
              <a:rPr lang="en-US"/>
              <a:pPr/>
              <a:t>‹#›</a:t>
            </a:fld>
            <a:endParaRPr lang="en-US"/>
          </a:p>
        </p:txBody>
      </p:sp>
      <p:sp>
        <p:nvSpPr>
          <p:cNvPr id="8"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117079510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4274" name="Rectangle 2"/>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54275" name="Rectangle 3"/>
          <p:cNvSpPr>
            <a:spLocks noGrp="1" noChangeArrowheads="1"/>
          </p:cNvSpPr>
          <p:nvPr>
            <p:ph type="sldNum" sz="quarter" idx="4"/>
          </p:nvPr>
        </p:nvSpPr>
        <p:spPr bwMode="auto">
          <a:xfrm>
            <a:off x="6553200" y="6248400"/>
            <a:ext cx="2133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eaLnBrk="1" hangingPunct="1">
              <a:defRPr sz="1200">
                <a:latin typeface="Arial Black" pitchFamily="34" charset="0"/>
              </a:defRPr>
            </a:lvl1pPr>
          </a:lstStyle>
          <a:p>
            <a:fld id="{295A236E-2D81-443F-BDF8-EF3B026FFE65}" type="slidenum">
              <a:rPr lang="en-US"/>
              <a:pPr/>
              <a:t>‹#›</a:t>
            </a:fld>
            <a:endParaRPr lang="en-US"/>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algn="ctr" eaLnBrk="1" hangingPunct="1">
                <a:defRPr/>
              </a:pPr>
              <a:endParaRPr lang="en-US" sz="2400" smtClean="0">
                <a:latin typeface="Times New Roman" panose="02020603050405020304"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2400" smtClean="0">
                <a:latin typeface="Times New Roman" panose="02020603050405020304"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defRPr>
              </a:lvl1pPr>
              <a:lvl2pPr marL="742950" indent="-285750" eaLnBrk="0" hangingPunct="0">
                <a:defRPr sz="2800">
                  <a:solidFill>
                    <a:schemeClr val="tx1"/>
                  </a:solidFill>
                  <a:latin typeface="Arial" panose="020B0604020202020204" pitchFamily="34" charset="0"/>
                </a:defRPr>
              </a:lvl2pPr>
              <a:lvl3pPr marL="1143000" indent="-228600" eaLnBrk="0" hangingPunct="0">
                <a:defRPr sz="2800">
                  <a:solidFill>
                    <a:schemeClr val="tx1"/>
                  </a:solidFill>
                  <a:latin typeface="Arial" panose="020B0604020202020204" pitchFamily="34" charset="0"/>
                </a:defRPr>
              </a:lvl3pPr>
              <a:lvl4pPr marL="1600200" indent="-228600" eaLnBrk="0" hangingPunct="0">
                <a:defRPr sz="2800">
                  <a:solidFill>
                    <a:schemeClr val="tx1"/>
                  </a:solidFill>
                  <a:latin typeface="Arial" panose="020B0604020202020204" pitchFamily="34" charset="0"/>
                </a:defRPr>
              </a:lvl4pPr>
              <a:lvl5pPr marL="2057400" indent="-228600" eaLnBrk="0" hangingPunct="0">
                <a:defRPr sz="2800">
                  <a:solidFill>
                    <a:schemeClr val="tx1"/>
                  </a:solidFill>
                  <a:latin typeface="Arial" panose="020B0604020202020204" pitchFamily="34" charset="0"/>
                </a:defRPr>
              </a:lvl5pPr>
              <a:lvl6pPr marL="2514600" indent="-228600" algn="ctr" eaLnBrk="0" fontAlgn="base" hangingPunct="0">
                <a:spcBef>
                  <a:spcPct val="0"/>
                </a:spcBef>
                <a:spcAft>
                  <a:spcPct val="0"/>
                </a:spcAft>
                <a:defRPr sz="2800">
                  <a:solidFill>
                    <a:schemeClr val="tx1"/>
                  </a:solidFill>
                  <a:latin typeface="Arial" panose="020B0604020202020204" pitchFamily="34" charset="0"/>
                </a:defRPr>
              </a:lvl6pPr>
              <a:lvl7pPr marL="2971800" indent="-228600" algn="ctr" eaLnBrk="0" fontAlgn="base" hangingPunct="0">
                <a:spcBef>
                  <a:spcPct val="0"/>
                </a:spcBef>
                <a:spcAft>
                  <a:spcPct val="0"/>
                </a:spcAft>
                <a:defRPr sz="2800">
                  <a:solidFill>
                    <a:schemeClr val="tx1"/>
                  </a:solidFill>
                  <a:latin typeface="Arial" panose="020B0604020202020204" pitchFamily="34" charset="0"/>
                </a:defRPr>
              </a:lvl7pPr>
              <a:lvl8pPr marL="3429000" indent="-228600" algn="ctr" eaLnBrk="0" fontAlgn="base" hangingPunct="0">
                <a:spcBef>
                  <a:spcPct val="0"/>
                </a:spcBef>
                <a:spcAft>
                  <a:spcPct val="0"/>
                </a:spcAft>
                <a:defRPr sz="2800">
                  <a:solidFill>
                    <a:schemeClr val="tx1"/>
                  </a:solidFill>
                  <a:latin typeface="Arial" panose="020B0604020202020204" pitchFamily="34" charset="0"/>
                </a:defRPr>
              </a:lvl8pPr>
              <a:lvl9pPr marL="3886200" indent="-228600" algn="ctr"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defRPr/>
              </a:pPr>
              <a:endParaRPr lang="en-US" sz="1800" smtClean="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4287"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4288" name="Rectangle 16"/>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4037"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 id="2147484033" r:id="rId12"/>
    <p:sldLayoutId id="2147484034" r:id="rId13"/>
    <p:sldLayoutId id="2147484035" r:id="rId14"/>
  </p:sldLayoutIdLs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2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28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2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2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7" grpId="0" build="p">
        <p:tmplLst>
          <p:tmpl lvl="1">
            <p:tnLst>
              <p:par>
                <p:cTn presetID="1" presetClass="entr" presetSubtype="0" fill="hold" nodeType="click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54287"/>
                        </p:tgtEl>
                        <p:attrNameLst>
                          <p:attrName>style.visibility</p:attrName>
                        </p:attrNameLst>
                      </p:cBhvr>
                      <p:to>
                        <p:strVal val="visible"/>
                      </p:to>
                    </p:set>
                  </p:childTnLst>
                </p:cTn>
              </p:par>
            </p:tnLst>
          </p:tmpl>
        </p:tmplLst>
      </p:bldP>
    </p:bldLst>
  </p:timing>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Times New Roman" pitchFamily="18" charset="0"/>
        </a:defRPr>
      </a:lvl2pPr>
      <a:lvl3pPr algn="l" rtl="0" eaLnBrk="0" fontAlgn="base" hangingPunct="0">
        <a:spcBef>
          <a:spcPct val="0"/>
        </a:spcBef>
        <a:spcAft>
          <a:spcPct val="0"/>
        </a:spcAft>
        <a:defRPr sz="4400">
          <a:solidFill>
            <a:schemeClr val="tx1"/>
          </a:solidFill>
          <a:latin typeface="Times New Roman" pitchFamily="18" charset="0"/>
        </a:defRPr>
      </a:lvl3pPr>
      <a:lvl4pPr algn="l" rtl="0" eaLnBrk="0" fontAlgn="base" hangingPunct="0">
        <a:spcBef>
          <a:spcPct val="0"/>
        </a:spcBef>
        <a:spcAft>
          <a:spcPct val="0"/>
        </a:spcAft>
        <a:defRPr sz="4400">
          <a:solidFill>
            <a:schemeClr val="tx1"/>
          </a:solidFill>
          <a:latin typeface="Times New Roman" pitchFamily="18" charset="0"/>
        </a:defRPr>
      </a:lvl4pPr>
      <a:lvl5pPr algn="l" rtl="0" eaLnBrk="0" fontAlgn="base" hangingPunct="0">
        <a:spcBef>
          <a:spcPct val="0"/>
        </a:spcBef>
        <a:spcAft>
          <a:spcPct val="0"/>
        </a:spcAft>
        <a:defRPr sz="4400">
          <a:solidFill>
            <a:schemeClr val="tx1"/>
          </a:solidFill>
          <a:latin typeface="Times New Roman" pitchFamily="18"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ctrTitle"/>
          </p:nvPr>
        </p:nvSpPr>
        <p:spPr>
          <a:xfrm>
            <a:off x="2895600" y="1752600"/>
            <a:ext cx="6705600" cy="2362200"/>
          </a:xfrm>
        </p:spPr>
        <p:txBody>
          <a:bodyPr/>
          <a:lstStyle/>
          <a:p>
            <a:pPr algn="ctr" eaLnBrk="1" hangingPunct="1">
              <a:spcBef>
                <a:spcPct val="50000"/>
              </a:spcBef>
            </a:pPr>
            <a:r>
              <a:rPr lang="en-US" sz="4000" b="1" dirty="0"/>
              <a:t>Industry and Competitor Analysis</a:t>
            </a:r>
          </a:p>
        </p:txBody>
      </p:sp>
      <p:sp>
        <p:nvSpPr>
          <p:cNvPr id="5124" name="Rectangle 3"/>
          <p:cNvSpPr>
            <a:spLocks noGrp="1" noChangeArrowheads="1"/>
          </p:cNvSpPr>
          <p:nvPr>
            <p:ph type="subTitle" idx="1"/>
          </p:nvPr>
        </p:nvSpPr>
        <p:spPr>
          <a:xfrm>
            <a:off x="2819400" y="1219200"/>
            <a:ext cx="5486400" cy="914400"/>
          </a:xfrm>
        </p:spPr>
        <p:txBody>
          <a:bodyPr/>
          <a:lstStyle/>
          <a:p>
            <a:pPr eaLnBrk="1" hangingPunct="1"/>
            <a:r>
              <a:rPr lang="en-US" sz="2400" b="1" dirty="0" smtClean="0"/>
              <a:t>Chapter 5</a:t>
            </a:r>
          </a:p>
        </p:txBody>
      </p:sp>
      <p:sp>
        <p:nvSpPr>
          <p:cNvPr id="5126" name="Text Box 5"/>
          <p:cNvSpPr txBox="1">
            <a:spLocks noChangeArrowheads="1"/>
          </p:cNvSpPr>
          <p:nvPr/>
        </p:nvSpPr>
        <p:spPr bwMode="auto">
          <a:xfrm>
            <a:off x="1981200" y="6338887"/>
            <a:ext cx="7162800" cy="519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ctr">
              <a:spcBef>
                <a:spcPct val="50000"/>
              </a:spcBef>
            </a:pPr>
            <a:r>
              <a:rPr lang="en-US" sz="2800" b="1" i="1" dirty="0"/>
              <a:t>  </a:t>
            </a:r>
            <a:endParaRPr lang="en-US" sz="2400" b="1" i="1" u="sng" dirty="0"/>
          </a:p>
        </p:txBody>
      </p:sp>
      <p:sp>
        <p:nvSpPr>
          <p:cNvPr id="2" name="Slide Number Placeholder 1"/>
          <p:cNvSpPr>
            <a:spLocks noGrp="1"/>
          </p:cNvSpPr>
          <p:nvPr>
            <p:ph type="sldNum" sz="quarter" idx="12"/>
          </p:nvPr>
        </p:nvSpPr>
        <p:spPr/>
        <p:txBody>
          <a:bodyPr/>
          <a:lstStyle/>
          <a:p>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52400"/>
            <a:ext cx="8229600" cy="1143000"/>
          </a:xfrm>
        </p:spPr>
        <p:txBody>
          <a:bodyPr/>
          <a:lstStyle/>
          <a:p>
            <a:pPr algn="ctr" eaLnBrk="1" hangingPunct="1"/>
            <a:r>
              <a:rPr lang="en-US" sz="3600" b="1" dirty="0" smtClean="0">
                <a:solidFill>
                  <a:schemeClr val="bg2"/>
                </a:solidFill>
                <a:latin typeface="Times New Roman" panose="02020603050405020304" pitchFamily="18" charset="0"/>
              </a:rPr>
              <a:t>What is Industry Analysis?</a:t>
            </a:r>
          </a:p>
        </p:txBody>
      </p:sp>
      <p:sp>
        <p:nvSpPr>
          <p:cNvPr id="5123" name="Rectangle 3"/>
          <p:cNvSpPr>
            <a:spLocks noGrp="1" noChangeArrowheads="1"/>
          </p:cNvSpPr>
          <p:nvPr>
            <p:ph type="body" idx="1"/>
          </p:nvPr>
        </p:nvSpPr>
        <p:spPr>
          <a:xfrm>
            <a:off x="152400" y="1143000"/>
            <a:ext cx="8991600" cy="5334000"/>
          </a:xfrm>
        </p:spPr>
        <p:txBody>
          <a:bodyPr/>
          <a:lstStyle/>
          <a:p>
            <a:pPr eaLnBrk="1" hangingPunct="1"/>
            <a:r>
              <a:rPr lang="en-US" b="1" dirty="0" smtClean="0">
                <a:latin typeface="Times New Roman" panose="02020603050405020304" pitchFamily="18" charset="0"/>
              </a:rPr>
              <a:t>Industry</a:t>
            </a:r>
          </a:p>
          <a:p>
            <a:pPr lvl="1" eaLnBrk="1" hangingPunct="1"/>
            <a:r>
              <a:rPr lang="en-US" dirty="0" smtClean="0">
                <a:latin typeface="Times New Roman" panose="02020603050405020304" pitchFamily="18" charset="0"/>
              </a:rPr>
              <a:t>An industry is a group of firms producing a similar product or service, such as airlines, drinks, furniture, or electronic games.</a:t>
            </a:r>
          </a:p>
          <a:p>
            <a:pPr eaLnBrk="1" hangingPunct="1"/>
            <a:r>
              <a:rPr lang="en-US" b="1" dirty="0" smtClean="0">
                <a:latin typeface="Times New Roman" panose="02020603050405020304" pitchFamily="18" charset="0"/>
              </a:rPr>
              <a:t>Industry Analysis</a:t>
            </a:r>
          </a:p>
          <a:p>
            <a:pPr lvl="1" eaLnBrk="1" hangingPunct="1"/>
            <a:r>
              <a:rPr lang="en-US" dirty="0">
                <a:latin typeface="Times New Roman" panose="02020603050405020304" pitchFamily="18" charset="0"/>
              </a:rPr>
              <a:t>A market assessment tool designed to provide a business with an idea of the complexity of a particular industry. Industry analysis involves reviewing the economic, political and market factors that influence the way the industry develops. Major factors can include the power wielded by suppliers and buyers, the condition of competitors, and the likelihood of new market entrants.</a:t>
            </a:r>
          </a:p>
          <a:p>
            <a:pPr lvl="1" eaLnBrk="1" hangingPunct="1"/>
            <a:endParaRPr lang="en-US" sz="2400" dirty="0">
              <a:latin typeface="Times New Roman" panose="02020603050405020304" pitchFamily="18" charset="0"/>
            </a:endParaRPr>
          </a:p>
        </p:txBody>
      </p:sp>
      <p:sp>
        <p:nvSpPr>
          <p:cNvPr id="5124" name="Line 4"/>
          <p:cNvSpPr>
            <a:spLocks noChangeShapeType="1"/>
          </p:cNvSpPr>
          <p:nvPr/>
        </p:nvSpPr>
        <p:spPr bwMode="auto">
          <a:xfrm>
            <a:off x="0" y="9906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8154230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152400"/>
            <a:ext cx="8229600" cy="1143000"/>
          </a:xfrm>
        </p:spPr>
        <p:txBody>
          <a:bodyPr/>
          <a:lstStyle/>
          <a:p>
            <a:pPr algn="ctr" eaLnBrk="1" hangingPunct="1"/>
            <a:r>
              <a:rPr lang="en-US" sz="3600" b="1" dirty="0" smtClean="0">
                <a:solidFill>
                  <a:schemeClr val="bg2"/>
                </a:solidFill>
                <a:latin typeface="Times New Roman" panose="02020603050405020304" pitchFamily="18" charset="0"/>
              </a:rPr>
              <a:t>Why is Industry Analysis Important?</a:t>
            </a:r>
          </a:p>
        </p:txBody>
      </p:sp>
      <p:sp>
        <p:nvSpPr>
          <p:cNvPr id="6147"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8" name="Text Box 4"/>
          <p:cNvSpPr txBox="1">
            <a:spLocks noChangeArrowheads="1"/>
          </p:cNvSpPr>
          <p:nvPr/>
        </p:nvSpPr>
        <p:spPr bwMode="auto">
          <a:xfrm>
            <a:off x="228600" y="2971800"/>
            <a:ext cx="396240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spcBef>
                <a:spcPct val="50000"/>
              </a:spcBef>
            </a:pPr>
            <a:r>
              <a:rPr lang="en-US" sz="2800"/>
              <a:t>Industry Analysis</a:t>
            </a:r>
          </a:p>
        </p:txBody>
      </p:sp>
      <p:sp>
        <p:nvSpPr>
          <p:cNvPr id="6149" name="Rectangle 5"/>
          <p:cNvSpPr>
            <a:spLocks noChangeArrowheads="1"/>
          </p:cNvSpPr>
          <p:nvPr/>
        </p:nvSpPr>
        <p:spPr bwMode="auto">
          <a:xfrm>
            <a:off x="3962400" y="1600200"/>
            <a:ext cx="4800600" cy="4648200"/>
          </a:xfrm>
          <a:prstGeom prst="rect">
            <a:avLst/>
          </a:prstGeom>
          <a:solidFill>
            <a:srgbClr val="FFFFCC"/>
          </a:solidFill>
          <a:ln w="9525">
            <a:solidFill>
              <a:schemeClr val="tx1"/>
            </a:solidFill>
            <a:miter lim="800000"/>
            <a:headEnd/>
            <a:tailEnd/>
          </a:ln>
        </p:spPr>
        <p:txBody>
          <a:bodyPr wrap="none" anchor="ct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endParaRPr lang="en-GB" sz="2400"/>
          </a:p>
        </p:txBody>
      </p:sp>
      <p:sp>
        <p:nvSpPr>
          <p:cNvPr id="6150" name="TextBox 11"/>
          <p:cNvSpPr txBox="1">
            <a:spLocks noChangeArrowheads="1"/>
          </p:cNvSpPr>
          <p:nvPr/>
        </p:nvSpPr>
        <p:spPr bwMode="auto">
          <a:xfrm>
            <a:off x="4038600" y="1600200"/>
            <a:ext cx="4648200"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eaLnBrk="1" hangingPunct="1"/>
            <a:r>
              <a:rPr lang="en-US" sz="2400"/>
              <a:t>Importance</a:t>
            </a:r>
          </a:p>
        </p:txBody>
      </p:sp>
      <p:sp>
        <p:nvSpPr>
          <p:cNvPr id="6151" name="TextBox 12"/>
          <p:cNvSpPr txBox="1">
            <a:spLocks noChangeArrowheads="1"/>
          </p:cNvSpPr>
          <p:nvPr/>
        </p:nvSpPr>
        <p:spPr bwMode="auto">
          <a:xfrm>
            <a:off x="4038600" y="2057400"/>
            <a:ext cx="4724400" cy="4165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eaLnBrk="1" hangingPunct="1">
              <a:lnSpc>
                <a:spcPts val="3200"/>
              </a:lnSpc>
              <a:buFont typeface="Arial" panose="020B0604020202020204" pitchFamily="34" charset="0"/>
              <a:buChar char="•"/>
            </a:pPr>
            <a:r>
              <a:rPr lang="en-US" sz="2400"/>
              <a:t> Once it is determined that a new</a:t>
            </a:r>
          </a:p>
          <a:p>
            <a:pPr eaLnBrk="1" hangingPunct="1">
              <a:lnSpc>
                <a:spcPts val="3200"/>
              </a:lnSpc>
            </a:pPr>
            <a:r>
              <a:rPr lang="en-US" sz="2400"/>
              <a:t>   venture is feasible in regard to the</a:t>
            </a:r>
          </a:p>
          <a:p>
            <a:pPr eaLnBrk="1" hangingPunct="1">
              <a:lnSpc>
                <a:spcPts val="3200"/>
              </a:lnSpc>
            </a:pPr>
            <a:r>
              <a:rPr lang="en-US" sz="2400"/>
              <a:t>   industry and market in which it </a:t>
            </a:r>
          </a:p>
          <a:p>
            <a:pPr eaLnBrk="1" hangingPunct="1">
              <a:lnSpc>
                <a:spcPts val="3200"/>
              </a:lnSpc>
            </a:pPr>
            <a:r>
              <a:rPr lang="en-US" sz="2400"/>
              <a:t>   will compete, a more in-depth </a:t>
            </a:r>
          </a:p>
          <a:p>
            <a:pPr eaLnBrk="1" hangingPunct="1">
              <a:lnSpc>
                <a:spcPts val="3200"/>
              </a:lnSpc>
            </a:pPr>
            <a:r>
              <a:rPr lang="en-US" sz="2400"/>
              <a:t>   analysis is needed to learn the ins</a:t>
            </a:r>
          </a:p>
          <a:p>
            <a:pPr eaLnBrk="1" hangingPunct="1">
              <a:lnSpc>
                <a:spcPts val="3200"/>
              </a:lnSpc>
            </a:pPr>
            <a:r>
              <a:rPr lang="en-US" sz="2400"/>
              <a:t>   and outs of the industry.</a:t>
            </a:r>
          </a:p>
          <a:p>
            <a:pPr eaLnBrk="1" hangingPunct="1">
              <a:lnSpc>
                <a:spcPts val="3200"/>
              </a:lnSpc>
              <a:buFont typeface="Arial" panose="020B0604020202020204" pitchFamily="34" charset="0"/>
              <a:buChar char="•"/>
            </a:pPr>
            <a:r>
              <a:rPr lang="en-US" sz="2400"/>
              <a:t> The analysis helps a firm determine </a:t>
            </a:r>
          </a:p>
          <a:p>
            <a:pPr eaLnBrk="1" hangingPunct="1">
              <a:lnSpc>
                <a:spcPts val="3200"/>
              </a:lnSpc>
            </a:pPr>
            <a:r>
              <a:rPr lang="en-US" sz="2400"/>
              <a:t>   if the target market it identified </a:t>
            </a:r>
          </a:p>
          <a:p>
            <a:pPr eaLnBrk="1" hangingPunct="1">
              <a:lnSpc>
                <a:spcPts val="3200"/>
              </a:lnSpc>
            </a:pPr>
            <a:r>
              <a:rPr lang="en-US" sz="2400"/>
              <a:t>   during feasibility analysis is </a:t>
            </a:r>
          </a:p>
          <a:p>
            <a:pPr eaLnBrk="1" hangingPunct="1">
              <a:lnSpc>
                <a:spcPts val="3200"/>
              </a:lnSpc>
            </a:pPr>
            <a:r>
              <a:rPr lang="en-US" sz="2400"/>
              <a:t>   favorable for a new firm.</a:t>
            </a:r>
          </a:p>
        </p:txBody>
      </p:sp>
    </p:spTree>
    <p:extLst>
      <p:ext uri="{BB962C8B-B14F-4D97-AF65-F5344CB8AC3E}">
        <p14:creationId xmlns:p14="http://schemas.microsoft.com/office/powerpoint/2010/main" xmlns="" val="391965089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52400"/>
            <a:ext cx="8229600" cy="1143000"/>
          </a:xfrm>
        </p:spPr>
        <p:txBody>
          <a:bodyPr/>
          <a:lstStyle/>
          <a:p>
            <a:pPr algn="ctr" eaLnBrk="1" hangingPunct="1"/>
            <a:r>
              <a:rPr lang="en-US" sz="3600" b="1" dirty="0" smtClean="0">
                <a:solidFill>
                  <a:schemeClr val="bg2"/>
                </a:solidFill>
                <a:latin typeface="Times New Roman" panose="02020603050405020304" pitchFamily="18" charset="0"/>
              </a:rPr>
              <a:t>Key Questions</a:t>
            </a:r>
          </a:p>
        </p:txBody>
      </p:sp>
      <p:sp>
        <p:nvSpPr>
          <p:cNvPr id="7171"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 name="Rectangle 1"/>
          <p:cNvSpPr/>
          <p:nvPr/>
        </p:nvSpPr>
        <p:spPr>
          <a:xfrm>
            <a:off x="0" y="1219200"/>
            <a:ext cx="9144000" cy="5632311"/>
          </a:xfrm>
          <a:prstGeom prst="rect">
            <a:avLst/>
          </a:prstGeom>
        </p:spPr>
        <p:txBody>
          <a:bodyPr wrap="square">
            <a:spAutoFit/>
          </a:bodyPr>
          <a:lstStyle/>
          <a:p>
            <a:r>
              <a:rPr lang="en-US" b="1" i="1" dirty="0">
                <a:latin typeface="+mn-lt"/>
              </a:rPr>
              <a:t>To develop a sound strategic plan for an existing or a new business it is necessary </a:t>
            </a:r>
            <a:r>
              <a:rPr lang="en-US" b="1" i="1" dirty="0" smtClean="0">
                <a:latin typeface="+mn-lt"/>
              </a:rPr>
              <a:t>to understand </a:t>
            </a:r>
            <a:r>
              <a:rPr lang="en-US" b="1" i="1" dirty="0">
                <a:latin typeface="+mn-lt"/>
              </a:rPr>
              <a:t>the industry in which the business will operate and the competitive </a:t>
            </a:r>
            <a:r>
              <a:rPr lang="en-US" b="1" i="1" dirty="0" smtClean="0">
                <a:latin typeface="+mn-lt"/>
              </a:rPr>
              <a:t>forces within </a:t>
            </a:r>
            <a:r>
              <a:rPr lang="en-US" b="1" i="1" dirty="0">
                <a:latin typeface="+mn-lt"/>
              </a:rPr>
              <a:t>that industry. Questions to be answered include the following</a:t>
            </a:r>
            <a:r>
              <a:rPr lang="en-US" b="1" i="1" dirty="0" smtClean="0">
                <a:latin typeface="+mn-lt"/>
              </a:rPr>
              <a:t>:</a:t>
            </a:r>
          </a:p>
          <a:p>
            <a:endParaRPr lang="en-US" sz="2400" dirty="0">
              <a:solidFill>
                <a:schemeClr val="bg2"/>
              </a:solidFill>
              <a:latin typeface="+mn-lt"/>
            </a:endParaRPr>
          </a:p>
          <a:p>
            <a:pPr marL="342900" indent="-342900">
              <a:buFont typeface="Wingdings" panose="05000000000000000000" pitchFamily="2" charset="2"/>
              <a:buChar char="§"/>
            </a:pPr>
            <a:r>
              <a:rPr lang="en-US" b="1" i="1" dirty="0">
                <a:solidFill>
                  <a:schemeClr val="bg2"/>
                </a:solidFill>
                <a:latin typeface="+mn-lt"/>
              </a:rPr>
              <a:t>Is the industry accessible—in other words, is it a realistic place for a new venture to enter?</a:t>
            </a:r>
          </a:p>
          <a:p>
            <a:pPr marL="342900" indent="-342900">
              <a:buFont typeface="Wingdings" panose="05000000000000000000" pitchFamily="2" charset="2"/>
              <a:buChar char="§"/>
            </a:pPr>
            <a:r>
              <a:rPr lang="en-US" dirty="0" smtClean="0">
                <a:latin typeface="+mn-lt"/>
              </a:rPr>
              <a:t>What </a:t>
            </a:r>
            <a:r>
              <a:rPr lang="en-US" dirty="0">
                <a:latin typeface="+mn-lt"/>
              </a:rPr>
              <a:t>is the current size and what are the major trends in the industry?</a:t>
            </a:r>
          </a:p>
          <a:p>
            <a:pPr marL="342900" indent="-342900">
              <a:buFont typeface="Wingdings" panose="05000000000000000000" pitchFamily="2" charset="2"/>
              <a:buChar char="§"/>
            </a:pPr>
            <a:r>
              <a:rPr lang="en-US" dirty="0" smtClean="0">
                <a:latin typeface="+mn-lt"/>
              </a:rPr>
              <a:t> </a:t>
            </a:r>
            <a:r>
              <a:rPr lang="en-US" dirty="0">
                <a:latin typeface="+mn-lt"/>
              </a:rPr>
              <a:t>What are the main competitive forces?</a:t>
            </a:r>
          </a:p>
          <a:p>
            <a:pPr marL="342900" indent="-342900">
              <a:buFont typeface="Wingdings" panose="05000000000000000000" pitchFamily="2" charset="2"/>
              <a:buChar char="§"/>
            </a:pPr>
            <a:r>
              <a:rPr lang="en-US" dirty="0" smtClean="0">
                <a:latin typeface="+mn-lt"/>
              </a:rPr>
              <a:t>Who </a:t>
            </a:r>
            <a:r>
              <a:rPr lang="en-US" dirty="0">
                <a:latin typeface="+mn-lt"/>
              </a:rPr>
              <a:t>are the competitors and what are their relative strengths</a:t>
            </a:r>
            <a:r>
              <a:rPr lang="en-US" dirty="0" smtClean="0">
                <a:latin typeface="+mn-lt"/>
              </a:rPr>
              <a:t>?</a:t>
            </a:r>
            <a:endParaRPr lang="en-US" dirty="0">
              <a:latin typeface="+mn-lt"/>
            </a:endParaRPr>
          </a:p>
        </p:txBody>
      </p:sp>
    </p:spTree>
    <p:extLst>
      <p:ext uri="{BB962C8B-B14F-4D97-AF65-F5344CB8AC3E}">
        <p14:creationId xmlns:p14="http://schemas.microsoft.com/office/powerpoint/2010/main" xmlns="" val="385251790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381000"/>
            <a:ext cx="9144000" cy="914400"/>
          </a:xfrm>
        </p:spPr>
        <p:txBody>
          <a:bodyPr/>
          <a:lstStyle/>
          <a:p>
            <a:pPr algn="ctr" eaLnBrk="1" hangingPunct="1"/>
            <a:r>
              <a:rPr lang="en-US" sz="3200" b="1" dirty="0" smtClean="0">
                <a:solidFill>
                  <a:schemeClr val="bg2"/>
                </a:solidFill>
                <a:latin typeface="Times New Roman" panose="02020603050405020304" pitchFamily="18" charset="0"/>
              </a:rPr>
              <a:t>Techniques Available to Assess Industry</a:t>
            </a:r>
            <a:br>
              <a:rPr lang="en-US" sz="3200" b="1" dirty="0" smtClean="0">
                <a:solidFill>
                  <a:schemeClr val="bg2"/>
                </a:solidFill>
                <a:latin typeface="Times New Roman" panose="02020603050405020304" pitchFamily="18" charset="0"/>
              </a:rPr>
            </a:br>
            <a:r>
              <a:rPr lang="en-US" sz="3200" b="1" dirty="0" smtClean="0">
                <a:solidFill>
                  <a:schemeClr val="bg2"/>
                </a:solidFill>
                <a:latin typeface="Times New Roman" panose="02020603050405020304" pitchFamily="18" charset="0"/>
              </a:rPr>
              <a:t>Attractiveness</a:t>
            </a:r>
          </a:p>
        </p:txBody>
      </p:sp>
      <p:sp>
        <p:nvSpPr>
          <p:cNvPr id="9219" name="Line 4"/>
          <p:cNvSpPr>
            <a:spLocks noChangeShapeType="1"/>
          </p:cNvSpPr>
          <p:nvPr/>
        </p:nvSpPr>
        <p:spPr bwMode="auto">
          <a:xfrm>
            <a:off x="0" y="12954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20" name="Rectangle 8"/>
          <p:cNvSpPr>
            <a:spLocks noChangeArrowheads="1"/>
          </p:cNvSpPr>
          <p:nvPr/>
        </p:nvSpPr>
        <p:spPr bwMode="auto">
          <a:xfrm>
            <a:off x="838200" y="2819400"/>
            <a:ext cx="3276600" cy="1143000"/>
          </a:xfrm>
          <a:prstGeom prst="rect">
            <a:avLst/>
          </a:prstGeom>
          <a:solidFill>
            <a:srgbClr val="FFFFCC"/>
          </a:solidFill>
          <a:ln w="9525">
            <a:solidFill>
              <a:schemeClr val="tx1"/>
            </a:solidFill>
            <a:miter lim="800000"/>
            <a:headEnd/>
            <a:tailEnd/>
          </a:ln>
        </p:spPr>
        <p:txBody>
          <a:bodyPr wrap="none" anchor="ct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r>
              <a:rPr lang="en-US" sz="2400"/>
              <a:t>Study Environmental</a:t>
            </a:r>
          </a:p>
          <a:p>
            <a:pPr algn="ctr" eaLnBrk="1" hangingPunct="1"/>
            <a:r>
              <a:rPr lang="en-US" sz="2400"/>
              <a:t>and Business Trends</a:t>
            </a:r>
          </a:p>
        </p:txBody>
      </p:sp>
      <p:sp>
        <p:nvSpPr>
          <p:cNvPr id="9221" name="Rectangle 8"/>
          <p:cNvSpPr>
            <a:spLocks noChangeArrowheads="1"/>
          </p:cNvSpPr>
          <p:nvPr/>
        </p:nvSpPr>
        <p:spPr bwMode="auto">
          <a:xfrm>
            <a:off x="2743200" y="4505325"/>
            <a:ext cx="3276600" cy="1143000"/>
          </a:xfrm>
          <a:prstGeom prst="rect">
            <a:avLst/>
          </a:prstGeom>
          <a:solidFill>
            <a:srgbClr val="FFFFCC"/>
          </a:solidFill>
          <a:ln w="9525">
            <a:solidFill>
              <a:schemeClr val="tx1"/>
            </a:solidFill>
            <a:miter lim="800000"/>
            <a:headEnd/>
            <a:tailEnd/>
          </a:ln>
        </p:spPr>
        <p:txBody>
          <a:bodyPr wrap="none" anchor="ct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r>
              <a:rPr lang="en-US" sz="2400"/>
              <a:t>The Five Competitive</a:t>
            </a:r>
          </a:p>
          <a:p>
            <a:pPr algn="ctr" eaLnBrk="1" hangingPunct="1"/>
            <a:r>
              <a:rPr lang="en-US" sz="2400"/>
              <a:t>Forces Model</a:t>
            </a:r>
          </a:p>
        </p:txBody>
      </p:sp>
      <p:sp>
        <p:nvSpPr>
          <p:cNvPr id="9222" name="TextBox 8"/>
          <p:cNvSpPr txBox="1">
            <a:spLocks noChangeArrowheads="1"/>
          </p:cNvSpPr>
          <p:nvPr/>
        </p:nvSpPr>
        <p:spPr bwMode="auto">
          <a:xfrm>
            <a:off x="1752600" y="1752600"/>
            <a:ext cx="525780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r>
              <a:rPr lang="en-US" sz="2800"/>
              <a:t>Assessing Industry Attractiveness</a:t>
            </a:r>
          </a:p>
        </p:txBody>
      </p:sp>
      <p:sp>
        <p:nvSpPr>
          <p:cNvPr id="8" name="Rectangle 8"/>
          <p:cNvSpPr>
            <a:spLocks noChangeArrowheads="1"/>
          </p:cNvSpPr>
          <p:nvPr/>
        </p:nvSpPr>
        <p:spPr bwMode="auto">
          <a:xfrm>
            <a:off x="4800600" y="2819400"/>
            <a:ext cx="3276600" cy="1143000"/>
          </a:xfrm>
          <a:prstGeom prst="rect">
            <a:avLst/>
          </a:prstGeom>
          <a:solidFill>
            <a:srgbClr val="FFFFCC"/>
          </a:solidFill>
          <a:ln w="9525">
            <a:solidFill>
              <a:schemeClr val="tx1"/>
            </a:solidFill>
            <a:miter lim="800000"/>
            <a:headEnd/>
            <a:tailEnd/>
          </a:ln>
        </p:spPr>
        <p:txBody>
          <a:bodyPr wrap="none" anchor="ct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r>
              <a:rPr lang="en-US" sz="2400" dirty="0" smtClean="0"/>
              <a:t>Industry Life Cycle</a:t>
            </a:r>
            <a:endParaRPr lang="en-US" sz="2400" dirty="0"/>
          </a:p>
        </p:txBody>
      </p:sp>
    </p:spTree>
    <p:extLst>
      <p:ext uri="{BB962C8B-B14F-4D97-AF65-F5344CB8AC3E}">
        <p14:creationId xmlns:p14="http://schemas.microsoft.com/office/powerpoint/2010/main" xmlns="" val="49988907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8600" y="228600"/>
            <a:ext cx="8610600" cy="1143000"/>
          </a:xfrm>
        </p:spPr>
        <p:txBody>
          <a:bodyPr/>
          <a:lstStyle/>
          <a:p>
            <a:pPr algn="ctr" eaLnBrk="1" hangingPunct="1"/>
            <a:r>
              <a:rPr lang="en-US" sz="3600" b="1" dirty="0" smtClean="0">
                <a:solidFill>
                  <a:schemeClr val="bg2"/>
                </a:solidFill>
                <a:latin typeface="Times New Roman" panose="02020603050405020304" pitchFamily="18" charset="0"/>
              </a:rPr>
              <a:t>Studying Industry Trends</a:t>
            </a:r>
          </a:p>
        </p:txBody>
      </p:sp>
      <p:sp>
        <p:nvSpPr>
          <p:cNvPr id="10243" name="Rectangle 3"/>
          <p:cNvSpPr>
            <a:spLocks noGrp="1" noChangeArrowheads="1"/>
          </p:cNvSpPr>
          <p:nvPr>
            <p:ph type="body" idx="1"/>
          </p:nvPr>
        </p:nvSpPr>
        <p:spPr>
          <a:xfrm>
            <a:off x="0" y="1447800"/>
            <a:ext cx="9144000" cy="5334000"/>
          </a:xfrm>
        </p:spPr>
        <p:txBody>
          <a:bodyPr/>
          <a:lstStyle/>
          <a:p>
            <a:pPr eaLnBrk="1" hangingPunct="1"/>
            <a:r>
              <a:rPr lang="en-US" b="1" dirty="0" smtClean="0">
                <a:solidFill>
                  <a:schemeClr val="bg2"/>
                </a:solidFill>
                <a:latin typeface="Times New Roman" panose="02020603050405020304" pitchFamily="18" charset="0"/>
              </a:rPr>
              <a:t>Environmental Trends</a:t>
            </a:r>
          </a:p>
          <a:p>
            <a:pPr lvl="1" eaLnBrk="1" hangingPunct="1"/>
            <a:r>
              <a:rPr lang="en-US" dirty="0" smtClean="0">
                <a:latin typeface="Times New Roman" panose="02020603050405020304" pitchFamily="18" charset="0"/>
              </a:rPr>
              <a:t>Include economic trends, social trends, technological advances, and political and regulatory changes.</a:t>
            </a:r>
          </a:p>
          <a:p>
            <a:pPr lvl="1" eaLnBrk="1" hangingPunct="1"/>
            <a:r>
              <a:rPr lang="en-US" dirty="0" smtClean="0">
                <a:latin typeface="Times New Roman" panose="02020603050405020304" pitchFamily="18" charset="0"/>
              </a:rPr>
              <a:t>For example, industries that sell products to seniors are benefiting by the aging of the population.  </a:t>
            </a:r>
          </a:p>
          <a:p>
            <a:pPr eaLnBrk="1" hangingPunct="1"/>
            <a:r>
              <a:rPr lang="en-US" b="1" dirty="0" smtClean="0">
                <a:solidFill>
                  <a:schemeClr val="bg2"/>
                </a:solidFill>
                <a:latin typeface="Times New Roman" panose="02020603050405020304" pitchFamily="18" charset="0"/>
              </a:rPr>
              <a:t>Business Trends</a:t>
            </a:r>
          </a:p>
          <a:p>
            <a:pPr lvl="1" eaLnBrk="1" hangingPunct="1"/>
            <a:r>
              <a:rPr lang="en-US" dirty="0" smtClean="0">
                <a:latin typeface="Times New Roman" panose="02020603050405020304" pitchFamily="18" charset="0"/>
              </a:rPr>
              <a:t>Other trends that impact an industry. </a:t>
            </a:r>
          </a:p>
          <a:p>
            <a:pPr lvl="1" eaLnBrk="1" hangingPunct="1"/>
            <a:r>
              <a:rPr lang="en-US" dirty="0" smtClean="0">
                <a:latin typeface="Times New Roman" panose="02020603050405020304" pitchFamily="18" charset="0"/>
              </a:rPr>
              <a:t>For example, are profit margins in the industry increasing or falling? Is innovation accelerating or waning? Are input costs going up or down?</a:t>
            </a:r>
          </a:p>
        </p:txBody>
      </p:sp>
      <p:sp>
        <p:nvSpPr>
          <p:cNvPr id="10244" name="Line 4"/>
          <p:cNvSpPr>
            <a:spLocks noChangeShapeType="1"/>
          </p:cNvSpPr>
          <p:nvPr/>
        </p:nvSpPr>
        <p:spPr bwMode="auto">
          <a:xfrm>
            <a:off x="0" y="14478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82439689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789004"/>
            <a:ext cx="9144000" cy="5068995"/>
          </a:xfrm>
        </p:spPr>
        <p:txBody>
          <a:bodyPr/>
          <a:lstStyle/>
          <a:p>
            <a:r>
              <a:rPr lang="en-US" sz="2400" dirty="0"/>
              <a:t>“By 1976 Kodak accounted for 90% of film and 85% of camera sales in America. Until the 1990s it was regularly rated one of the world’s five most valuable brands”. In fact, In 1996, Kodak was ranked the world’s fourth most-valuable brand behind Disney, Coca-Cola and McDonald’s</a:t>
            </a:r>
            <a:r>
              <a:rPr lang="en-US" sz="2400" dirty="0" smtClean="0"/>
              <a:t>….</a:t>
            </a:r>
          </a:p>
          <a:p>
            <a:r>
              <a:rPr lang="en-US" sz="2400" b="1" dirty="0"/>
              <a:t>In 1998, Kodak had 170,000 employees and sold 85% of all photo paper worldwide</a:t>
            </a:r>
            <a:r>
              <a:rPr lang="en-US" sz="2400" b="1" dirty="0" smtClean="0"/>
              <a:t>.</a:t>
            </a:r>
          </a:p>
          <a:p>
            <a:r>
              <a:rPr lang="en-US" sz="2400" dirty="0"/>
              <a:t>Within just a few years, their business model disappeared and they got bankrupt.</a:t>
            </a:r>
          </a:p>
          <a:p>
            <a:r>
              <a:rPr lang="en-US" sz="2400" dirty="0"/>
              <a:t>What happened to Kodak will happen in a lot of industries in the next 10 years – and most people don’t see it coming. </a:t>
            </a:r>
            <a:r>
              <a:rPr lang="en-US" sz="2400" b="1" dirty="0"/>
              <a:t>Did you think in 1998 that 3 years later you would never take pictures on paper film again?</a:t>
            </a:r>
            <a:endParaRPr lang="en-US" sz="2400" dirty="0"/>
          </a:p>
          <a:p>
            <a:endParaRPr lang="en-US" sz="2400" dirty="0"/>
          </a:p>
        </p:txBody>
      </p:sp>
      <p:sp>
        <p:nvSpPr>
          <p:cNvPr id="4" name="Slide Number Placeholder 3"/>
          <p:cNvSpPr>
            <a:spLocks noGrp="1"/>
          </p:cNvSpPr>
          <p:nvPr>
            <p:ph type="sldNum" sz="quarter" idx="11"/>
          </p:nvPr>
        </p:nvSpPr>
        <p:spPr/>
        <p:txBody>
          <a:bodyPr/>
          <a:lstStyle/>
          <a:p>
            <a:fld id="{957F6B4F-1517-4E06-9D34-2A0254A37EA2}" type="slidenum">
              <a:rPr lang="en-US" smtClean="0"/>
              <a:pPr/>
              <a:t>7</a:t>
            </a:fld>
            <a:endParaRPr lang="en-US"/>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1"/>
            <a:ext cx="3191301" cy="1752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rot="16200000">
            <a:off x="3873246" y="-43902"/>
            <a:ext cx="1726443" cy="19393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6378357" y="12510"/>
            <a:ext cx="2764506" cy="18265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8442953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0" y="152400"/>
            <a:ext cx="8991600" cy="990600"/>
          </a:xfrm>
        </p:spPr>
        <p:txBody>
          <a:bodyPr/>
          <a:lstStyle/>
          <a:p>
            <a:pPr algn="ctr"/>
            <a:r>
              <a:rPr lang="en-US" sz="3600" b="1" dirty="0" smtClean="0">
                <a:solidFill>
                  <a:schemeClr val="bg2"/>
                </a:solidFill>
                <a:latin typeface="Times New Roman" panose="02020603050405020304" pitchFamily="18" charset="0"/>
              </a:rPr>
              <a:t>Porter's Five Forces Analysis</a:t>
            </a:r>
            <a:endParaRPr lang="en-US" sz="3600" dirty="0" smtClean="0"/>
          </a:p>
        </p:txBody>
      </p:sp>
      <p:sp>
        <p:nvSpPr>
          <p:cNvPr id="36867" name="Content Placeholder 2"/>
          <p:cNvSpPr>
            <a:spLocks noGrp="1"/>
          </p:cNvSpPr>
          <p:nvPr>
            <p:ph idx="1"/>
          </p:nvPr>
        </p:nvSpPr>
        <p:spPr>
          <a:xfrm>
            <a:off x="5410200" y="1295400"/>
            <a:ext cx="3733800" cy="5562600"/>
          </a:xfrm>
        </p:spPr>
        <p:txBody>
          <a:bodyPr/>
          <a:lstStyle/>
          <a:p>
            <a:r>
              <a:rPr lang="en-US" sz="2800" dirty="0" smtClean="0">
                <a:latin typeface="Times New Roman" panose="02020603050405020304" pitchFamily="18" charset="0"/>
              </a:rPr>
              <a:t>It is an outside-in business strategy tool that is used to make an analysis of the attractiveness (value...) of an industry structure developed by Michael E. Porter of Harvard Business School in 1979.</a:t>
            </a:r>
            <a:endParaRPr lang="en-US" sz="2800" dirty="0" smtClean="0"/>
          </a:p>
        </p:txBody>
      </p:sp>
      <p:pic>
        <p:nvPicPr>
          <p:cNvPr id="4" name="Picture 8"/>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350" y="1219200"/>
            <a:ext cx="5568950" cy="563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4888818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4" name="Rectangle 4"/>
          <p:cNvSpPr>
            <a:spLocks noGrp="1" noChangeArrowheads="1"/>
          </p:cNvSpPr>
          <p:nvPr>
            <p:ph type="title"/>
          </p:nvPr>
        </p:nvSpPr>
        <p:spPr>
          <a:xfrm>
            <a:off x="0" y="304800"/>
            <a:ext cx="8686800" cy="685800"/>
          </a:xfrm>
        </p:spPr>
        <p:txBody>
          <a:bodyPr/>
          <a:lstStyle/>
          <a:p>
            <a:pPr eaLnBrk="1" hangingPunct="1">
              <a:buClr>
                <a:schemeClr val="bg2"/>
              </a:buClr>
            </a:pPr>
            <a:r>
              <a:rPr lang="en-US" sz="3600" b="1" dirty="0" smtClean="0">
                <a:solidFill>
                  <a:schemeClr val="bg2"/>
                </a:solidFill>
                <a:latin typeface="Times New Roman" panose="02020603050405020304" pitchFamily="18" charset="0"/>
                <a:cs typeface="Times New Roman" panose="02020603050405020304" pitchFamily="18" charset="0"/>
              </a:rPr>
              <a:t>Threat of Substitute Products</a:t>
            </a:r>
          </a:p>
        </p:txBody>
      </p:sp>
      <p:sp>
        <p:nvSpPr>
          <p:cNvPr id="87045" name="Rectangle 5"/>
          <p:cNvSpPr>
            <a:spLocks noGrp="1" noChangeArrowheads="1"/>
          </p:cNvSpPr>
          <p:nvPr>
            <p:ph type="body" idx="1"/>
          </p:nvPr>
        </p:nvSpPr>
        <p:spPr>
          <a:xfrm>
            <a:off x="0" y="990600"/>
            <a:ext cx="9144000" cy="5486400"/>
          </a:xfrm>
        </p:spPr>
        <p:txBody>
          <a:bodyPr/>
          <a:lstStyle/>
          <a:p>
            <a:pPr eaLnBrk="1" hangingPunct="1">
              <a:spcBef>
                <a:spcPct val="50000"/>
              </a:spcBef>
            </a:pPr>
            <a:r>
              <a:rPr lang="en-US" dirty="0" smtClean="0">
                <a:latin typeface="Times New Roman" panose="02020603050405020304" pitchFamily="18" charset="0"/>
                <a:cs typeface="Times New Roman" panose="02020603050405020304" pitchFamily="18" charset="0"/>
              </a:rPr>
              <a:t>The threat of substitute products increases when:</a:t>
            </a:r>
          </a:p>
          <a:p>
            <a:pPr lvl="1" eaLnBrk="1" hangingPunct="1">
              <a:spcBef>
                <a:spcPct val="50000"/>
              </a:spcBef>
            </a:pPr>
            <a:r>
              <a:rPr lang="en-US" dirty="0" smtClean="0">
                <a:latin typeface="Times New Roman" panose="02020603050405020304" pitchFamily="18" charset="0"/>
                <a:cs typeface="Times New Roman" panose="02020603050405020304" pitchFamily="18" charset="0"/>
              </a:rPr>
              <a:t>Buyers face few switching costs.</a:t>
            </a:r>
          </a:p>
          <a:p>
            <a:pPr lvl="1" eaLnBrk="1" hangingPunct="1">
              <a:spcBef>
                <a:spcPct val="50000"/>
              </a:spcBef>
            </a:pPr>
            <a:r>
              <a:rPr lang="en-US" dirty="0" smtClean="0">
                <a:latin typeface="Times New Roman" panose="02020603050405020304" pitchFamily="18" charset="0"/>
                <a:cs typeface="Times New Roman" panose="02020603050405020304" pitchFamily="18" charset="0"/>
              </a:rPr>
              <a:t>The substitute product’s price is lower.</a:t>
            </a:r>
          </a:p>
          <a:p>
            <a:pPr lvl="1" eaLnBrk="1" hangingPunct="1">
              <a:spcBef>
                <a:spcPct val="50000"/>
              </a:spcBef>
            </a:pPr>
            <a:r>
              <a:rPr lang="en-US" dirty="0" smtClean="0">
                <a:latin typeface="Times New Roman" panose="02020603050405020304" pitchFamily="18" charset="0"/>
                <a:cs typeface="Times New Roman" panose="02020603050405020304" pitchFamily="18" charset="0"/>
              </a:rPr>
              <a:t>Substitute product’s quality and performance are equal to or greater than the existing product.</a:t>
            </a:r>
          </a:p>
          <a:p>
            <a:pPr lvl="1" eaLnBrk="1" hangingPunct="1">
              <a:spcBef>
                <a:spcPct val="50000"/>
              </a:spcBef>
            </a:pPr>
            <a:r>
              <a:rPr lang="en-US" dirty="0">
                <a:latin typeface="Times New Roman" pitchFamily="18" charset="0"/>
              </a:rPr>
              <a:t>For example, there are few if any substitutes for prescription medicines, which is one of the reasons the pharmaceutical industry is so profitable</a:t>
            </a:r>
            <a:r>
              <a:rPr lang="en-US" dirty="0" smtClean="0">
                <a:latin typeface="Times New Roman" pitchFamily="18" charset="0"/>
              </a:rPr>
              <a:t>.</a:t>
            </a:r>
            <a:endParaRPr lang="en-US" dirty="0" smtClean="0">
              <a:latin typeface="Times New Roman" panose="02020603050405020304" pitchFamily="18" charset="0"/>
              <a:cs typeface="Times New Roman" panose="02020603050405020304" pitchFamily="18" charset="0"/>
            </a:endParaRPr>
          </a:p>
          <a:p>
            <a:pPr eaLnBrk="1" hangingPunct="1">
              <a:spcBef>
                <a:spcPct val="50000"/>
              </a:spcBef>
            </a:pPr>
            <a:r>
              <a:rPr lang="en-US" dirty="0" smtClean="0">
                <a:latin typeface="Times New Roman" panose="02020603050405020304" pitchFamily="18" charset="0"/>
                <a:cs typeface="Times New Roman" panose="02020603050405020304" pitchFamily="18" charset="0"/>
              </a:rPr>
              <a:t>Differentiated industry products that are valued by customers reduce this threat.</a:t>
            </a:r>
          </a:p>
        </p:txBody>
      </p:sp>
    </p:spTree>
    <p:extLst>
      <p:ext uri="{BB962C8B-B14F-4D97-AF65-F5344CB8AC3E}">
        <p14:creationId xmlns:p14="http://schemas.microsoft.com/office/powerpoint/2010/main" xmlns="" val="26523206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87044"/>
                                        </p:tgtEl>
                                        <p:attrNameLst>
                                          <p:attrName>style.visibility</p:attrName>
                                        </p:attrNameLst>
                                      </p:cBhvr>
                                      <p:to>
                                        <p:strVal val="visible"/>
                                      </p:to>
                                    </p:set>
                                    <p:animEffect transition="in" filter="wipe(left)">
                                      <p:cBhvr>
                                        <p:cTn id="7" dur="500"/>
                                        <p:tgtEl>
                                          <p:spTgt spid="870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45">
                                            <p:txEl>
                                              <p:pRg st="0" end="0"/>
                                            </p:txEl>
                                          </p:spTgt>
                                        </p:tgtEl>
                                        <p:attrNameLst>
                                          <p:attrName>style.visibility</p:attrName>
                                        </p:attrNameLst>
                                      </p:cBhvr>
                                      <p:to>
                                        <p:strVal val="visible"/>
                                      </p:to>
                                    </p:set>
                                    <p:animEffect transition="in" filter="wipe(left)">
                                      <p:cBhvr>
                                        <p:cTn id="12" dur="500"/>
                                        <p:tgtEl>
                                          <p:spTgt spid="8704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045">
                                            <p:txEl>
                                              <p:pRg st="1" end="1"/>
                                            </p:txEl>
                                          </p:spTgt>
                                        </p:tgtEl>
                                        <p:attrNameLst>
                                          <p:attrName>style.visibility</p:attrName>
                                        </p:attrNameLst>
                                      </p:cBhvr>
                                      <p:to>
                                        <p:strVal val="visible"/>
                                      </p:to>
                                    </p:set>
                                    <p:animEffect transition="in" filter="wipe(left)">
                                      <p:cBhvr>
                                        <p:cTn id="17" dur="500"/>
                                        <p:tgtEl>
                                          <p:spTgt spid="870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045">
                                            <p:txEl>
                                              <p:pRg st="2" end="2"/>
                                            </p:txEl>
                                          </p:spTgt>
                                        </p:tgtEl>
                                        <p:attrNameLst>
                                          <p:attrName>style.visibility</p:attrName>
                                        </p:attrNameLst>
                                      </p:cBhvr>
                                      <p:to>
                                        <p:strVal val="visible"/>
                                      </p:to>
                                    </p:set>
                                    <p:animEffect transition="in" filter="wipe(left)">
                                      <p:cBhvr>
                                        <p:cTn id="22" dur="500"/>
                                        <p:tgtEl>
                                          <p:spTgt spid="8704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045">
                                            <p:txEl>
                                              <p:pRg st="3" end="3"/>
                                            </p:txEl>
                                          </p:spTgt>
                                        </p:tgtEl>
                                        <p:attrNameLst>
                                          <p:attrName>style.visibility</p:attrName>
                                        </p:attrNameLst>
                                      </p:cBhvr>
                                      <p:to>
                                        <p:strVal val="visible"/>
                                      </p:to>
                                    </p:set>
                                    <p:animEffect transition="in" filter="wipe(left)">
                                      <p:cBhvr>
                                        <p:cTn id="27" dur="500"/>
                                        <p:tgtEl>
                                          <p:spTgt spid="8704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7045">
                                            <p:txEl>
                                              <p:pRg st="4" end="4"/>
                                            </p:txEl>
                                          </p:spTgt>
                                        </p:tgtEl>
                                        <p:attrNameLst>
                                          <p:attrName>style.visibility</p:attrName>
                                        </p:attrNameLst>
                                      </p:cBhvr>
                                      <p:to>
                                        <p:strVal val="visible"/>
                                      </p:to>
                                    </p:set>
                                    <p:animEffect transition="in" filter="wipe(left)">
                                      <p:cBhvr>
                                        <p:cTn id="32" dur="500"/>
                                        <p:tgtEl>
                                          <p:spTgt spid="8704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7045">
                                            <p:txEl>
                                              <p:pRg st="5" end="5"/>
                                            </p:txEl>
                                          </p:spTgt>
                                        </p:tgtEl>
                                        <p:attrNameLst>
                                          <p:attrName>style.visibility</p:attrName>
                                        </p:attrNameLst>
                                      </p:cBhvr>
                                      <p:to>
                                        <p:strVal val="visible"/>
                                      </p:to>
                                    </p:set>
                                    <p:animEffect transition="in" filter="wipe(left)">
                                      <p:cBhvr>
                                        <p:cTn id="37" dur="500"/>
                                        <p:tgtEl>
                                          <p:spTgt spid="870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4" grpId="0" autoUpdateAnimBg="0"/>
      <p:bldP spid="87045" grpId="0" build="p" bldLvl="2"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3"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163717" y="1431670"/>
            <a:ext cx="4958160" cy="297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7414" name="TextBox 7"/>
          <p:cNvSpPr txBox="1">
            <a:spLocks noChangeArrowheads="1"/>
          </p:cNvSpPr>
          <p:nvPr/>
        </p:nvSpPr>
        <p:spPr bwMode="auto">
          <a:xfrm>
            <a:off x="58749" y="381000"/>
            <a:ext cx="9072961" cy="58990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4000">
                <a:solidFill>
                  <a:schemeClr val="tx1"/>
                </a:solidFill>
                <a:latin typeface="Times New Roman" pitchFamily="18" charset="0"/>
              </a:defRPr>
            </a:lvl1pPr>
            <a:lvl2pPr marL="742950" indent="-285750" eaLnBrk="0" hangingPunct="0">
              <a:defRPr sz="4000">
                <a:solidFill>
                  <a:schemeClr val="tx1"/>
                </a:solidFill>
                <a:latin typeface="Times New Roman" pitchFamily="18" charset="0"/>
              </a:defRPr>
            </a:lvl2pPr>
            <a:lvl3pPr marL="1143000" indent="-228600" eaLnBrk="0" hangingPunct="0">
              <a:defRPr sz="4000">
                <a:solidFill>
                  <a:schemeClr val="tx1"/>
                </a:solidFill>
                <a:latin typeface="Times New Roman" pitchFamily="18" charset="0"/>
              </a:defRPr>
            </a:lvl3pPr>
            <a:lvl4pPr marL="1600200" indent="-228600" eaLnBrk="0" hangingPunct="0">
              <a:defRPr sz="4000">
                <a:solidFill>
                  <a:schemeClr val="tx1"/>
                </a:solidFill>
                <a:latin typeface="Times New Roman" pitchFamily="18" charset="0"/>
              </a:defRPr>
            </a:lvl4pPr>
            <a:lvl5pPr marL="2057400" indent="-228600" eaLnBrk="0" hangingPunct="0">
              <a:defRPr sz="4000">
                <a:solidFill>
                  <a:schemeClr val="tx1"/>
                </a:solidFill>
                <a:latin typeface="Times New Roman" pitchFamily="18" charset="0"/>
              </a:defRPr>
            </a:lvl5pPr>
            <a:lvl6pPr marL="2514600" indent="-228600" eaLnBrk="0" fontAlgn="base" hangingPunct="0">
              <a:spcBef>
                <a:spcPct val="0"/>
              </a:spcBef>
              <a:spcAft>
                <a:spcPct val="0"/>
              </a:spcAft>
              <a:defRPr sz="4000">
                <a:solidFill>
                  <a:schemeClr val="tx1"/>
                </a:solidFill>
                <a:latin typeface="Times New Roman" pitchFamily="18" charset="0"/>
              </a:defRPr>
            </a:lvl6pPr>
            <a:lvl7pPr marL="2971800" indent="-228600" eaLnBrk="0" fontAlgn="base" hangingPunct="0">
              <a:spcBef>
                <a:spcPct val="0"/>
              </a:spcBef>
              <a:spcAft>
                <a:spcPct val="0"/>
              </a:spcAft>
              <a:defRPr sz="4000">
                <a:solidFill>
                  <a:schemeClr val="tx1"/>
                </a:solidFill>
                <a:latin typeface="Times New Roman" pitchFamily="18" charset="0"/>
              </a:defRPr>
            </a:lvl7pPr>
            <a:lvl8pPr marL="3429000" indent="-228600" eaLnBrk="0" fontAlgn="base" hangingPunct="0">
              <a:spcBef>
                <a:spcPct val="0"/>
              </a:spcBef>
              <a:spcAft>
                <a:spcPct val="0"/>
              </a:spcAft>
              <a:defRPr sz="4000">
                <a:solidFill>
                  <a:schemeClr val="tx1"/>
                </a:solidFill>
                <a:latin typeface="Times New Roman" pitchFamily="18" charset="0"/>
              </a:defRPr>
            </a:lvl8pPr>
            <a:lvl9pPr marL="3886200" indent="-228600" eaLnBrk="0" fontAlgn="base" hangingPunct="0">
              <a:spcBef>
                <a:spcPct val="0"/>
              </a:spcBef>
              <a:spcAft>
                <a:spcPct val="0"/>
              </a:spcAft>
              <a:defRPr sz="4000">
                <a:solidFill>
                  <a:schemeClr val="tx1"/>
                </a:solidFill>
                <a:latin typeface="Times New Roman" pitchFamily="18" charset="0"/>
              </a:defRPr>
            </a:lvl9pPr>
          </a:lstStyle>
          <a:p>
            <a:pPr marL="57150" indent="-342900" eaLnBrk="1" hangingPunct="1">
              <a:buFont typeface="Wingdings" pitchFamily="2" charset="2"/>
              <a:buChar char="§"/>
            </a:pPr>
            <a:r>
              <a:rPr lang="en-US" sz="2400" dirty="0"/>
              <a:t> </a:t>
            </a:r>
            <a:r>
              <a:rPr lang="en-US" sz="2400" dirty="0" smtClean="0"/>
              <a:t>Firms </a:t>
            </a:r>
            <a:r>
              <a:rPr lang="en-US" sz="2800" dirty="0" smtClean="0"/>
              <a:t>often </a:t>
            </a:r>
            <a:r>
              <a:rPr lang="en-US" sz="2800" dirty="0"/>
              <a:t>offer their customers amenities to reduce the likelihood that they will switch to a substitute product, even in light of a price increase. </a:t>
            </a:r>
            <a:endParaRPr lang="en-US" dirty="0"/>
          </a:p>
          <a:p>
            <a:pPr eaLnBrk="1" hangingPunct="1">
              <a:lnSpc>
                <a:spcPts val="3200"/>
              </a:lnSpc>
              <a:buFont typeface="Arial" charset="0"/>
              <a:buChar char="•"/>
            </a:pPr>
            <a:r>
              <a:rPr lang="en-US" sz="2400" dirty="0" smtClean="0"/>
              <a:t>A </a:t>
            </a:r>
            <a:r>
              <a:rPr lang="en-US" sz="2400" dirty="0"/>
              <a:t>customer could easily get</a:t>
            </a:r>
          </a:p>
          <a:p>
            <a:pPr eaLnBrk="1" hangingPunct="1">
              <a:lnSpc>
                <a:spcPts val="3200"/>
              </a:lnSpc>
            </a:pPr>
            <a:r>
              <a:rPr lang="en-US" sz="2400" dirty="0"/>
              <a:t>  a cup of coffee cheaper at</a:t>
            </a:r>
          </a:p>
          <a:p>
            <a:pPr eaLnBrk="1" hangingPunct="1">
              <a:lnSpc>
                <a:spcPts val="3200"/>
              </a:lnSpc>
            </a:pPr>
            <a:r>
              <a:rPr lang="en-US" sz="2400" dirty="0"/>
              <a:t>  one of Starbuck’s competitors.</a:t>
            </a:r>
          </a:p>
          <a:p>
            <a:pPr eaLnBrk="1" hangingPunct="1">
              <a:lnSpc>
                <a:spcPts val="3200"/>
              </a:lnSpc>
              <a:buFont typeface="Arial" charset="0"/>
              <a:buChar char="•"/>
            </a:pPr>
            <a:r>
              <a:rPr lang="en-US" sz="2400" dirty="0"/>
              <a:t> To decrease the likelihood of</a:t>
            </a:r>
          </a:p>
          <a:p>
            <a:pPr eaLnBrk="1" hangingPunct="1">
              <a:lnSpc>
                <a:spcPts val="3200"/>
              </a:lnSpc>
            </a:pPr>
            <a:r>
              <a:rPr lang="en-US" sz="2400" dirty="0"/>
              <a:t>  this, Starbucks offers high-</a:t>
            </a:r>
          </a:p>
          <a:p>
            <a:pPr eaLnBrk="1" hangingPunct="1">
              <a:lnSpc>
                <a:spcPts val="3200"/>
              </a:lnSpc>
            </a:pPr>
            <a:r>
              <a:rPr lang="en-US" sz="2400" dirty="0"/>
              <a:t>  quality fresh coffee, good</a:t>
            </a:r>
          </a:p>
          <a:p>
            <a:pPr eaLnBrk="1" hangingPunct="1">
              <a:lnSpc>
                <a:spcPts val="3200"/>
              </a:lnSpc>
            </a:pPr>
            <a:r>
              <a:rPr lang="en-US" sz="2400" dirty="0"/>
              <a:t>  service, and a pleasant </a:t>
            </a:r>
          </a:p>
          <a:p>
            <a:pPr eaLnBrk="1" hangingPunct="1">
              <a:lnSpc>
                <a:spcPts val="3200"/>
              </a:lnSpc>
            </a:pPr>
            <a:r>
              <a:rPr lang="en-US" sz="2400" dirty="0"/>
              <a:t>  atmosphere.</a:t>
            </a:r>
          </a:p>
          <a:p>
            <a:pPr eaLnBrk="1" hangingPunct="1">
              <a:lnSpc>
                <a:spcPts val="3200"/>
              </a:lnSpc>
              <a:buFont typeface="Arial" charset="0"/>
              <a:buChar char="•"/>
            </a:pPr>
            <a:r>
              <a:rPr lang="en-US" sz="2400" dirty="0"/>
              <a:t> Starbucks has therefore </a:t>
            </a:r>
          </a:p>
          <a:p>
            <a:pPr eaLnBrk="1" hangingPunct="1">
              <a:lnSpc>
                <a:spcPts val="3200"/>
              </a:lnSpc>
            </a:pPr>
            <a:r>
              <a:rPr lang="en-US" sz="2400" dirty="0"/>
              <a:t>  reduced the threat of </a:t>
            </a:r>
          </a:p>
          <a:p>
            <a:pPr eaLnBrk="1" hangingPunct="1">
              <a:lnSpc>
                <a:spcPts val="3200"/>
              </a:lnSpc>
            </a:pPr>
            <a:r>
              <a:rPr lang="en-US" sz="2400" dirty="0"/>
              <a:t>  substitutes. </a:t>
            </a:r>
          </a:p>
        </p:txBody>
      </p:sp>
      <p:sp>
        <p:nvSpPr>
          <p:cNvPr id="3" name="AutoShape 2" descr="Image result for enjoy free wif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3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019800" y="4776327"/>
            <a:ext cx="2209800" cy="2066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915742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0" y="304800"/>
            <a:ext cx="8686800" cy="838200"/>
          </a:xfrm>
        </p:spPr>
        <p:txBody>
          <a:bodyPr/>
          <a:lstStyle/>
          <a:p>
            <a:pPr eaLnBrk="1" hangingPunct="1"/>
            <a:r>
              <a:rPr lang="en-US" sz="3200" b="1" dirty="0" smtClean="0">
                <a:solidFill>
                  <a:schemeClr val="bg2"/>
                </a:solidFill>
                <a:latin typeface="Times New Roman" pitchFamily="18" charset="0"/>
              </a:rPr>
              <a:t>Threat of New Entrants</a:t>
            </a:r>
          </a:p>
        </p:txBody>
      </p:sp>
      <p:sp>
        <p:nvSpPr>
          <p:cNvPr id="18435" name="Rectangle 3"/>
          <p:cNvSpPr>
            <a:spLocks noGrp="1" noChangeArrowheads="1"/>
          </p:cNvSpPr>
          <p:nvPr>
            <p:ph idx="1"/>
          </p:nvPr>
        </p:nvSpPr>
        <p:spPr>
          <a:xfrm>
            <a:off x="0" y="1219200"/>
            <a:ext cx="8686800" cy="4648200"/>
          </a:xfrm>
        </p:spPr>
        <p:txBody>
          <a:bodyPr/>
          <a:lstStyle/>
          <a:p>
            <a:pPr eaLnBrk="1" hangingPunct="1"/>
            <a:r>
              <a:rPr lang="en-US" sz="2800" dirty="0" smtClean="0">
                <a:latin typeface="Times New Roman" pitchFamily="18" charset="0"/>
              </a:rPr>
              <a:t>Threat of New Entrants</a:t>
            </a:r>
          </a:p>
          <a:p>
            <a:pPr lvl="1" eaLnBrk="1" hangingPunct="1"/>
            <a:r>
              <a:rPr lang="en-US" dirty="0" smtClean="0">
                <a:latin typeface="Times New Roman" pitchFamily="18" charset="0"/>
              </a:rPr>
              <a:t>If the firms in an industry are highly profitable, the industry becomes a magnet to new entrants.</a:t>
            </a:r>
          </a:p>
          <a:p>
            <a:pPr lvl="1" eaLnBrk="1" hangingPunct="1"/>
            <a:r>
              <a:rPr lang="en-US" dirty="0" smtClean="0">
                <a:latin typeface="Times New Roman" pitchFamily="18" charset="0"/>
              </a:rPr>
              <a:t>Unless something is done to stop this, the competition in the industry will increase, and average industry profitability will decline.</a:t>
            </a:r>
          </a:p>
          <a:p>
            <a:pPr lvl="1" eaLnBrk="1" hangingPunct="1"/>
            <a:r>
              <a:rPr lang="en-US" dirty="0" smtClean="0">
                <a:latin typeface="Times New Roman" pitchFamily="18" charset="0"/>
              </a:rPr>
              <a:t>Firms in an industry try to keep the number of new entrants low by erecting barriers to entry.</a:t>
            </a:r>
          </a:p>
          <a:p>
            <a:pPr lvl="2" eaLnBrk="1" hangingPunct="1"/>
            <a:r>
              <a:rPr lang="en-US" sz="2000" dirty="0" smtClean="0">
                <a:latin typeface="Times New Roman" pitchFamily="18" charset="0"/>
              </a:rPr>
              <a:t>A barrier to entry is a condition that creates a disincentive for a new firm to enter an industry.  </a:t>
            </a:r>
          </a:p>
        </p:txBody>
      </p:sp>
      <p:sp>
        <p:nvSpPr>
          <p:cNvPr id="18437"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14126725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152400" y="990600"/>
            <a:ext cx="8763000" cy="5334000"/>
          </a:xfrm>
        </p:spPr>
        <p:txBody>
          <a:bodyPr/>
          <a:lstStyle/>
          <a:p>
            <a:pPr eaLnBrk="1" hangingPunct="1"/>
            <a:r>
              <a:rPr lang="en-US" sz="2800" dirty="0" smtClean="0">
                <a:latin typeface="Times New Roman" pitchFamily="18" charset="0"/>
              </a:rPr>
              <a:t>Non Traditional Barriers to Entry</a:t>
            </a:r>
          </a:p>
          <a:p>
            <a:pPr lvl="1" eaLnBrk="1" hangingPunct="1"/>
            <a:r>
              <a:rPr lang="en-US" dirty="0" smtClean="0">
                <a:latin typeface="Times New Roman" pitchFamily="18" charset="0"/>
              </a:rPr>
              <a:t>It is difficult for start-ups to execute barriers to entry that are expensive, such as economies of scale, because money is usually tight.</a:t>
            </a:r>
          </a:p>
          <a:p>
            <a:pPr lvl="1" eaLnBrk="1" hangingPunct="1"/>
            <a:r>
              <a:rPr lang="en-US" dirty="0" smtClean="0">
                <a:latin typeface="Times New Roman" pitchFamily="18" charset="0"/>
              </a:rPr>
              <a:t>Start-ups have to rely on nontraditional barriers to entry to discourage new entrants, such as assembling a world-class management team that would be difficult for another company to replicate.</a:t>
            </a:r>
          </a:p>
        </p:txBody>
      </p:sp>
    </p:spTree>
    <p:extLst>
      <p:ext uri="{BB962C8B-B14F-4D97-AF65-F5344CB8AC3E}">
        <p14:creationId xmlns:p14="http://schemas.microsoft.com/office/powerpoint/2010/main" xmlns="" val="359925861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152400"/>
            <a:ext cx="8686800" cy="990600"/>
          </a:xfrm>
        </p:spPr>
        <p:txBody>
          <a:bodyPr/>
          <a:lstStyle/>
          <a:p>
            <a:pPr eaLnBrk="1" hangingPunct="1"/>
            <a:r>
              <a:rPr lang="en-US" sz="3600" b="1" dirty="0" smtClean="0">
                <a:solidFill>
                  <a:schemeClr val="bg2"/>
                </a:solidFill>
                <a:latin typeface="Times New Roman" pitchFamily="18" charset="0"/>
              </a:rPr>
              <a:t>Rivalry Among Existing Firms</a:t>
            </a:r>
          </a:p>
        </p:txBody>
      </p:sp>
      <p:sp>
        <p:nvSpPr>
          <p:cNvPr id="24579" name="Rectangle 3"/>
          <p:cNvSpPr>
            <a:spLocks noGrp="1" noChangeArrowheads="1"/>
          </p:cNvSpPr>
          <p:nvPr>
            <p:ph idx="1"/>
          </p:nvPr>
        </p:nvSpPr>
        <p:spPr>
          <a:xfrm>
            <a:off x="0" y="1219200"/>
            <a:ext cx="9144000" cy="5638800"/>
          </a:xfrm>
        </p:spPr>
        <p:txBody>
          <a:bodyPr/>
          <a:lstStyle/>
          <a:p>
            <a:pPr eaLnBrk="1" hangingPunct="1"/>
            <a:r>
              <a:rPr lang="en-US" sz="2800" dirty="0" smtClean="0">
                <a:latin typeface="Times New Roman" pitchFamily="18" charset="0"/>
              </a:rPr>
              <a:t>Rivalry Among Existing Firms</a:t>
            </a:r>
          </a:p>
          <a:p>
            <a:pPr lvl="1" eaLnBrk="1" hangingPunct="1"/>
            <a:r>
              <a:rPr lang="en-US" dirty="0" smtClean="0">
                <a:latin typeface="Times New Roman" pitchFamily="18" charset="0"/>
              </a:rPr>
              <a:t>In most industries,</a:t>
            </a:r>
            <a:r>
              <a:rPr lang="en-US" b="1" i="1" dirty="0" smtClean="0">
                <a:solidFill>
                  <a:schemeClr val="bg2"/>
                </a:solidFill>
                <a:latin typeface="Times New Roman" pitchFamily="18" charset="0"/>
              </a:rPr>
              <a:t> the major determinant of industry profitability is the level of competition among existing firms.</a:t>
            </a:r>
          </a:p>
          <a:p>
            <a:pPr lvl="1" eaLnBrk="1" hangingPunct="1"/>
            <a:r>
              <a:rPr lang="en-US" dirty="0" smtClean="0">
                <a:latin typeface="Times New Roman" pitchFamily="18" charset="0"/>
              </a:rPr>
              <a:t>Some industries are fiercely competitive, to the point where prices are pushed below the level of costs, and industry-wide losses occur.</a:t>
            </a:r>
          </a:p>
          <a:p>
            <a:pPr lvl="1" eaLnBrk="1" hangingPunct="1"/>
            <a:r>
              <a:rPr lang="en-US" dirty="0" smtClean="0">
                <a:latin typeface="Times New Roman" pitchFamily="18" charset="0"/>
              </a:rPr>
              <a:t>In other industries, competition is much less intense and price competition is subdued.</a:t>
            </a:r>
          </a:p>
        </p:txBody>
      </p:sp>
      <p:sp>
        <p:nvSpPr>
          <p:cNvPr id="24581"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153424698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152400"/>
            <a:ext cx="8686800" cy="1143000"/>
          </a:xfrm>
        </p:spPr>
        <p:txBody>
          <a:bodyPr/>
          <a:lstStyle/>
          <a:p>
            <a:pPr eaLnBrk="1" hangingPunct="1"/>
            <a:r>
              <a:rPr lang="en-US" sz="3600" b="1" dirty="0" smtClean="0">
                <a:solidFill>
                  <a:schemeClr val="bg2"/>
                </a:solidFill>
                <a:latin typeface="Times New Roman" pitchFamily="18" charset="0"/>
              </a:rPr>
              <a:t>Bargaining Power of Suppliers</a:t>
            </a:r>
          </a:p>
        </p:txBody>
      </p:sp>
      <p:sp>
        <p:nvSpPr>
          <p:cNvPr id="27651" name="Rectangle 3"/>
          <p:cNvSpPr>
            <a:spLocks noGrp="1" noChangeArrowheads="1"/>
          </p:cNvSpPr>
          <p:nvPr>
            <p:ph idx="1"/>
          </p:nvPr>
        </p:nvSpPr>
        <p:spPr>
          <a:xfrm>
            <a:off x="-19666" y="1371600"/>
            <a:ext cx="9163665" cy="5486400"/>
          </a:xfrm>
        </p:spPr>
        <p:txBody>
          <a:bodyPr/>
          <a:lstStyle/>
          <a:p>
            <a:pPr eaLnBrk="1" hangingPunct="1"/>
            <a:r>
              <a:rPr lang="en-US" sz="2800" dirty="0" smtClean="0">
                <a:latin typeface="Times New Roman" pitchFamily="18" charset="0"/>
              </a:rPr>
              <a:t>Bargaining Power of Suppliers</a:t>
            </a:r>
          </a:p>
          <a:p>
            <a:pPr lvl="1" eaLnBrk="1" hangingPunct="1"/>
            <a:r>
              <a:rPr lang="en-US" dirty="0" smtClean="0">
                <a:latin typeface="Times New Roman" pitchFamily="18" charset="0"/>
              </a:rPr>
              <a:t>Suppliers can suppress the profitability of the industries to which they sell by raising prices or reducing the quality of the components they provide.</a:t>
            </a:r>
          </a:p>
          <a:p>
            <a:pPr lvl="1" eaLnBrk="1" hangingPunct="1"/>
            <a:r>
              <a:rPr lang="en-US" dirty="0" smtClean="0">
                <a:latin typeface="Times New Roman" pitchFamily="18" charset="0"/>
              </a:rPr>
              <a:t>If a supplier reduces the quality of the components it supplies, the quality of the finished product will suffer, and the manufacturer will eventually have to lower its price.</a:t>
            </a:r>
          </a:p>
          <a:p>
            <a:pPr lvl="1" eaLnBrk="1" hangingPunct="1"/>
            <a:r>
              <a:rPr lang="en-US" dirty="0" smtClean="0">
                <a:latin typeface="Times New Roman" pitchFamily="18" charset="0"/>
              </a:rPr>
              <a:t>If the suppliers are powerful relative to the firms in the industry to which they sell, industry profitability can suffer.</a:t>
            </a:r>
          </a:p>
        </p:txBody>
      </p:sp>
      <p:sp>
        <p:nvSpPr>
          <p:cNvPr id="27653"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419078932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8" name="Rectangle 6"/>
          <p:cNvSpPr>
            <a:spLocks noGrp="1" noChangeArrowheads="1"/>
          </p:cNvSpPr>
          <p:nvPr>
            <p:ph type="title"/>
          </p:nvPr>
        </p:nvSpPr>
        <p:spPr>
          <a:xfrm>
            <a:off x="0" y="457200"/>
            <a:ext cx="8686800" cy="609600"/>
          </a:xfrm>
        </p:spPr>
        <p:txBody>
          <a:bodyPr/>
          <a:lstStyle/>
          <a:p>
            <a:pPr eaLnBrk="1" hangingPunct="1"/>
            <a:r>
              <a:rPr lang="en-US" sz="3200" b="1" dirty="0" smtClean="0">
                <a:solidFill>
                  <a:schemeClr val="bg2"/>
                </a:solidFill>
                <a:latin typeface="Times New Roman" panose="02020603050405020304" pitchFamily="18" charset="0"/>
                <a:cs typeface="Times New Roman" panose="02020603050405020304" pitchFamily="18" charset="0"/>
              </a:rPr>
              <a:t>Bargaining Power of Buyers</a:t>
            </a:r>
          </a:p>
        </p:txBody>
      </p:sp>
      <p:sp>
        <p:nvSpPr>
          <p:cNvPr id="84999" name="Rectangle 7"/>
          <p:cNvSpPr>
            <a:spLocks noGrp="1" noChangeArrowheads="1"/>
          </p:cNvSpPr>
          <p:nvPr>
            <p:ph idx="1"/>
          </p:nvPr>
        </p:nvSpPr>
        <p:spPr>
          <a:xfrm>
            <a:off x="18143" y="1066800"/>
            <a:ext cx="9144000" cy="5334000"/>
          </a:xfrm>
        </p:spPr>
        <p:txBody>
          <a:bodyPr/>
          <a:lstStyle/>
          <a:p>
            <a:pPr eaLnBrk="1" hangingPunct="1">
              <a:spcBef>
                <a:spcPct val="50000"/>
              </a:spcBef>
            </a:pPr>
            <a:r>
              <a:rPr lang="en-US" dirty="0" smtClean="0">
                <a:latin typeface="Times New Roman" panose="02020603050405020304" pitchFamily="18" charset="0"/>
                <a:cs typeface="Times New Roman" panose="02020603050405020304" pitchFamily="18" charset="0"/>
              </a:rPr>
              <a:t>Buyer power increases when:</a:t>
            </a:r>
          </a:p>
          <a:p>
            <a:pPr lvl="1" eaLnBrk="1" hangingPunct="1">
              <a:spcBef>
                <a:spcPct val="50000"/>
              </a:spcBef>
            </a:pPr>
            <a:r>
              <a:rPr lang="en-US" dirty="0" smtClean="0">
                <a:latin typeface="Times New Roman" panose="02020603050405020304" pitchFamily="18" charset="0"/>
                <a:cs typeface="Times New Roman" panose="02020603050405020304" pitchFamily="18" charset="0"/>
              </a:rPr>
              <a:t>Buyers are large and few in number.</a:t>
            </a:r>
          </a:p>
          <a:p>
            <a:pPr lvl="1" eaLnBrk="1" hangingPunct="1">
              <a:spcBef>
                <a:spcPct val="50000"/>
              </a:spcBef>
            </a:pPr>
            <a:r>
              <a:rPr lang="en-US" dirty="0" smtClean="0">
                <a:latin typeface="Times New Roman" panose="02020603050405020304" pitchFamily="18" charset="0"/>
                <a:cs typeface="Times New Roman" panose="02020603050405020304" pitchFamily="18" charset="0"/>
              </a:rPr>
              <a:t>Buyers purchase a large portion of an industry’s total output.</a:t>
            </a:r>
          </a:p>
          <a:p>
            <a:pPr lvl="1" eaLnBrk="1" hangingPunct="1">
              <a:spcBef>
                <a:spcPct val="50000"/>
              </a:spcBef>
              <a:buFont typeface="Wingdings" panose="05000000000000000000" pitchFamily="2" charset="2"/>
              <a:buChar char="Ø"/>
            </a:pPr>
            <a:r>
              <a:rPr lang="en-US" dirty="0"/>
              <a:t>Wal*Mart is a powerful organization and bargains hard with its suppliers to obtain better prices</a:t>
            </a:r>
            <a:endParaRPr lang="en-US" dirty="0" smtClean="0">
              <a:latin typeface="Times New Roman" panose="02020603050405020304" pitchFamily="18" charset="0"/>
              <a:cs typeface="Times New Roman" panose="02020603050405020304" pitchFamily="18" charset="0"/>
            </a:endParaRPr>
          </a:p>
          <a:p>
            <a:pPr lvl="1" eaLnBrk="1" hangingPunct="1">
              <a:spcBef>
                <a:spcPct val="50000"/>
              </a:spcBef>
            </a:pPr>
            <a:r>
              <a:rPr lang="en-US" dirty="0" smtClean="0">
                <a:latin typeface="Times New Roman" panose="02020603050405020304" pitchFamily="18" charset="0"/>
                <a:cs typeface="Times New Roman" panose="02020603050405020304" pitchFamily="18" charset="0"/>
              </a:rPr>
              <a:t>Buyers can pose threat to integrate backward into the sellers’ industry.</a:t>
            </a:r>
          </a:p>
          <a:p>
            <a:pPr lvl="1" eaLnBrk="1" hangingPunct="1">
              <a:spcBef>
                <a:spcPct val="50000"/>
              </a:spcBef>
            </a:pPr>
            <a:r>
              <a:rPr lang="en-US" dirty="0" smtClean="0">
                <a:latin typeface="Times New Roman" panose="02020603050405020304" pitchFamily="18" charset="0"/>
                <a:cs typeface="Times New Roman" panose="02020603050405020304" pitchFamily="18" charset="0"/>
              </a:rPr>
              <a:t>Buyer has full information.</a:t>
            </a:r>
          </a:p>
          <a:p>
            <a:pPr eaLnBrk="1" hangingPunct="1">
              <a:spcBef>
                <a:spcPct val="50000"/>
              </a:spcBef>
            </a:pPr>
            <a:r>
              <a:rPr lang="en-US" b="1" i="1" dirty="0" smtClean="0">
                <a:solidFill>
                  <a:schemeClr val="bg2"/>
                </a:solidFill>
                <a:latin typeface="Times New Roman" panose="02020603050405020304" pitchFamily="18" charset="0"/>
                <a:cs typeface="Times New Roman" panose="02020603050405020304" pitchFamily="18" charset="0"/>
              </a:rPr>
              <a:t>Monopsony..?</a:t>
            </a:r>
          </a:p>
        </p:txBody>
      </p:sp>
      <p:sp>
        <p:nvSpPr>
          <p:cNvPr id="4" name="Line 4"/>
          <p:cNvSpPr>
            <a:spLocks noChangeShapeType="1"/>
          </p:cNvSpPr>
          <p:nvPr/>
        </p:nvSpPr>
        <p:spPr bwMode="auto">
          <a:xfrm>
            <a:off x="0" y="10668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33405435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84998"/>
                                        </p:tgtEl>
                                        <p:attrNameLst>
                                          <p:attrName>style.visibility</p:attrName>
                                        </p:attrNameLst>
                                      </p:cBhvr>
                                      <p:to>
                                        <p:strVal val="visible"/>
                                      </p:to>
                                    </p:set>
                                    <p:animEffect transition="in" filter="wipe(left)">
                                      <p:cBhvr>
                                        <p:cTn id="7" dur="500"/>
                                        <p:tgtEl>
                                          <p:spTgt spid="849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999">
                                            <p:txEl>
                                              <p:pRg st="0" end="0"/>
                                            </p:txEl>
                                          </p:spTgt>
                                        </p:tgtEl>
                                        <p:attrNameLst>
                                          <p:attrName>style.visibility</p:attrName>
                                        </p:attrNameLst>
                                      </p:cBhvr>
                                      <p:to>
                                        <p:strVal val="visible"/>
                                      </p:to>
                                    </p:set>
                                    <p:animEffect transition="in" filter="wipe(left)">
                                      <p:cBhvr>
                                        <p:cTn id="12" dur="500"/>
                                        <p:tgtEl>
                                          <p:spTgt spid="8499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4999">
                                            <p:txEl>
                                              <p:pRg st="1" end="1"/>
                                            </p:txEl>
                                          </p:spTgt>
                                        </p:tgtEl>
                                        <p:attrNameLst>
                                          <p:attrName>style.visibility</p:attrName>
                                        </p:attrNameLst>
                                      </p:cBhvr>
                                      <p:to>
                                        <p:strVal val="visible"/>
                                      </p:to>
                                    </p:set>
                                    <p:animEffect transition="in" filter="wipe(left)">
                                      <p:cBhvr>
                                        <p:cTn id="17" dur="500"/>
                                        <p:tgtEl>
                                          <p:spTgt spid="8499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4999">
                                            <p:txEl>
                                              <p:pRg st="2" end="2"/>
                                            </p:txEl>
                                          </p:spTgt>
                                        </p:tgtEl>
                                        <p:attrNameLst>
                                          <p:attrName>style.visibility</p:attrName>
                                        </p:attrNameLst>
                                      </p:cBhvr>
                                      <p:to>
                                        <p:strVal val="visible"/>
                                      </p:to>
                                    </p:set>
                                    <p:animEffect transition="in" filter="wipe(left)">
                                      <p:cBhvr>
                                        <p:cTn id="22" dur="500"/>
                                        <p:tgtEl>
                                          <p:spTgt spid="8499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4999">
                                            <p:txEl>
                                              <p:pRg st="3" end="3"/>
                                            </p:txEl>
                                          </p:spTgt>
                                        </p:tgtEl>
                                        <p:attrNameLst>
                                          <p:attrName>style.visibility</p:attrName>
                                        </p:attrNameLst>
                                      </p:cBhvr>
                                      <p:to>
                                        <p:strVal val="visible"/>
                                      </p:to>
                                    </p:set>
                                    <p:animEffect transition="in" filter="wipe(left)">
                                      <p:cBhvr>
                                        <p:cTn id="27" dur="500"/>
                                        <p:tgtEl>
                                          <p:spTgt spid="8499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4999">
                                            <p:txEl>
                                              <p:pRg st="4" end="4"/>
                                            </p:txEl>
                                          </p:spTgt>
                                        </p:tgtEl>
                                        <p:attrNameLst>
                                          <p:attrName>style.visibility</p:attrName>
                                        </p:attrNameLst>
                                      </p:cBhvr>
                                      <p:to>
                                        <p:strVal val="visible"/>
                                      </p:to>
                                    </p:set>
                                    <p:animEffect transition="in" filter="wipe(left)">
                                      <p:cBhvr>
                                        <p:cTn id="32" dur="500"/>
                                        <p:tgtEl>
                                          <p:spTgt spid="8499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4999">
                                            <p:txEl>
                                              <p:pRg st="5" end="5"/>
                                            </p:txEl>
                                          </p:spTgt>
                                        </p:tgtEl>
                                        <p:attrNameLst>
                                          <p:attrName>style.visibility</p:attrName>
                                        </p:attrNameLst>
                                      </p:cBhvr>
                                      <p:to>
                                        <p:strVal val="visible"/>
                                      </p:to>
                                    </p:set>
                                    <p:animEffect transition="in" filter="wipe(left)">
                                      <p:cBhvr>
                                        <p:cTn id="37" dur="500"/>
                                        <p:tgtEl>
                                          <p:spTgt spid="84999">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4999">
                                            <p:txEl>
                                              <p:pRg st="6" end="6"/>
                                            </p:txEl>
                                          </p:spTgt>
                                        </p:tgtEl>
                                        <p:attrNameLst>
                                          <p:attrName>style.visibility</p:attrName>
                                        </p:attrNameLst>
                                      </p:cBhvr>
                                      <p:to>
                                        <p:strVal val="visible"/>
                                      </p:to>
                                    </p:set>
                                    <p:animEffect transition="in" filter="wipe(left)">
                                      <p:cBhvr>
                                        <p:cTn id="42" dur="500"/>
                                        <p:tgtEl>
                                          <p:spTgt spid="849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8" grpId="0" autoUpdateAnimBg="0"/>
      <p:bldP spid="84999" grpId="0" build="p" bldLvl="2"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51631" y="457200"/>
            <a:ext cx="8440738" cy="661987"/>
          </a:xfrm>
          <a:noFill/>
          <a:ln/>
          <a:effectLst>
            <a:outerShdw dist="17961" dir="13500000" algn="ctr" rotWithShape="0">
              <a:schemeClr val="tx1"/>
            </a:outerShdw>
          </a:effectLst>
          <a:extLst>
            <a:ext uri="{91240B29-F687-4F45-9708-019B960494DF}">
              <a14:hiddenLine xmlns:a14="http://schemas.microsoft.com/office/drawing/2010/main" xmlns="" w="12700">
                <a:solidFill>
                  <a:schemeClr val="tx1"/>
                </a:solidFill>
                <a:miter lim="800000"/>
                <a:headEnd/>
                <a:tailEnd/>
              </a14:hiddenLine>
            </a:ext>
          </a:extLst>
        </p:spPr>
        <p:txBody>
          <a:bodyPr lIns="90488" tIns="44450" rIns="90488" bIns="44450"/>
          <a:lstStyle/>
          <a:p>
            <a:pPr algn="ctr"/>
            <a:r>
              <a:rPr lang="en-US" altLang="en-US" sz="3600" dirty="0">
                <a:solidFill>
                  <a:schemeClr val="bg2"/>
                </a:solidFill>
              </a:rPr>
              <a:t>Industry Life Cycle</a:t>
            </a:r>
          </a:p>
        </p:txBody>
      </p:sp>
      <p:sp>
        <p:nvSpPr>
          <p:cNvPr id="16387" name="Rectangle 3"/>
          <p:cNvSpPr>
            <a:spLocks noGrp="1" noChangeArrowheads="1"/>
          </p:cNvSpPr>
          <p:nvPr>
            <p:ph type="body" idx="1"/>
          </p:nvPr>
        </p:nvSpPr>
        <p:spPr>
          <a:xfrm>
            <a:off x="0" y="1119187"/>
            <a:ext cx="9144000" cy="5410200"/>
          </a:xfrm>
          <a:noFill/>
          <a:ln/>
          <a:extLst>
            <a:ext uri="{91240B29-F687-4F45-9708-019B960494DF}">
              <a14:hiddenLine xmlns:a14="http://schemas.microsoft.com/office/drawing/2010/main" xmlns="" w="12700">
                <a:solidFill>
                  <a:schemeClr val="tx1"/>
                </a:solidFill>
                <a:miter lim="800000"/>
                <a:headEnd/>
                <a:tailEnd/>
              </a14:hiddenLine>
            </a:ext>
          </a:extLst>
        </p:spPr>
        <p:txBody>
          <a:bodyPr lIns="90488" tIns="44450" rIns="90488" bIns="44450"/>
          <a:lstStyle/>
          <a:p>
            <a:pPr>
              <a:lnSpc>
                <a:spcPct val="90000"/>
              </a:lnSpc>
            </a:pPr>
            <a:r>
              <a:rPr lang="en-US" altLang="en-US" sz="2600" dirty="0"/>
              <a:t>Reflects the changes that take place in an industry over time</a:t>
            </a:r>
            <a:r>
              <a:rPr lang="en-US" altLang="en-US" sz="2600" dirty="0" smtClean="0"/>
              <a:t>.</a:t>
            </a:r>
          </a:p>
          <a:p>
            <a:pPr marL="0" indent="0">
              <a:lnSpc>
                <a:spcPct val="90000"/>
              </a:lnSpc>
              <a:buNone/>
            </a:pPr>
            <a:endParaRPr lang="en-US" altLang="en-US" sz="2600" dirty="0"/>
          </a:p>
          <a:p>
            <a:pPr marL="514350" indent="-514350">
              <a:lnSpc>
                <a:spcPct val="90000"/>
              </a:lnSpc>
              <a:buFont typeface="+mj-lt"/>
              <a:buAutoNum type="arabicPeriod"/>
            </a:pPr>
            <a:r>
              <a:rPr lang="en-US" altLang="en-US" sz="2600" b="1" i="1" dirty="0">
                <a:solidFill>
                  <a:srgbClr val="00279F"/>
                </a:solidFill>
              </a:rPr>
              <a:t>Birth stage:</a:t>
            </a:r>
            <a:r>
              <a:rPr lang="en-US" altLang="en-US" sz="2600" b="1" dirty="0">
                <a:solidFill>
                  <a:srgbClr val="790015"/>
                </a:solidFill>
              </a:rPr>
              <a:t> </a:t>
            </a:r>
            <a:r>
              <a:rPr lang="en-US" altLang="en-US" sz="2600" dirty="0"/>
              <a:t>firms seek to develop a winning technology.</a:t>
            </a:r>
          </a:p>
          <a:p>
            <a:pPr lvl="1">
              <a:lnSpc>
                <a:spcPct val="90000"/>
              </a:lnSpc>
              <a:buSzPct val="75000"/>
            </a:pPr>
            <a:r>
              <a:rPr lang="en-US" altLang="en-US" sz="2600" dirty="0"/>
              <a:t>For example, in the personal computer industry, this stage would have been in the early-to-mid 1980s as companies explored the possibilities of selling these devices</a:t>
            </a:r>
            <a:r>
              <a:rPr lang="en-US" altLang="en-US" sz="2600" dirty="0" smtClean="0"/>
              <a:t>.</a:t>
            </a:r>
          </a:p>
          <a:p>
            <a:pPr marL="508000" indent="-508000">
              <a:lnSpc>
                <a:spcPct val="90000"/>
              </a:lnSpc>
              <a:buFont typeface="+mj-lt"/>
              <a:buAutoNum type="arabicPeriod"/>
            </a:pPr>
            <a:r>
              <a:rPr lang="en-US" altLang="en-US" sz="2600" b="1" i="1" dirty="0" smtClean="0">
                <a:solidFill>
                  <a:srgbClr val="00279F"/>
                </a:solidFill>
              </a:rPr>
              <a:t>Growth </a:t>
            </a:r>
            <a:r>
              <a:rPr lang="en-US" altLang="en-US" sz="2600" b="1" i="1" dirty="0">
                <a:solidFill>
                  <a:srgbClr val="00279F"/>
                </a:solidFill>
              </a:rPr>
              <a:t>stage:</a:t>
            </a:r>
            <a:r>
              <a:rPr lang="en-US" altLang="en-US" sz="2600" b="1" dirty="0">
                <a:solidFill>
                  <a:srgbClr val="790015"/>
                </a:solidFill>
              </a:rPr>
              <a:t> </a:t>
            </a:r>
            <a:r>
              <a:rPr lang="en-US" altLang="en-US" sz="2600" dirty="0"/>
              <a:t>Product gains customer acceptance and grows rapidly.</a:t>
            </a:r>
          </a:p>
          <a:p>
            <a:pPr lvl="1">
              <a:lnSpc>
                <a:spcPct val="90000"/>
              </a:lnSpc>
              <a:buSzPct val="75000"/>
            </a:pPr>
            <a:r>
              <a:rPr lang="en-US" altLang="en-US" sz="2600" dirty="0"/>
              <a:t>New firms enter industry, production improves, distributors emerge</a:t>
            </a:r>
            <a:r>
              <a:rPr lang="en-US" altLang="en-US" sz="2600" dirty="0" smtClean="0"/>
              <a:t>.</a:t>
            </a:r>
          </a:p>
          <a:p>
            <a:pPr marL="514350" indent="-514350">
              <a:lnSpc>
                <a:spcPct val="90000"/>
              </a:lnSpc>
              <a:buFont typeface="+mj-lt"/>
              <a:buAutoNum type="arabicPeriod" startAt="3"/>
            </a:pPr>
            <a:r>
              <a:rPr lang="en-US" altLang="en-US" sz="2600" b="1" i="1" dirty="0">
                <a:solidFill>
                  <a:srgbClr val="00279F"/>
                </a:solidFill>
              </a:rPr>
              <a:t>Shakeout stage:</a:t>
            </a:r>
            <a:r>
              <a:rPr lang="en-US" altLang="en-US" sz="2600" b="1" dirty="0">
                <a:solidFill>
                  <a:srgbClr val="790015"/>
                </a:solidFill>
              </a:rPr>
              <a:t> </a:t>
            </a:r>
            <a:r>
              <a:rPr lang="en-US" altLang="en-US" sz="2600" dirty="0"/>
              <a:t>The stage between growth and maturity.</a:t>
            </a:r>
          </a:p>
          <a:p>
            <a:pPr lvl="1">
              <a:lnSpc>
                <a:spcPct val="90000"/>
              </a:lnSpc>
              <a:buSzPct val="75000"/>
            </a:pPr>
            <a:r>
              <a:rPr lang="en-US" altLang="en-US" sz="2600" dirty="0"/>
              <a:t>Competitor rivalry increases. </a:t>
            </a:r>
          </a:p>
          <a:p>
            <a:pPr lvl="1">
              <a:lnSpc>
                <a:spcPct val="90000"/>
              </a:lnSpc>
              <a:buSzPct val="75000"/>
            </a:pPr>
            <a:r>
              <a:rPr lang="en-US" altLang="en-US" sz="2600" dirty="0"/>
              <a:t>Least efficient firms fail and leave industry.</a:t>
            </a:r>
          </a:p>
          <a:p>
            <a:pPr marL="457200" lvl="1" indent="0">
              <a:lnSpc>
                <a:spcPct val="90000"/>
              </a:lnSpc>
              <a:buSzPct val="75000"/>
              <a:buNone/>
            </a:pPr>
            <a:endParaRPr lang="en-US" altLang="en-US" sz="2400" dirty="0" smtClean="0"/>
          </a:p>
        </p:txBody>
      </p:sp>
    </p:spTree>
    <p:extLst>
      <p:ext uri="{BB962C8B-B14F-4D97-AF65-F5344CB8AC3E}">
        <p14:creationId xmlns:p14="http://schemas.microsoft.com/office/powerpoint/2010/main" xmlns="" val="402267043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0" y="381000"/>
            <a:ext cx="9067800" cy="6248400"/>
          </a:xfrm>
          <a:noFill/>
          <a:ln/>
          <a:extLst>
            <a:ext uri="{91240B29-F687-4F45-9708-019B960494DF}">
              <a14:hiddenLine xmlns:a14="http://schemas.microsoft.com/office/drawing/2010/main" xmlns="" w="12700">
                <a:solidFill>
                  <a:schemeClr val="tx1"/>
                </a:solidFill>
                <a:miter lim="800000"/>
                <a:headEnd/>
                <a:tailEnd/>
              </a14:hiddenLine>
            </a:ext>
          </a:extLst>
        </p:spPr>
        <p:txBody>
          <a:bodyPr lIns="90488" tIns="44450" rIns="90488" bIns="44450"/>
          <a:lstStyle/>
          <a:p>
            <a:pPr>
              <a:lnSpc>
                <a:spcPct val="90000"/>
              </a:lnSpc>
              <a:buFont typeface="Wingdings" panose="05000000000000000000" pitchFamily="2" charset="2"/>
              <a:buChar char="Ø"/>
            </a:pPr>
            <a:r>
              <a:rPr lang="en-US" altLang="en-US" sz="2600" b="1" i="1" dirty="0" smtClean="0">
                <a:solidFill>
                  <a:schemeClr val="bg2"/>
                </a:solidFill>
              </a:rPr>
              <a:t>When </a:t>
            </a:r>
            <a:r>
              <a:rPr lang="en-US" altLang="en-US" sz="2600" b="1" i="1" dirty="0">
                <a:solidFill>
                  <a:schemeClr val="bg2"/>
                </a:solidFill>
              </a:rPr>
              <a:t>should I join an industry?</a:t>
            </a:r>
          </a:p>
          <a:p>
            <a:pPr lvl="1">
              <a:lnSpc>
                <a:spcPct val="90000"/>
              </a:lnSpc>
              <a:buSzPct val="75000"/>
            </a:pPr>
            <a:r>
              <a:rPr lang="en-US" altLang="en-US" sz="2600" dirty="0"/>
              <a:t>Joining an industry in the “Birth” or “Growth” stage has the greatest potential to grow YET there </a:t>
            </a:r>
            <a:r>
              <a:rPr lang="en-US" altLang="en-US" sz="2600" dirty="0" smtClean="0"/>
              <a:t>are chances </a:t>
            </a:r>
            <a:r>
              <a:rPr lang="en-US" altLang="en-US" sz="2600" dirty="0"/>
              <a:t>that the business you joined will fail.</a:t>
            </a:r>
          </a:p>
          <a:p>
            <a:pPr lvl="1">
              <a:lnSpc>
                <a:spcPct val="90000"/>
              </a:lnSpc>
              <a:buSzPct val="75000"/>
            </a:pPr>
            <a:r>
              <a:rPr lang="en-US" altLang="en-US" sz="2600" dirty="0"/>
              <a:t>The best time to join an industry is in the Shakeout stage (Point X). The business concept is proven and markets are pioneered. This is when the strong companies strengthen their businesses and sales explode.</a:t>
            </a:r>
          </a:p>
          <a:p>
            <a:pPr marL="514350" indent="-514350">
              <a:lnSpc>
                <a:spcPct val="90000"/>
              </a:lnSpc>
              <a:buFont typeface="+mj-lt"/>
              <a:buAutoNum type="arabicPeriod" startAt="4"/>
            </a:pPr>
            <a:r>
              <a:rPr lang="en-US" altLang="en-US" sz="2600" b="1" i="1" dirty="0">
                <a:solidFill>
                  <a:srgbClr val="00279F"/>
                </a:solidFill>
              </a:rPr>
              <a:t>Maturity stage</a:t>
            </a:r>
            <a:r>
              <a:rPr lang="en-US" altLang="en-US" sz="2600" i="1" dirty="0">
                <a:solidFill>
                  <a:srgbClr val="00279F"/>
                </a:solidFill>
              </a:rPr>
              <a:t>:</a:t>
            </a:r>
            <a:r>
              <a:rPr lang="en-US" altLang="en-US" sz="2600" dirty="0">
                <a:solidFill>
                  <a:srgbClr val="790015"/>
                </a:solidFill>
              </a:rPr>
              <a:t> </a:t>
            </a:r>
            <a:r>
              <a:rPr lang="en-US" altLang="en-US" sz="2600" dirty="0"/>
              <a:t>most customers have bought the product, growth is slow.</a:t>
            </a:r>
          </a:p>
          <a:p>
            <a:pPr lvl="1">
              <a:lnSpc>
                <a:spcPct val="90000"/>
              </a:lnSpc>
              <a:buSzPct val="75000"/>
            </a:pPr>
            <a:r>
              <a:rPr lang="en-US" altLang="en-US" sz="2600" dirty="0"/>
              <a:t>Relationships between suppliers, distributors more stable.</a:t>
            </a:r>
          </a:p>
          <a:p>
            <a:pPr lvl="1">
              <a:lnSpc>
                <a:spcPct val="90000"/>
              </a:lnSpc>
              <a:buSzPct val="75000"/>
            </a:pPr>
            <a:r>
              <a:rPr lang="en-US" altLang="en-US" sz="2600" dirty="0"/>
              <a:t>Usually, industry dominated by a few, large firms.</a:t>
            </a:r>
          </a:p>
          <a:p>
            <a:pPr marL="514350" indent="-514350">
              <a:lnSpc>
                <a:spcPct val="90000"/>
              </a:lnSpc>
              <a:buFont typeface="+mj-lt"/>
              <a:buAutoNum type="arabicPeriod" startAt="5"/>
            </a:pPr>
            <a:r>
              <a:rPr lang="en-US" altLang="en-US" sz="2600" b="1" i="1" dirty="0">
                <a:solidFill>
                  <a:srgbClr val="00279F"/>
                </a:solidFill>
              </a:rPr>
              <a:t>Decline stage:</a:t>
            </a:r>
            <a:r>
              <a:rPr lang="en-US" altLang="en-US" sz="2600" b="1" dirty="0">
                <a:solidFill>
                  <a:srgbClr val="790015"/>
                </a:solidFill>
              </a:rPr>
              <a:t> </a:t>
            </a:r>
            <a:r>
              <a:rPr lang="en-US" altLang="en-US" sz="2600" dirty="0"/>
              <a:t>falling demand for the product.</a:t>
            </a:r>
          </a:p>
          <a:p>
            <a:pPr lvl="1">
              <a:lnSpc>
                <a:spcPct val="90000"/>
              </a:lnSpc>
              <a:buSzPct val="75000"/>
            </a:pPr>
            <a:r>
              <a:rPr lang="en-US" altLang="en-US" sz="2600" dirty="0"/>
              <a:t>Prices fall, weaker firms leave the industry.</a:t>
            </a:r>
          </a:p>
        </p:txBody>
      </p:sp>
    </p:spTree>
    <p:extLst>
      <p:ext uri="{BB962C8B-B14F-4D97-AF65-F5344CB8AC3E}">
        <p14:creationId xmlns:p14="http://schemas.microsoft.com/office/powerpoint/2010/main" xmlns="" val="1624226550"/>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957F6B4F-1517-4E06-9D34-2A0254A37EA2}" type="slidenum">
              <a:rPr lang="en-US" smtClean="0"/>
              <a:pPr/>
              <a:t>18</a:t>
            </a:fld>
            <a:endParaRPr lang="en-US"/>
          </a:p>
        </p:txBody>
      </p:sp>
      <p:pic>
        <p:nvPicPr>
          <p:cNvPr id="1026" name="Picture 2" descr="http://www.alife4info.co.uk/images/stagesInTheIndustryLifecycle.jpe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533400"/>
            <a:ext cx="9144000" cy="6477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53252080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152400"/>
            <a:ext cx="8229600" cy="1143000"/>
          </a:xfrm>
        </p:spPr>
        <p:txBody>
          <a:bodyPr/>
          <a:lstStyle/>
          <a:p>
            <a:pPr algn="ctr" eaLnBrk="1" hangingPunct="1"/>
            <a:r>
              <a:rPr lang="en-US" sz="3600" b="1" dirty="0" smtClean="0">
                <a:solidFill>
                  <a:schemeClr val="bg2"/>
                </a:solidFill>
                <a:latin typeface="Times New Roman" panose="02020603050405020304" pitchFamily="18" charset="0"/>
              </a:rPr>
              <a:t>Competitor Analysis</a:t>
            </a:r>
          </a:p>
        </p:txBody>
      </p:sp>
      <p:sp>
        <p:nvSpPr>
          <p:cNvPr id="39939" name="Rectangle 3"/>
          <p:cNvSpPr>
            <a:spLocks noGrp="1" noChangeArrowheads="1"/>
          </p:cNvSpPr>
          <p:nvPr>
            <p:ph type="body" idx="1"/>
          </p:nvPr>
        </p:nvSpPr>
        <p:spPr>
          <a:xfrm>
            <a:off x="457200" y="1524000"/>
            <a:ext cx="8229600" cy="4525963"/>
          </a:xfrm>
        </p:spPr>
        <p:txBody>
          <a:bodyPr/>
          <a:lstStyle/>
          <a:p>
            <a:pPr eaLnBrk="1" hangingPunct="1"/>
            <a:r>
              <a:rPr lang="en-US" sz="2800" smtClean="0">
                <a:latin typeface="Times New Roman" panose="02020603050405020304" pitchFamily="18" charset="0"/>
              </a:rPr>
              <a:t>What is a Competitor Analysis?</a:t>
            </a:r>
          </a:p>
          <a:p>
            <a:pPr lvl="1" eaLnBrk="1" hangingPunct="1"/>
            <a:r>
              <a:rPr lang="en-US" sz="2400" smtClean="0">
                <a:latin typeface="Times New Roman" panose="02020603050405020304" pitchFamily="18" charset="0"/>
              </a:rPr>
              <a:t>A competitor analysis is a detailed analysis of a firm’s competition.  </a:t>
            </a:r>
          </a:p>
          <a:p>
            <a:pPr lvl="1" eaLnBrk="1" hangingPunct="1"/>
            <a:r>
              <a:rPr lang="en-US" sz="2400" smtClean="0">
                <a:latin typeface="Times New Roman" panose="02020603050405020304" pitchFamily="18" charset="0"/>
              </a:rPr>
              <a:t>It helps a firm understand the positions of its major competitors and the opportunities that are available.</a:t>
            </a:r>
          </a:p>
          <a:p>
            <a:pPr lvl="1" eaLnBrk="1" hangingPunct="1"/>
            <a:r>
              <a:rPr lang="en-US" sz="2400" smtClean="0">
                <a:latin typeface="Times New Roman" panose="02020603050405020304" pitchFamily="18" charset="0"/>
              </a:rPr>
              <a:t>A competitive analysis grid is a tool for organizing the information a firm collects about its competitors.</a:t>
            </a:r>
          </a:p>
        </p:txBody>
      </p:sp>
      <p:sp>
        <p:nvSpPr>
          <p:cNvPr id="39940"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3082237229"/>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152400"/>
            <a:ext cx="8229600" cy="1143000"/>
          </a:xfrm>
        </p:spPr>
        <p:txBody>
          <a:bodyPr/>
          <a:lstStyle/>
          <a:p>
            <a:pPr algn="ctr" eaLnBrk="1" hangingPunct="1"/>
            <a:r>
              <a:rPr lang="en-US" sz="3600" b="1" dirty="0" smtClean="0">
                <a:solidFill>
                  <a:schemeClr val="bg2"/>
                </a:solidFill>
                <a:latin typeface="Times New Roman" panose="02020603050405020304" pitchFamily="18" charset="0"/>
              </a:rPr>
              <a:t>Identifying Competitors</a:t>
            </a:r>
          </a:p>
        </p:txBody>
      </p:sp>
      <p:sp>
        <p:nvSpPr>
          <p:cNvPr id="40963"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0964" name="Text Box 7"/>
          <p:cNvSpPr txBox="1">
            <a:spLocks noChangeArrowheads="1"/>
          </p:cNvSpPr>
          <p:nvPr/>
        </p:nvSpPr>
        <p:spPr bwMode="auto">
          <a:xfrm>
            <a:off x="1143000" y="1676400"/>
            <a:ext cx="6477000" cy="41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lnSpc>
                <a:spcPct val="75000"/>
              </a:lnSpc>
              <a:spcBef>
                <a:spcPct val="50000"/>
              </a:spcBef>
            </a:pPr>
            <a:r>
              <a:rPr lang="en-US" sz="2800"/>
              <a:t>Types of Competitors New Ventures Face</a:t>
            </a:r>
          </a:p>
        </p:txBody>
      </p:sp>
      <p:pic>
        <p:nvPicPr>
          <p:cNvPr id="40965" name="Picture 7"/>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1000" y="2438400"/>
            <a:ext cx="8112125" cy="2235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87249086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152400"/>
            <a:ext cx="8229600" cy="1143000"/>
          </a:xfrm>
        </p:spPr>
        <p:txBody>
          <a:bodyPr/>
          <a:lstStyle/>
          <a:p>
            <a:pPr algn="ctr" eaLnBrk="1" hangingPunct="1"/>
            <a:r>
              <a:rPr lang="en-US" sz="3600" b="1" dirty="0" smtClean="0">
                <a:solidFill>
                  <a:schemeClr val="bg2"/>
                </a:solidFill>
                <a:latin typeface="Times New Roman" panose="02020603050405020304" pitchFamily="18" charset="0"/>
              </a:rPr>
              <a:t>Sources of Competitive Intelligence</a:t>
            </a:r>
          </a:p>
        </p:txBody>
      </p:sp>
      <p:sp>
        <p:nvSpPr>
          <p:cNvPr id="41987" name="Rectangle 3"/>
          <p:cNvSpPr>
            <a:spLocks noGrp="1" noChangeArrowheads="1"/>
          </p:cNvSpPr>
          <p:nvPr>
            <p:ph type="body" idx="1"/>
          </p:nvPr>
        </p:nvSpPr>
        <p:spPr/>
        <p:txBody>
          <a:bodyPr/>
          <a:lstStyle/>
          <a:p>
            <a:pPr eaLnBrk="1" hangingPunct="1"/>
            <a:r>
              <a:rPr lang="en-US" sz="2800" smtClean="0">
                <a:latin typeface="Times New Roman" panose="02020603050405020304" pitchFamily="18" charset="0"/>
              </a:rPr>
              <a:t>Collecting Competitive Intelligence</a:t>
            </a:r>
          </a:p>
          <a:p>
            <a:pPr lvl="1" eaLnBrk="1" hangingPunct="1"/>
            <a:r>
              <a:rPr lang="en-US" sz="2400" smtClean="0">
                <a:latin typeface="Times New Roman" panose="02020603050405020304" pitchFamily="18" charset="0"/>
              </a:rPr>
              <a:t>To complete a competitive analysis grid, a firm must first understand the strategies and behaviors of its competitors.</a:t>
            </a:r>
          </a:p>
          <a:p>
            <a:pPr lvl="1" eaLnBrk="1" hangingPunct="1"/>
            <a:r>
              <a:rPr lang="en-US" sz="2400" smtClean="0">
                <a:latin typeface="Times New Roman" panose="02020603050405020304" pitchFamily="18" charset="0"/>
              </a:rPr>
              <a:t>The information that is gathered by a firm to learn about its competitors is referred to as competitive intelligence.</a:t>
            </a:r>
          </a:p>
          <a:p>
            <a:pPr lvl="1" eaLnBrk="1" hangingPunct="1"/>
            <a:r>
              <a:rPr lang="en-US" sz="2400" smtClean="0">
                <a:latin typeface="Times New Roman" panose="02020603050405020304" pitchFamily="18" charset="0"/>
              </a:rPr>
              <a:t>A new venture should take care that it collects competitive intelligence in a professional and ethical manner.</a:t>
            </a:r>
          </a:p>
        </p:txBody>
      </p:sp>
      <p:sp>
        <p:nvSpPr>
          <p:cNvPr id="41988"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1127683384"/>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152400"/>
            <a:ext cx="8229600" cy="1143000"/>
          </a:xfrm>
        </p:spPr>
        <p:txBody>
          <a:bodyPr/>
          <a:lstStyle/>
          <a:p>
            <a:pPr algn="ctr" eaLnBrk="1" hangingPunct="1"/>
            <a:r>
              <a:rPr lang="en-US" sz="3600" b="1" dirty="0" smtClean="0">
                <a:solidFill>
                  <a:schemeClr val="bg2"/>
                </a:solidFill>
                <a:latin typeface="Times New Roman" panose="02020603050405020304" pitchFamily="18" charset="0"/>
              </a:rPr>
              <a:t>Sources of Competitive Intelligence</a:t>
            </a:r>
          </a:p>
        </p:txBody>
      </p:sp>
      <p:sp>
        <p:nvSpPr>
          <p:cNvPr id="43011" name="Line 4"/>
          <p:cNvSpPr>
            <a:spLocks noChangeShapeType="1"/>
          </p:cNvSpPr>
          <p:nvPr/>
        </p:nvSpPr>
        <p:spPr bwMode="auto">
          <a:xfrm>
            <a:off x="0" y="1219200"/>
            <a:ext cx="9144000" cy="0"/>
          </a:xfrm>
          <a:prstGeom prst="line">
            <a:avLst/>
          </a:prstGeom>
          <a:noFill/>
          <a:ln w="38100">
            <a:solidFill>
              <a:srgbClr val="9933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3012" name="Text Box 6"/>
          <p:cNvSpPr txBox="1">
            <a:spLocks noChangeArrowheads="1"/>
          </p:cNvSpPr>
          <p:nvPr/>
        </p:nvSpPr>
        <p:spPr bwMode="auto">
          <a:xfrm>
            <a:off x="457200" y="1447800"/>
            <a:ext cx="800100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algn="ctr" eaLnBrk="1" hangingPunct="1">
              <a:spcBef>
                <a:spcPct val="50000"/>
              </a:spcBef>
            </a:pPr>
            <a:r>
              <a:rPr lang="en-US" sz="2800"/>
              <a:t>Ethical ways to obtain information about competitors</a:t>
            </a:r>
          </a:p>
        </p:txBody>
      </p:sp>
      <p:sp>
        <p:nvSpPr>
          <p:cNvPr id="43013" name="Rectangle 7"/>
          <p:cNvSpPr>
            <a:spLocks noChangeArrowheads="1"/>
          </p:cNvSpPr>
          <p:nvPr/>
        </p:nvSpPr>
        <p:spPr bwMode="auto">
          <a:xfrm>
            <a:off x="457200" y="2209800"/>
            <a:ext cx="8229600" cy="3886200"/>
          </a:xfrm>
          <a:prstGeom prst="rect">
            <a:avLst/>
          </a:prstGeom>
          <a:solidFill>
            <a:srgbClr val="FFFFCC"/>
          </a:solidFill>
          <a:ln w="9525">
            <a:solidFill>
              <a:schemeClr val="tx1"/>
            </a:solidFill>
            <a:miter lim="800000"/>
            <a:headEnd/>
            <a:tailEnd/>
          </a:ln>
        </p:spPr>
        <p:txBody>
          <a:bodyPr wrap="none" anchor="ct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eaLnBrk="1" hangingPunct="1"/>
            <a:endParaRPr lang="en-GB"/>
          </a:p>
        </p:txBody>
      </p:sp>
      <p:sp>
        <p:nvSpPr>
          <p:cNvPr id="43014" name="TextBox 12"/>
          <p:cNvSpPr txBox="1">
            <a:spLocks noChangeArrowheads="1"/>
          </p:cNvSpPr>
          <p:nvPr/>
        </p:nvSpPr>
        <p:spPr bwMode="auto">
          <a:xfrm>
            <a:off x="533400" y="2286000"/>
            <a:ext cx="8229600" cy="2965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4000">
                <a:solidFill>
                  <a:schemeClr val="tx1"/>
                </a:solidFill>
                <a:latin typeface="Times New Roman" panose="02020603050405020304" pitchFamily="18" charset="0"/>
              </a:defRPr>
            </a:lvl1pPr>
            <a:lvl2pPr marL="742950" indent="-285750" eaLnBrk="0" hangingPunct="0">
              <a:defRPr sz="4000">
                <a:solidFill>
                  <a:schemeClr val="tx1"/>
                </a:solidFill>
                <a:latin typeface="Times New Roman" panose="02020603050405020304" pitchFamily="18" charset="0"/>
              </a:defRPr>
            </a:lvl2pPr>
            <a:lvl3pPr marL="1143000" indent="-228600" eaLnBrk="0" hangingPunct="0">
              <a:defRPr sz="4000">
                <a:solidFill>
                  <a:schemeClr val="tx1"/>
                </a:solidFill>
                <a:latin typeface="Times New Roman" panose="02020603050405020304" pitchFamily="18" charset="0"/>
              </a:defRPr>
            </a:lvl3pPr>
            <a:lvl4pPr marL="1600200" indent="-228600" eaLnBrk="0" hangingPunct="0">
              <a:defRPr sz="4000">
                <a:solidFill>
                  <a:schemeClr val="tx1"/>
                </a:solidFill>
                <a:latin typeface="Times New Roman" panose="02020603050405020304" pitchFamily="18" charset="0"/>
              </a:defRPr>
            </a:lvl4pPr>
            <a:lvl5pPr marL="2057400" indent="-228600" eaLnBrk="0" hangingPunct="0">
              <a:defRPr sz="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defRPr>
            </a:lvl9pPr>
          </a:lstStyle>
          <a:p>
            <a:pPr eaLnBrk="1" hangingPunct="1">
              <a:lnSpc>
                <a:spcPts val="3200"/>
              </a:lnSpc>
              <a:buFont typeface="Arial" panose="020B0604020202020204" pitchFamily="34" charset="0"/>
              <a:buChar char="•"/>
            </a:pPr>
            <a:r>
              <a:rPr lang="en-US" sz="2400"/>
              <a:t> Attend conferences and trade shows.</a:t>
            </a:r>
          </a:p>
          <a:p>
            <a:pPr eaLnBrk="1" hangingPunct="1">
              <a:lnSpc>
                <a:spcPts val="3200"/>
              </a:lnSpc>
              <a:buFont typeface="Arial" panose="020B0604020202020204" pitchFamily="34" charset="0"/>
              <a:buChar char="•"/>
            </a:pPr>
            <a:r>
              <a:rPr lang="en-US" sz="2400"/>
              <a:t> Purchase competitors’ products.</a:t>
            </a:r>
          </a:p>
          <a:p>
            <a:pPr eaLnBrk="1" hangingPunct="1">
              <a:lnSpc>
                <a:spcPts val="3200"/>
              </a:lnSpc>
              <a:buFont typeface="Arial" panose="020B0604020202020204" pitchFamily="34" charset="0"/>
              <a:buChar char="•"/>
            </a:pPr>
            <a:r>
              <a:rPr lang="en-US" sz="2400"/>
              <a:t> Study competitors’ Web sites.</a:t>
            </a:r>
          </a:p>
          <a:p>
            <a:pPr eaLnBrk="1" hangingPunct="1">
              <a:lnSpc>
                <a:spcPts val="3200"/>
              </a:lnSpc>
              <a:buFont typeface="Arial" panose="020B0604020202020204" pitchFamily="34" charset="0"/>
              <a:buChar char="•"/>
            </a:pPr>
            <a:r>
              <a:rPr lang="en-US" sz="2400"/>
              <a:t> Set up Google and Yahoo! e-mail alerts.</a:t>
            </a:r>
          </a:p>
          <a:p>
            <a:pPr eaLnBrk="1" hangingPunct="1">
              <a:lnSpc>
                <a:spcPts val="3200"/>
              </a:lnSpc>
              <a:buFont typeface="Arial" panose="020B0604020202020204" pitchFamily="34" charset="0"/>
              <a:buChar char="•"/>
            </a:pPr>
            <a:r>
              <a:rPr lang="en-US" sz="2400"/>
              <a:t> Read industry-related books, magazines, and Web sites.</a:t>
            </a:r>
          </a:p>
          <a:p>
            <a:pPr eaLnBrk="1" hangingPunct="1">
              <a:lnSpc>
                <a:spcPts val="3200"/>
              </a:lnSpc>
              <a:buFont typeface="Arial" panose="020B0604020202020204" pitchFamily="34" charset="0"/>
              <a:buChar char="•"/>
            </a:pPr>
            <a:r>
              <a:rPr lang="en-US" sz="2400"/>
              <a:t> Talk to customers about what motivated them to buy your </a:t>
            </a:r>
          </a:p>
          <a:p>
            <a:pPr eaLnBrk="1" hangingPunct="1">
              <a:lnSpc>
                <a:spcPts val="3200"/>
              </a:lnSpc>
            </a:pPr>
            <a:r>
              <a:rPr lang="en-US" sz="2400"/>
              <a:t>  product as opposed to your competitor’s product.</a:t>
            </a:r>
          </a:p>
        </p:txBody>
      </p:sp>
    </p:spTree>
    <p:extLst>
      <p:ext uri="{BB962C8B-B14F-4D97-AF65-F5344CB8AC3E}">
        <p14:creationId xmlns:p14="http://schemas.microsoft.com/office/powerpoint/2010/main" xmlns="" val="2082912957"/>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a:xfrm>
            <a:off x="0" y="609600"/>
            <a:ext cx="9144000" cy="6248400"/>
          </a:xfrm>
        </p:spPr>
        <p:txBody>
          <a:bodyPr/>
          <a:lstStyle/>
          <a:p>
            <a:pPr marL="0" indent="0">
              <a:buSzPct val="105000"/>
              <a:buNone/>
            </a:pPr>
            <a:r>
              <a:rPr lang="en-US" b="1" dirty="0" smtClean="0">
                <a:solidFill>
                  <a:schemeClr val="bg2"/>
                </a:solidFill>
                <a:latin typeface="Times New Roman" panose="02020603050405020304" pitchFamily="18" charset="0"/>
              </a:rPr>
              <a:t>Competitive Profile Matrix (CPM)-</a:t>
            </a:r>
            <a:r>
              <a:rPr lang="en-US" dirty="0" smtClean="0">
                <a:latin typeface="Times New Roman" panose="02020603050405020304" pitchFamily="18" charset="0"/>
              </a:rPr>
              <a:t> It compares the company with direct competitors and check whether company is doing well as compared to competitors or not.</a:t>
            </a:r>
          </a:p>
          <a:p>
            <a:pPr marL="609600" indent="-609600">
              <a:buSzPct val="105000"/>
              <a:buFont typeface="Wingdings" panose="05000000000000000000" pitchFamily="2" charset="2"/>
              <a:buChar char="Ø"/>
            </a:pPr>
            <a:r>
              <a:rPr lang="en-US" dirty="0" smtClean="0">
                <a:latin typeface="Times New Roman" panose="02020603050405020304" pitchFamily="18" charset="0"/>
              </a:rPr>
              <a:t>Competitive profile matrix is essential tool used in strategic management process, it contain all the important critical success factors of industry. Success factor can vary form industry to industry, every industry consider different success factor, all the companies in CPM are measured on same scale by considering the same success factor. </a:t>
            </a:r>
          </a:p>
        </p:txBody>
      </p:sp>
    </p:spTree>
    <p:extLst>
      <p:ext uri="{BB962C8B-B14F-4D97-AF65-F5344CB8AC3E}">
        <p14:creationId xmlns:p14="http://schemas.microsoft.com/office/powerpoint/2010/main" xmlns="" val="2865950209"/>
      </p:ext>
    </p:extLst>
  </p:cSld>
  <p:clrMapOvr>
    <a:masterClrMapping/>
  </p:clrMapOvr>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3900</TotalTime>
  <Words>1638</Words>
  <Application>Microsoft Office PowerPoint</Application>
  <PresentationFormat>On-screen Show (4:3)</PresentationFormat>
  <Paragraphs>145</Paragraphs>
  <Slides>23</Slides>
  <Notes>4</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Pixel</vt:lpstr>
      <vt:lpstr>Industry and Competitor Analysis</vt:lpstr>
      <vt:lpstr>What is Industry Analysis?</vt:lpstr>
      <vt:lpstr>Why is Industry Analysis Important?</vt:lpstr>
      <vt:lpstr>Key Questions</vt:lpstr>
      <vt:lpstr>Techniques Available to Assess Industry Attractiveness</vt:lpstr>
      <vt:lpstr>Studying Industry Trends</vt:lpstr>
      <vt:lpstr>Slide 7</vt:lpstr>
      <vt:lpstr>Porter's Five Forces Analysis</vt:lpstr>
      <vt:lpstr>Threat of Substitute Products</vt:lpstr>
      <vt:lpstr>Slide 10</vt:lpstr>
      <vt:lpstr>Threat of New Entrants</vt:lpstr>
      <vt:lpstr>Slide 12</vt:lpstr>
      <vt:lpstr>Rivalry Among Existing Firms</vt:lpstr>
      <vt:lpstr>Bargaining Power of Suppliers</vt:lpstr>
      <vt:lpstr>Bargaining Power of Buyers</vt:lpstr>
      <vt:lpstr>Industry Life Cycle</vt:lpstr>
      <vt:lpstr>Slide 17</vt:lpstr>
      <vt:lpstr>Slide 18</vt:lpstr>
      <vt:lpstr>Competitor Analysis</vt:lpstr>
      <vt:lpstr>Identifying Competitors</vt:lpstr>
      <vt:lpstr>Sources of Competitive Intelligence</vt:lpstr>
      <vt:lpstr>Sources of Competitive Intelligence</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Marketing</dc:title>
  <dc:creator>Furqan</dc:creator>
  <cp:lastModifiedBy>Microsoft</cp:lastModifiedBy>
  <cp:revision>323</cp:revision>
  <dcterms:created xsi:type="dcterms:W3CDTF">2007-10-02T00:59:36Z</dcterms:created>
  <dcterms:modified xsi:type="dcterms:W3CDTF">2024-06-23T17:37:36Z</dcterms:modified>
</cp:coreProperties>
</file>